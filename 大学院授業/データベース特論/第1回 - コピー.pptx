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handoutMasterIdLst>
    <p:handoutMasterId r:id="rId15"/>
  </p:handoutMasterIdLst>
  <p:sldIdLst>
    <p:sldId id="322" r:id="rId5"/>
    <p:sldId id="329" r:id="rId6"/>
    <p:sldId id="323" r:id="rId7"/>
    <p:sldId id="328" r:id="rId8"/>
    <p:sldId id="330" r:id="rId9"/>
    <p:sldId id="331" r:id="rId10"/>
    <p:sldId id="333" r:id="rId11"/>
    <p:sldId id="332" r:id="rId12"/>
    <p:sldId id="310" r:id="rId13"/>
  </p:sldIdLst>
  <p:sldSz cx="12192000" cy="6858000"/>
  <p:notesSz cx="6858000" cy="9144000"/>
  <p:defaultTextStyle>
    <a:defPPr rtl="0">
      <a:defRPr lang="ja-JP"/>
    </a:defPPr>
    <a:lvl1pPr marL="0" algn="l" defTabSz="914400" rtl="0" eaLnBrk="1" latinLnBrk="0" hangingPunct="1">
      <a:defRPr lang="ja-JP" sz="1800" kern="1200">
        <a:solidFill>
          <a:schemeClr val="tx1"/>
        </a:solidFill>
        <a:latin typeface="+mn-lt"/>
        <a:ea typeface="+mn-ea"/>
        <a:cs typeface="+mn-cs"/>
      </a:defRPr>
    </a:lvl1pPr>
    <a:lvl2pPr marL="457200" algn="l" defTabSz="914400" rtl="0" eaLnBrk="1" latinLnBrk="0" hangingPunct="1">
      <a:defRPr lang="ja-JP" sz="1800" kern="1200">
        <a:solidFill>
          <a:schemeClr val="tx1"/>
        </a:solidFill>
        <a:latin typeface="+mn-lt"/>
        <a:ea typeface="+mn-ea"/>
        <a:cs typeface="+mn-cs"/>
      </a:defRPr>
    </a:lvl2pPr>
    <a:lvl3pPr marL="914400" algn="l" defTabSz="914400" rtl="0" eaLnBrk="1" latinLnBrk="0" hangingPunct="1">
      <a:defRPr lang="ja-JP" sz="1800" kern="1200">
        <a:solidFill>
          <a:schemeClr val="tx1"/>
        </a:solidFill>
        <a:latin typeface="+mn-lt"/>
        <a:ea typeface="+mn-ea"/>
        <a:cs typeface="+mn-cs"/>
      </a:defRPr>
    </a:lvl3pPr>
    <a:lvl4pPr marL="1371600" algn="l" defTabSz="914400" rtl="0" eaLnBrk="1" latinLnBrk="0" hangingPunct="1">
      <a:defRPr lang="ja-JP" sz="1800" kern="1200">
        <a:solidFill>
          <a:schemeClr val="tx1"/>
        </a:solidFill>
        <a:latin typeface="+mn-lt"/>
        <a:ea typeface="+mn-ea"/>
        <a:cs typeface="+mn-cs"/>
      </a:defRPr>
    </a:lvl4pPr>
    <a:lvl5pPr marL="1828800" algn="l" defTabSz="914400" rtl="0" eaLnBrk="1" latinLnBrk="0" hangingPunct="1">
      <a:defRPr lang="ja-JP" sz="1800" kern="1200">
        <a:solidFill>
          <a:schemeClr val="tx1"/>
        </a:solidFill>
        <a:latin typeface="+mn-lt"/>
        <a:ea typeface="+mn-ea"/>
        <a:cs typeface="+mn-cs"/>
      </a:defRPr>
    </a:lvl5pPr>
    <a:lvl6pPr marL="2286000" algn="l" defTabSz="914400" rtl="0" eaLnBrk="1" latinLnBrk="0" hangingPunct="1">
      <a:defRPr lang="ja-JP" sz="1800" kern="1200">
        <a:solidFill>
          <a:schemeClr val="tx1"/>
        </a:solidFill>
        <a:latin typeface="+mn-lt"/>
        <a:ea typeface="+mn-ea"/>
        <a:cs typeface="+mn-cs"/>
      </a:defRPr>
    </a:lvl6pPr>
    <a:lvl7pPr marL="2743200" algn="l" defTabSz="914400" rtl="0" eaLnBrk="1" latinLnBrk="0" hangingPunct="1">
      <a:defRPr lang="ja-JP" sz="1800" kern="1200">
        <a:solidFill>
          <a:schemeClr val="tx1"/>
        </a:solidFill>
        <a:latin typeface="+mn-lt"/>
        <a:ea typeface="+mn-ea"/>
        <a:cs typeface="+mn-cs"/>
      </a:defRPr>
    </a:lvl7pPr>
    <a:lvl8pPr marL="3200400" algn="l" defTabSz="914400" rtl="0" eaLnBrk="1" latinLnBrk="0" hangingPunct="1">
      <a:defRPr lang="ja-JP" sz="1800" kern="1200">
        <a:solidFill>
          <a:schemeClr val="tx1"/>
        </a:solidFill>
        <a:latin typeface="+mn-lt"/>
        <a:ea typeface="+mn-ea"/>
        <a:cs typeface="+mn-cs"/>
      </a:defRPr>
    </a:lvl8pPr>
    <a:lvl9pPr marL="3657600" algn="l" defTabSz="914400" rtl="0" eaLnBrk="1" latinLnBrk="0" hangingPunct="1">
      <a:defRPr lang="ja-JP"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B8BF"/>
    <a:srgbClr val="5869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6471" autoAdjust="0"/>
  </p:normalViewPr>
  <p:slideViewPr>
    <p:cSldViewPr snapToGrid="0">
      <p:cViewPr varScale="1">
        <p:scale>
          <a:sx n="49" d="100"/>
          <a:sy n="49" d="100"/>
        </p:scale>
        <p:origin x="1336" y="44"/>
      </p:cViewPr>
      <p:guideLst/>
    </p:cSldViewPr>
  </p:slideViewPr>
  <p:outlineViewPr>
    <p:cViewPr>
      <p:scale>
        <a:sx n="33" d="100"/>
        <a:sy n="33" d="100"/>
      </p:scale>
      <p:origin x="0" y="-7776"/>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80" d="100"/>
          <a:sy n="80" d="100"/>
        </p:scale>
        <p:origin x="4002" y="15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ja-JP" sz="1200"/>
            </a:lvl1pPr>
          </a:lstStyle>
          <a:p>
            <a:pPr rtl="0"/>
            <a:endParaRPr lang="ja-JP" dirty="0">
              <a:latin typeface="Meiryo UI" panose="020B0604030504040204" pitchFamily="50" charset="-128"/>
              <a:ea typeface="Meiryo UI" panose="020B0604030504040204" pitchFamily="50" charset="-128"/>
            </a:endParaRPr>
          </a:p>
        </p:txBody>
      </p:sp>
      <p:sp>
        <p:nvSpPr>
          <p:cNvPr id="3" name="日付プレースホルダー 2">
            <a:extLst>
              <a:ext uri="{FF2B5EF4-FFF2-40B4-BE49-F238E27FC236}">
                <a16:creationId xmlns:a16="http://schemas.microsoft.com/office/drawing/2014/main"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ja-JP" sz="1200"/>
            </a:lvl1pPr>
          </a:lstStyle>
          <a:p>
            <a:pPr rtl="0"/>
            <a:fld id="{3D428F60-EEB6-4235-8F32-A11CE9C14B93}" type="datetime1">
              <a:rPr lang="ja-JP" altLang="en-US" smtClean="0">
                <a:latin typeface="Meiryo UI" panose="020B0604030504040204" pitchFamily="50" charset="-128"/>
                <a:ea typeface="Meiryo UI" panose="020B0604030504040204" pitchFamily="50" charset="-128"/>
              </a:rPr>
              <a:t>2026/4/22</a:t>
            </a:fld>
            <a:endParaRPr lang="ja-JP" dirty="0">
              <a:latin typeface="Meiryo UI" panose="020B0604030504040204" pitchFamily="50" charset="-128"/>
              <a:ea typeface="Meiryo UI" panose="020B0604030504040204" pitchFamily="50" charset="-128"/>
            </a:endParaRPr>
          </a:p>
        </p:txBody>
      </p:sp>
      <p:sp>
        <p:nvSpPr>
          <p:cNvPr id="4" name="フッター プレースホルダー 3">
            <a:extLst>
              <a:ext uri="{FF2B5EF4-FFF2-40B4-BE49-F238E27FC236}">
                <a16:creationId xmlns:a16="http://schemas.microsoft.com/office/drawing/2014/main"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ja-JP" sz="1200"/>
            </a:lvl1pPr>
          </a:lstStyle>
          <a:p>
            <a:pPr rtl="0"/>
            <a:endParaRPr lang="ja-JP" dirty="0">
              <a:latin typeface="Meiryo UI" panose="020B0604030504040204" pitchFamily="50" charset="-128"/>
              <a:ea typeface="Meiryo UI" panose="020B0604030504040204" pitchFamily="50" charset="-128"/>
            </a:endParaRPr>
          </a:p>
        </p:txBody>
      </p:sp>
      <p:sp>
        <p:nvSpPr>
          <p:cNvPr id="5" name="スライド番号プレースホルダー 4">
            <a:extLst>
              <a:ext uri="{FF2B5EF4-FFF2-40B4-BE49-F238E27FC236}">
                <a16:creationId xmlns:a16="http://schemas.microsoft.com/office/drawing/2014/main"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ja-JP" sz="1200"/>
            </a:lvl1pPr>
          </a:lstStyle>
          <a:p>
            <a:pPr rtl="0"/>
            <a:fld id="{00AC623C-86E0-4A85-83FB-F4A716956FD4}" type="slidenum">
              <a:rPr lang="ja-JP" smtClean="0">
                <a:latin typeface="Meiryo UI" panose="020B0604030504040204" pitchFamily="50" charset="-128"/>
                <a:ea typeface="Meiryo UI" panose="020B0604030504040204" pitchFamily="50" charset="-128"/>
              </a:rPr>
              <a:t>‹#›</a:t>
            </a:fld>
            <a:endParaRPr lang="ja-JP"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693955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ja-JP" sz="1200">
                <a:latin typeface="Meiryo UI" panose="020B0604030504040204" pitchFamily="50" charset="-128"/>
                <a:ea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ja-JP" sz="1200">
                <a:latin typeface="Meiryo UI" panose="020B0604030504040204" pitchFamily="50" charset="-128"/>
                <a:ea typeface="Meiryo UI" panose="020B0604030504040204" pitchFamily="50" charset="-128"/>
              </a:defRPr>
            </a:lvl1pPr>
          </a:lstStyle>
          <a:p>
            <a:fld id="{D2E69705-234C-4F4E-8785-2C3496ACDA1A}" type="datetime1">
              <a:rPr lang="en-US" altLang="ja-JP" smtClean="0"/>
              <a:pPr/>
              <a:t>4/22/2026</a:t>
            </a:fld>
            <a:endParaRPr lang="ja-JP" altLang="en-US" dirty="0"/>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ja-JP"/>
            </a:defPPr>
          </a:lstStyle>
          <a:p>
            <a:pPr rtl="0"/>
            <a:endParaRPr lang="ja-JP" dirty="0"/>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ja-JP"/>
            </a:defPPr>
          </a:lstStyle>
          <a:p>
            <a:pPr lvl="0" rtl="0"/>
            <a:r>
              <a:rPr lang="ja-JP" dirty="0"/>
              <a:t>クリックしてマスター テキストのスタイルを編集</a:t>
            </a:r>
          </a:p>
          <a:p>
            <a:pPr lvl="1" rtl="0"/>
            <a:r>
              <a:rPr lang="ja-JP" dirty="0"/>
              <a:t>第 2 レベル</a:t>
            </a:r>
          </a:p>
          <a:p>
            <a:pPr lvl="2" rtl="0"/>
            <a:r>
              <a:rPr lang="ja-JP" dirty="0"/>
              <a:t>第 3 レベル</a:t>
            </a:r>
          </a:p>
          <a:p>
            <a:pPr lvl="3" rtl="0"/>
            <a:r>
              <a:rPr lang="ja-JP" dirty="0"/>
              <a:t>第 4 レベル</a:t>
            </a:r>
          </a:p>
          <a:p>
            <a:pPr lvl="4" rtl="0"/>
            <a:r>
              <a:rPr lang="ja-JP" dirty="0"/>
              <a:t>第 5 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ja-JP" sz="1200">
                <a:latin typeface="Meiryo UI" panose="020B0604030504040204" pitchFamily="50" charset="-128"/>
                <a:ea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ja-JP" sz="1200">
                <a:latin typeface="Meiryo UI" panose="020B0604030504040204" pitchFamily="50" charset="-128"/>
                <a:ea typeface="Meiryo UI" panose="020B0604030504040204" pitchFamily="50" charset="-128"/>
              </a:defRPr>
            </a:lvl1pPr>
          </a:lstStyle>
          <a:p>
            <a:fld id="{C37D7554-D10C-4E29-B8E6-BB7111FA614F}" type="slidenum">
              <a:rPr lang="en-US" altLang="ja-JP" smtClean="0"/>
              <a:pPr/>
              <a:t>‹#›</a:t>
            </a:fld>
            <a:endParaRPr lang="en-US"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517347050"/>
      </p:ext>
    </p:extLst>
  </p:cSld>
  <p:clrMap bg1="lt1" tx1="dk1" bg2="lt2" tx2="dk2" accent1="accent1" accent2="accent2" accent3="accent3" accent4="accent4" accent5="accent5" accent6="accent6" hlink="hlink" folHlink="folHlink"/>
  <p:notesStyle>
    <a:lvl1pPr marL="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1pPr>
    <a:lvl2pPr marL="4572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2pPr>
    <a:lvl3pPr marL="9144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3pPr>
    <a:lvl4pPr marL="13716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4pPr>
    <a:lvl5pPr marL="18288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5pPr>
    <a:lvl6pPr marL="2286000" algn="l" defTabSz="914400" rtl="0" eaLnBrk="1" latinLnBrk="0" hangingPunct="1">
      <a:defRPr lang="ja-JP" sz="1200" kern="1200">
        <a:solidFill>
          <a:schemeClr val="tx1"/>
        </a:solidFill>
        <a:latin typeface="+mn-cs"/>
        <a:ea typeface="+mn-ea"/>
        <a:cs typeface="+mn-cs"/>
      </a:defRPr>
    </a:lvl6pPr>
    <a:lvl7pPr marL="2743200" algn="l" defTabSz="914400" rtl="0" eaLnBrk="1" latinLnBrk="0" hangingPunct="1">
      <a:defRPr lang="ja-JP" sz="1200" kern="1200">
        <a:solidFill>
          <a:schemeClr val="tx1"/>
        </a:solidFill>
        <a:latin typeface="+mn-cs"/>
        <a:ea typeface="+mn-ea"/>
        <a:cs typeface="+mn-cs"/>
      </a:defRPr>
    </a:lvl7pPr>
    <a:lvl8pPr marL="3200400" algn="l" defTabSz="914400" rtl="0" eaLnBrk="1" latinLnBrk="0" hangingPunct="1">
      <a:defRPr lang="ja-JP" sz="1200" kern="1200">
        <a:solidFill>
          <a:schemeClr val="tx1"/>
        </a:solidFill>
        <a:latin typeface="+mn-cs"/>
        <a:ea typeface="+mn-ea"/>
        <a:cs typeface="+mn-cs"/>
      </a:defRPr>
    </a:lvl8pPr>
    <a:lvl9pPr marL="3657600" algn="l" defTabSz="914400" rtl="0" eaLnBrk="1" latinLnBrk="0" hangingPunct="1">
      <a:defRPr lang="ja-JP" sz="1200" kern="1200">
        <a:solidFill>
          <a:schemeClr val="tx1"/>
        </a:solidFill>
        <a:latin typeface="+mn-cs"/>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defPPr>
              <a:defRPr lang="ja-JP"/>
            </a:defPPr>
          </a:lstStyle>
          <a:p>
            <a:pPr rtl="0"/>
            <a:r>
              <a:rPr lang="ja-JP" altLang="en-US" dirty="0"/>
              <a:t>皆様、初めまして。西村和真と申します。本日は私の自己紹介と、これから大学院で取り組もうとしている研究について</a:t>
            </a:r>
            <a:br>
              <a:rPr lang="en-US" altLang="ja-JP" dirty="0"/>
            </a:br>
            <a:r>
              <a:rPr lang="ja-JP" altLang="en-US" dirty="0"/>
              <a:t>お話させていただきます。</a:t>
            </a:r>
            <a:endParaRPr lang="en-US" altLang="ja-JP" dirty="0"/>
          </a:p>
          <a:p>
            <a:pPr rtl="0"/>
            <a:r>
              <a:rPr lang="ja-JP" altLang="en-US" dirty="0"/>
              <a:t>研究テーマは</a:t>
            </a:r>
            <a:r>
              <a:rPr lang="en-US" altLang="ja-JP" dirty="0" err="1"/>
              <a:t>WebNN</a:t>
            </a:r>
            <a:r>
              <a:rPr lang="ja-JP" altLang="en-US" dirty="0"/>
              <a:t>を用いたローカル推論による、動的欺瞞</a:t>
            </a:r>
            <a:r>
              <a:rPr lang="en-US" altLang="ja-JP" dirty="0"/>
              <a:t>UI</a:t>
            </a:r>
            <a:r>
              <a:rPr lang="ja-JP" altLang="en-US" dirty="0"/>
              <a:t>へのリアルタイム介入手法の確立</a:t>
            </a:r>
            <a:br>
              <a:rPr lang="en-US" altLang="ja-JP" dirty="0"/>
            </a:br>
            <a:r>
              <a:rPr lang="ja-JP" altLang="en-US" dirty="0"/>
              <a:t>というテーマです。まぁ簡単にいうと透明な広告とかの悪意ある</a:t>
            </a:r>
            <a:r>
              <a:rPr lang="en-US" altLang="ja-JP" dirty="0"/>
              <a:t>WebUI</a:t>
            </a:r>
            <a:r>
              <a:rPr lang="ja-JP" altLang="en-US" dirty="0"/>
              <a:t>ついて研究しています。</a:t>
            </a:r>
            <a:endParaRPr lang="ja-JP" dirty="0"/>
          </a:p>
        </p:txBody>
      </p:sp>
      <p:sp>
        <p:nvSpPr>
          <p:cNvPr id="4" name="スライド番号プレースホルダー 3"/>
          <p:cNvSpPr>
            <a:spLocks noGrp="1"/>
          </p:cNvSpPr>
          <p:nvPr>
            <p:ph type="sldNum" sz="quarter" idx="5"/>
          </p:nvPr>
        </p:nvSpPr>
        <p:spPr/>
        <p:txBody>
          <a:bodyPr rtlCol="0"/>
          <a:lstStyle>
            <a:defPPr>
              <a:defRPr lang="ja-JP"/>
            </a:defPPr>
          </a:lstStyle>
          <a:p>
            <a:pPr rtl="0"/>
            <a:fld id="{C37D7554-D10C-4E29-B8E6-BB7111FA614F}" type="slidenum">
              <a:rPr lang="ja-JP" smtClean="0"/>
              <a:t>1</a:t>
            </a:fld>
            <a:endParaRPr lang="ja-JP" dirty="0"/>
          </a:p>
        </p:txBody>
      </p:sp>
    </p:spTree>
    <p:extLst>
      <p:ext uri="{BB962C8B-B14F-4D97-AF65-F5344CB8AC3E}">
        <p14:creationId xmlns:p14="http://schemas.microsoft.com/office/powerpoint/2010/main" val="1212342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91952-E6F8-74B7-14C1-E4AF4CEDA98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DBC4B99-6EC4-C6F9-C60F-DEE61634B5C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CCE373-C572-E3E4-B21F-8FDA41875766}"/>
              </a:ext>
            </a:extLst>
          </p:cNvPr>
          <p:cNvSpPr>
            <a:spLocks noGrp="1"/>
          </p:cNvSpPr>
          <p:nvPr>
            <p:ph type="body" idx="1"/>
          </p:nvPr>
        </p:nvSpPr>
        <p:spPr/>
        <p:txBody>
          <a:bodyPr rtlCol="0"/>
          <a:lstStyle>
            <a:defPPr>
              <a:defRPr lang="ja-JP"/>
            </a:defPPr>
          </a:lstStyle>
          <a:p>
            <a:pPr rtl="0"/>
            <a:r>
              <a:rPr lang="ja-JP" altLang="en-US" dirty="0"/>
              <a:t>テーマを話す前に、自己紹介と学部時代の研究ですね。</a:t>
            </a:r>
            <a:br>
              <a:rPr lang="en-US" altLang="ja-JP" dirty="0"/>
            </a:br>
            <a:r>
              <a:rPr lang="ja-JP" altLang="en-US" dirty="0"/>
              <a:t>学部時代は植物に均等に水やりできているかどうかを可視化してユーザーが水分を均等に配分できるかどうか</a:t>
            </a:r>
            <a:br>
              <a:rPr lang="en-US" altLang="ja-JP" dirty="0"/>
            </a:br>
            <a:r>
              <a:rPr lang="ja-JP" altLang="en-US" dirty="0"/>
              <a:t>という研究をしていました。具体的には、鉢を</a:t>
            </a:r>
            <a:r>
              <a:rPr lang="en-US" altLang="ja-JP" dirty="0"/>
              <a:t>4</a:t>
            </a:r>
            <a:r>
              <a:rPr lang="ja-JP" altLang="en-US" dirty="0"/>
              <a:t>つのエリアに分けて水分量をリアルタイムでグラフでし、</a:t>
            </a:r>
            <a:r>
              <a:rPr lang="en-US" altLang="ja-JP" dirty="0"/>
              <a:t>Web</a:t>
            </a:r>
            <a:r>
              <a:rPr lang="ja-JP" altLang="en-US" dirty="0"/>
              <a:t>で見られるようにしたのですが、</a:t>
            </a:r>
            <a:br>
              <a:rPr lang="en-US" altLang="ja-JP" dirty="0"/>
            </a:br>
            <a:r>
              <a:rPr lang="ja-JP" altLang="en-US" dirty="0"/>
              <a:t>この時、「抽象的なデータをわかりやすく表示でき、行動変化を起こさせる</a:t>
            </a:r>
            <a:r>
              <a:rPr lang="en-US" altLang="ja-JP" dirty="0"/>
              <a:t>UI</a:t>
            </a:r>
            <a:r>
              <a:rPr lang="ja-JP" altLang="en-US" dirty="0"/>
              <a:t>の素晴らしさ」を知り興味を持ちました。</a:t>
            </a:r>
            <a:br>
              <a:rPr lang="en-US" altLang="ja-JP" dirty="0"/>
            </a:br>
            <a:r>
              <a:rPr lang="ja-JP" altLang="en-US" dirty="0"/>
              <a:t>えーあとは趣味　モンハンで好きな食べ物は抹茶です。</a:t>
            </a:r>
            <a:endParaRPr lang="ja-JP" dirty="0"/>
          </a:p>
        </p:txBody>
      </p:sp>
      <p:sp>
        <p:nvSpPr>
          <p:cNvPr id="4" name="スライド番号プレースホルダー 3">
            <a:extLst>
              <a:ext uri="{FF2B5EF4-FFF2-40B4-BE49-F238E27FC236}">
                <a16:creationId xmlns:a16="http://schemas.microsoft.com/office/drawing/2014/main" id="{6ECBA889-9CDE-BC64-BE33-A106ACE73EF7}"/>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2</a:t>
            </a:fld>
            <a:endParaRPr lang="ja-JP" dirty="0"/>
          </a:p>
        </p:txBody>
      </p:sp>
    </p:spTree>
    <p:extLst>
      <p:ext uri="{BB962C8B-B14F-4D97-AF65-F5344CB8AC3E}">
        <p14:creationId xmlns:p14="http://schemas.microsoft.com/office/powerpoint/2010/main" val="4118898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A9513-C6CE-52CB-33D7-A6B74E5356F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B871DA8-A7AB-39C1-E6DF-DC5069F1AF0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F012603-7A87-BD9D-BDC5-E9456F614F97}"/>
              </a:ext>
            </a:extLst>
          </p:cNvPr>
          <p:cNvSpPr>
            <a:spLocks noGrp="1"/>
          </p:cNvSpPr>
          <p:nvPr>
            <p:ph type="body" idx="1"/>
          </p:nvPr>
        </p:nvSpPr>
        <p:spPr/>
        <p:txBody>
          <a:bodyPr rtlCol="0"/>
          <a:lstStyle>
            <a:defPPr>
              <a:defRPr lang="ja-JP"/>
            </a:defPPr>
          </a:lstStyle>
          <a:p>
            <a:pPr rtl="0"/>
            <a:r>
              <a:rPr lang="ja-JP" altLang="en-US" dirty="0"/>
              <a:t>こんな感じに各区画を</a:t>
            </a:r>
            <a:r>
              <a:rPr lang="en-US" altLang="ja-JP" dirty="0"/>
              <a:t>UI</a:t>
            </a:r>
            <a:r>
              <a:rPr lang="ja-JP" altLang="en-US" dirty="0"/>
              <a:t>で表示してました。</a:t>
            </a:r>
            <a:endParaRPr lang="en-US" altLang="ja-JP" dirty="0"/>
          </a:p>
        </p:txBody>
      </p:sp>
      <p:sp>
        <p:nvSpPr>
          <p:cNvPr id="4" name="スライド番号プレースホルダー 3">
            <a:extLst>
              <a:ext uri="{FF2B5EF4-FFF2-40B4-BE49-F238E27FC236}">
                <a16:creationId xmlns:a16="http://schemas.microsoft.com/office/drawing/2014/main" id="{DD1C2AF2-1FC8-D55A-481A-8F22687C0FFD}"/>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3</a:t>
            </a:fld>
            <a:endParaRPr lang="ja-JP" dirty="0"/>
          </a:p>
        </p:txBody>
      </p:sp>
    </p:spTree>
    <p:extLst>
      <p:ext uri="{BB962C8B-B14F-4D97-AF65-F5344CB8AC3E}">
        <p14:creationId xmlns:p14="http://schemas.microsoft.com/office/powerpoint/2010/main" val="35182510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AC6D7-4DBB-2419-6C76-C89414E548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3ED28E4-0A0D-D7D7-439B-6DE4528A8B1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C607476-F505-5130-CECD-D39AAB0687B0}"/>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UI</a:t>
            </a:r>
            <a:r>
              <a:rPr lang="ja-JP" altLang="en-US" dirty="0"/>
              <a:t>について深く調べ、ダークパターンという人を騙すための</a:t>
            </a:r>
            <a:r>
              <a:rPr lang="en-US" altLang="ja-JP" dirty="0"/>
              <a:t>UI</a:t>
            </a:r>
            <a:r>
              <a:rPr lang="ja-JP" altLang="en-US" dirty="0"/>
              <a:t>が存在するのを知り、研究しようと思いました。</a:t>
            </a:r>
            <a:br>
              <a:rPr lang="en-US" altLang="ja-JP" dirty="0"/>
            </a:br>
            <a:r>
              <a:rPr lang="ja-JP" altLang="en-US" dirty="0"/>
              <a:t>ダークパターンとは、</a:t>
            </a:r>
            <a:r>
              <a:rPr lang="ja-JP" altLang="en-US" sz="1200" dirty="0"/>
              <a:t>ユーザーを意図しない行動（意図しない購入、退会させない等）に誘導する欺瞞的なデザインの総称です。</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欺瞞的なデザインとは写真の通り、私たちが無意識に持っている直観や思い込みを逆手に取ったものです。</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この写真の場合普通左が購入するで右が購入しないですよね。しかしこの写真では逆になっていて心理誘導をしています。</a:t>
            </a:r>
            <a:br>
              <a:rPr lang="en-US" altLang="ja-JP" sz="1200" dirty="0"/>
            </a:br>
            <a:r>
              <a:rPr lang="ja-JP" altLang="en-US" sz="1200" dirty="0"/>
              <a:t>ほかにも、透明な広告がありクリックしてしまうことや、勝手に広告ページに飛ばされるなどがダークパターンになります。</a:t>
            </a:r>
            <a:br>
              <a:rPr lang="en-US" altLang="ja-JP" sz="1200" dirty="0"/>
            </a:br>
            <a:r>
              <a:rPr lang="ja-JP" altLang="en-US" sz="1200" dirty="0"/>
              <a:t>このような悪意ある</a:t>
            </a:r>
            <a:r>
              <a:rPr lang="en-US" altLang="ja-JP" sz="1200" dirty="0"/>
              <a:t>UI</a:t>
            </a:r>
            <a:r>
              <a:rPr lang="ja-JP" altLang="en-US" sz="1200" dirty="0"/>
              <a:t>を防ぎ、ネットリテラシーの低い人や高齢者を守るというのが背景です。</a:t>
            </a:r>
            <a:endParaRPr lang="en-US" altLang="ja-JP" sz="1200" dirty="0"/>
          </a:p>
        </p:txBody>
      </p:sp>
      <p:sp>
        <p:nvSpPr>
          <p:cNvPr id="4" name="スライド番号プレースホルダー 3">
            <a:extLst>
              <a:ext uri="{FF2B5EF4-FFF2-40B4-BE49-F238E27FC236}">
                <a16:creationId xmlns:a16="http://schemas.microsoft.com/office/drawing/2014/main" id="{01621335-EA61-D835-9274-593302084DB6}"/>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4</a:t>
            </a:fld>
            <a:endParaRPr lang="ja-JP" dirty="0"/>
          </a:p>
        </p:txBody>
      </p:sp>
    </p:spTree>
    <p:extLst>
      <p:ext uri="{BB962C8B-B14F-4D97-AF65-F5344CB8AC3E}">
        <p14:creationId xmlns:p14="http://schemas.microsoft.com/office/powerpoint/2010/main" val="15385212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1FED6-1371-68E1-72A2-F7A28D2E933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ACB6BF-87D8-432C-7AAB-969F9AF6E89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A4EC9DD-B4F7-67C9-C782-4A53EEC13C9F}"/>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既存手法として、静的解析と動的解析があります。</a:t>
            </a:r>
            <a:br>
              <a:rPr lang="en-US" altLang="ja-JP" sz="1200" dirty="0"/>
            </a:br>
            <a:r>
              <a:rPr lang="ja-JP" altLang="en-US" sz="1200" dirty="0"/>
              <a:t>静的解析では読み込み後のソースコードなどを解析して、あらかじめ登録した広告の</a:t>
            </a:r>
            <a:r>
              <a:rPr lang="en-US" altLang="ja-JP" sz="1200" dirty="0"/>
              <a:t>URL</a:t>
            </a:r>
            <a:r>
              <a:rPr lang="ja-JP" altLang="en-US" sz="1200" dirty="0"/>
              <a:t>や広告に使われる</a:t>
            </a:r>
            <a:r>
              <a:rPr lang="en-US" altLang="ja-JP" sz="1200" dirty="0"/>
              <a:t>class</a:t>
            </a:r>
            <a:r>
              <a:rPr lang="ja-JP" altLang="en-US" sz="1200" dirty="0"/>
              <a:t>名</a:t>
            </a:r>
            <a:br>
              <a:rPr lang="en-US" altLang="ja-JP" sz="1200" dirty="0"/>
            </a:br>
            <a:r>
              <a:rPr lang="ja-JP" altLang="en-US" sz="1200" dirty="0"/>
              <a:t>（</a:t>
            </a:r>
            <a:r>
              <a:rPr lang="en-US" altLang="ja-JP" dirty="0"/>
              <a:t>ad-banner, promotion)</a:t>
            </a:r>
            <a:r>
              <a:rPr lang="ja-JP" altLang="en-US" dirty="0"/>
              <a:t>を検出して削除するものがあります。</a:t>
            </a:r>
            <a:br>
              <a:rPr lang="en-US" altLang="ja-JP" dirty="0"/>
            </a:br>
            <a:r>
              <a:rPr lang="ja-JP" altLang="en-US" dirty="0"/>
              <a:t>静的解析では検出できなかったもの、つまりリストに登録されていなかったものを</a:t>
            </a:r>
            <a:r>
              <a:rPr lang="en-US" altLang="ja-JP" dirty="0"/>
              <a:t>AI</a:t>
            </a:r>
            <a:r>
              <a:rPr lang="ja-JP" altLang="en-US" dirty="0"/>
              <a:t>が判断します。例の一つにクラウド</a:t>
            </a:r>
            <a:r>
              <a:rPr lang="en-US" altLang="ja-JP" dirty="0"/>
              <a:t>AI</a:t>
            </a:r>
            <a:r>
              <a:rPr lang="ja-JP" altLang="en-US" dirty="0"/>
              <a:t>があり、</a:t>
            </a:r>
            <a:br>
              <a:rPr lang="en-US" altLang="ja-JP" dirty="0"/>
            </a:br>
            <a:r>
              <a:rPr lang="ja-JP" altLang="en-US" dirty="0"/>
              <a:t>ユーザが見ている見た目や画面上の動きを検知しリアルタイムに監視・検知する方法です。具体的には</a:t>
            </a:r>
            <a:br>
              <a:rPr lang="en-US" altLang="ja-JP" dirty="0"/>
            </a:br>
            <a:r>
              <a:rPr lang="ja-JP" altLang="en-US" dirty="0"/>
              <a:t>画面上の動きをサーバに送信し、推論結果を返されそれによる削除判断をするという感じです。</a:t>
            </a:r>
            <a:br>
              <a:rPr lang="en-US" altLang="ja-JP" dirty="0"/>
            </a:br>
            <a:endParaRPr lang="en-US" altLang="ja-JP" sz="1200" dirty="0"/>
          </a:p>
        </p:txBody>
      </p:sp>
      <p:sp>
        <p:nvSpPr>
          <p:cNvPr id="4" name="スライド番号プレースホルダー 3">
            <a:extLst>
              <a:ext uri="{FF2B5EF4-FFF2-40B4-BE49-F238E27FC236}">
                <a16:creationId xmlns:a16="http://schemas.microsoft.com/office/drawing/2014/main" id="{5133039C-048A-EF01-8A93-6A799568241F}"/>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5</a:t>
            </a:fld>
            <a:endParaRPr lang="ja-JP" dirty="0"/>
          </a:p>
        </p:txBody>
      </p:sp>
    </p:spTree>
    <p:extLst>
      <p:ext uri="{BB962C8B-B14F-4D97-AF65-F5344CB8AC3E}">
        <p14:creationId xmlns:p14="http://schemas.microsoft.com/office/powerpoint/2010/main" val="23297128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BC98E-E0F8-CDDE-D314-B6B6954D009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2A82E99-0BBD-6D2D-07C8-F22B743CCB5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DA7309A-486B-7606-E188-3C6034D68591}"/>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課題として動的解析にクラウド</a:t>
            </a:r>
            <a:r>
              <a:rPr lang="en-US" altLang="ja-JP" sz="1200" dirty="0"/>
              <a:t>AI</a:t>
            </a:r>
            <a:r>
              <a:rPr lang="ja-JP" altLang="en-US" sz="1200" dirty="0"/>
              <a:t>を用いると、サーバとクライアントとの通信遅延により</a:t>
            </a:r>
            <a:r>
              <a:rPr lang="en-US" altLang="ja-JP" sz="1200" dirty="0"/>
              <a:t>UI</a:t>
            </a:r>
            <a:r>
              <a:rPr lang="ja-JP" altLang="en-US" sz="1200" dirty="0"/>
              <a:t>介入が間に合わず、誤操作を防止できない可能性があります。</a:t>
            </a:r>
            <a:br>
              <a:rPr lang="en-US" altLang="ja-JP" sz="1200" dirty="0"/>
            </a:br>
            <a:r>
              <a:rPr lang="ja-JP" altLang="en-US" sz="1200" dirty="0"/>
              <a:t>また、クラウド</a:t>
            </a:r>
            <a:r>
              <a:rPr lang="en-US" altLang="ja-JP" sz="1200" dirty="0"/>
              <a:t>AI</a:t>
            </a:r>
            <a:r>
              <a:rPr lang="ja-JP" altLang="en-US" sz="1200" dirty="0"/>
              <a:t>は閲覧している内容を外部サーバに送るため個人情報や機密情報を送るためプライバシーの問題もあります。</a:t>
            </a:r>
            <a:endParaRPr lang="en-US" altLang="ja-JP" sz="1200" dirty="0"/>
          </a:p>
        </p:txBody>
      </p:sp>
      <p:sp>
        <p:nvSpPr>
          <p:cNvPr id="4" name="スライド番号プレースホルダー 3">
            <a:extLst>
              <a:ext uri="{FF2B5EF4-FFF2-40B4-BE49-F238E27FC236}">
                <a16:creationId xmlns:a16="http://schemas.microsoft.com/office/drawing/2014/main" id="{837668BF-12CF-C0F9-8365-92884FF81492}"/>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6</a:t>
            </a:fld>
            <a:endParaRPr lang="ja-JP" dirty="0"/>
          </a:p>
        </p:txBody>
      </p:sp>
    </p:spTree>
    <p:extLst>
      <p:ext uri="{BB962C8B-B14F-4D97-AF65-F5344CB8AC3E}">
        <p14:creationId xmlns:p14="http://schemas.microsoft.com/office/powerpoint/2010/main" val="35876234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2E5C0-442E-972C-CDB7-869E7CABD56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CD07D9F-8463-1D1A-0515-74BFC352F71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3AC1F6F-D81F-D2C0-6DCE-F305ECAFD186}"/>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研究方法として、ローカル上で推論を行います。つまり</a:t>
            </a:r>
            <a:r>
              <a:rPr lang="en-US" altLang="ja-JP" sz="1200" dirty="0"/>
              <a:t>AI</a:t>
            </a:r>
            <a:r>
              <a:rPr lang="ja-JP" altLang="en-US" sz="1200" dirty="0"/>
              <a:t>をクライアント側に入れ、推論を行う手法です。メリットとして、</a:t>
            </a:r>
            <a:br>
              <a:rPr lang="en-US" altLang="ja-JP" sz="1200" dirty="0"/>
            </a:br>
            <a:r>
              <a:rPr lang="ja-JP" altLang="en-US" sz="1200" dirty="0"/>
              <a:t>クラウド</a:t>
            </a:r>
            <a:r>
              <a:rPr lang="en-US" altLang="ja-JP" sz="1200" dirty="0"/>
              <a:t>AI</a:t>
            </a:r>
            <a:r>
              <a:rPr lang="ja-JP" altLang="en-US" sz="1200" dirty="0"/>
              <a:t>のように外部にデータを送信しないためプライバシーが守られます。また、ローカル上で完結するため通信環境を</a:t>
            </a:r>
            <a:br>
              <a:rPr lang="en-US" altLang="ja-JP" sz="1200" dirty="0"/>
            </a:br>
            <a:r>
              <a:rPr lang="ja-JP" altLang="en-US" sz="1200" dirty="0"/>
              <a:t>意識する必要がありません。デメリットとして、ローカル推論はクライアントの</a:t>
            </a:r>
            <a:r>
              <a:rPr lang="en-US" altLang="ja-JP" sz="1200" dirty="0"/>
              <a:t>PC</a:t>
            </a:r>
            <a:r>
              <a:rPr lang="ja-JP" altLang="en-US" sz="1200" dirty="0"/>
              <a:t>のスペックに依存するため考慮する必要があります。</a:t>
            </a:r>
            <a:br>
              <a:rPr lang="en-US" altLang="ja-JP" sz="1200" dirty="0"/>
            </a:br>
            <a:endParaRPr lang="en-US" altLang="ja-JP" sz="1200" dirty="0"/>
          </a:p>
        </p:txBody>
      </p:sp>
      <p:sp>
        <p:nvSpPr>
          <p:cNvPr id="4" name="スライド番号プレースホルダー 3">
            <a:extLst>
              <a:ext uri="{FF2B5EF4-FFF2-40B4-BE49-F238E27FC236}">
                <a16:creationId xmlns:a16="http://schemas.microsoft.com/office/drawing/2014/main" id="{6FEF8599-7310-82D9-1207-364F7B9FC52F}"/>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7</a:t>
            </a:fld>
            <a:endParaRPr lang="ja-JP" dirty="0"/>
          </a:p>
        </p:txBody>
      </p:sp>
    </p:spTree>
    <p:extLst>
      <p:ext uri="{BB962C8B-B14F-4D97-AF65-F5344CB8AC3E}">
        <p14:creationId xmlns:p14="http://schemas.microsoft.com/office/powerpoint/2010/main" val="7549987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23687-DC62-3228-4210-C7B9B94D05C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0780CD2-8775-D9AF-3773-6ECE1FC45BE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2C61624-B96E-EE87-847A-0682E932EE23}"/>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現状としましては、研究をかなり変えてしまったため、文献調査や先行研究が不十分ということと、</a:t>
            </a:r>
            <a:br>
              <a:rPr lang="en-US" altLang="ja-JP" sz="1200" dirty="0"/>
            </a:br>
            <a:r>
              <a:rPr lang="en-US" altLang="ja-JP" sz="1200" dirty="0" err="1"/>
              <a:t>WebNN</a:t>
            </a:r>
            <a:r>
              <a:rPr lang="ja-JP" altLang="en-US" sz="1200" dirty="0"/>
              <a:t>というまだ開発段階の</a:t>
            </a:r>
            <a:r>
              <a:rPr lang="en-US" altLang="ja-JP" sz="1200" dirty="0"/>
              <a:t>API</a:t>
            </a:r>
            <a:r>
              <a:rPr lang="ja-JP" altLang="en-US" sz="1200" dirty="0"/>
              <a:t>を使用しどの程度推論速度が改善できるかを検証するという感じです。</a:t>
            </a:r>
            <a:br>
              <a:rPr lang="en-US" altLang="ja-JP" sz="1200" dirty="0"/>
            </a:br>
            <a:endParaRPr lang="en-US" altLang="ja-JP" sz="1200" dirty="0"/>
          </a:p>
        </p:txBody>
      </p:sp>
      <p:sp>
        <p:nvSpPr>
          <p:cNvPr id="4" name="スライド番号プレースホルダー 3">
            <a:extLst>
              <a:ext uri="{FF2B5EF4-FFF2-40B4-BE49-F238E27FC236}">
                <a16:creationId xmlns:a16="http://schemas.microsoft.com/office/drawing/2014/main" id="{A2E7A8AF-792A-D663-EA31-5A9AB2C80C7D}"/>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8</a:t>
            </a:fld>
            <a:endParaRPr lang="ja-JP" dirty="0"/>
          </a:p>
        </p:txBody>
      </p:sp>
    </p:spTree>
    <p:extLst>
      <p:ext uri="{BB962C8B-B14F-4D97-AF65-F5344CB8AC3E}">
        <p14:creationId xmlns:p14="http://schemas.microsoft.com/office/powerpoint/2010/main" val="2887884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defPPr>
              <a:defRPr lang="ja-JP"/>
            </a:defPPr>
          </a:lstStyle>
          <a:p>
            <a:pPr rtl="0"/>
            <a:endParaRPr lang="ja-JP" dirty="0"/>
          </a:p>
        </p:txBody>
      </p:sp>
      <p:sp>
        <p:nvSpPr>
          <p:cNvPr id="4" name="スライド番号プレースホルダー 3"/>
          <p:cNvSpPr>
            <a:spLocks noGrp="1"/>
          </p:cNvSpPr>
          <p:nvPr>
            <p:ph type="sldNum" sz="quarter" idx="5"/>
          </p:nvPr>
        </p:nvSpPr>
        <p:spPr/>
        <p:txBody>
          <a:bodyPr rtlCol="0"/>
          <a:lstStyle>
            <a:defPPr>
              <a:defRPr lang="ja-JP"/>
            </a:defPPr>
          </a:lstStyle>
          <a:p>
            <a:pPr rtl="0"/>
            <a:fld id="{C37D7554-D10C-4E29-B8E6-BB7111FA614F}" type="slidenum">
              <a:rPr lang="en-US" altLang="ja-JP" smtClean="0"/>
              <a:t>9</a:t>
            </a:fld>
            <a:endParaRPr lang="ja-JP" dirty="0"/>
          </a:p>
        </p:txBody>
      </p:sp>
    </p:spTree>
    <p:extLst>
      <p:ext uri="{BB962C8B-B14F-4D97-AF65-F5344CB8AC3E}">
        <p14:creationId xmlns:p14="http://schemas.microsoft.com/office/powerpoint/2010/main" val="1264164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1">
    <p:bg>
      <p:bgPr>
        <a:solidFill>
          <a:schemeClr val="accent2">
            <a:lumMod val="50000"/>
          </a:schemeClr>
        </a:solidFill>
        <a:effectLst/>
      </p:bgPr>
    </p:bg>
    <p:spTree>
      <p:nvGrpSpPr>
        <p:cNvPr id="1" name=""/>
        <p:cNvGrpSpPr/>
        <p:nvPr/>
      </p:nvGrpSpPr>
      <p:grpSpPr>
        <a:xfrm>
          <a:off x="0" y="0"/>
          <a:ext cx="0" cy="0"/>
          <a:chOff x="0" y="0"/>
          <a:chExt cx="0" cy="0"/>
        </a:xfrm>
      </p:grpSpPr>
      <p:sp>
        <p:nvSpPr>
          <p:cNvPr id="2" name="長方形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3" name="直線​​コネクタ(S)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長方形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8" name="タイトル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rtlCol="0" anchor="b">
            <a:normAutofit/>
          </a:bodyPr>
          <a:lstStyle>
            <a:lvl1pPr>
              <a:defRPr lang="ja-JP" sz="6000">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Tree>
    <p:extLst>
      <p:ext uri="{BB962C8B-B14F-4D97-AF65-F5344CB8AC3E}">
        <p14:creationId xmlns:p14="http://schemas.microsoft.com/office/powerpoint/2010/main" val="1784555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議題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ltLang="en-US" noProof="0" dirty="0"/>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rtlCol="0" anchor="ctr">
            <a:normAutofit/>
          </a:bodyPr>
          <a:lstStyle>
            <a:lvl1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1pPr>
            <a:lvl2pPr marL="6858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1430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6002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0574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ltLang="en-US" noProof="0" dirty="0"/>
              <a:t>クリックしてコンテンツを追加</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cxnSp>
        <p:nvCxnSpPr>
          <p:cNvPr id="3" name="直線​​コネクタ(S)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長方形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altLang="en-US" noProof="0" dirty="0">
              <a:latin typeface="Meiryo UI" panose="020B0604030504040204" pitchFamily="50" charset="-128"/>
              <a:ea typeface="Meiryo UI" panose="020B0604030504040204" pitchFamily="50" charset="-128"/>
            </a:endParaRPr>
          </a:p>
        </p:txBody>
      </p:sp>
      <p:sp>
        <p:nvSpPr>
          <p:cNvPr id="9" name="スライド番号プレースホルダー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noProof="0" smtClean="0"/>
              <a:pPr/>
              <a:t>‹#›</a:t>
            </a:fld>
            <a:endParaRPr lang="ja-JP" altLang="en-US" noProof="0" dirty="0"/>
          </a:p>
        </p:txBody>
      </p:sp>
    </p:spTree>
    <p:extLst>
      <p:ext uri="{BB962C8B-B14F-4D97-AF65-F5344CB8AC3E}">
        <p14:creationId xmlns:p14="http://schemas.microsoft.com/office/powerpoint/2010/main" val="327724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画像">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rtlCol="0" anchor="b">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図プレースホルダー 11">
            <a:extLst>
              <a:ext uri="{FF2B5EF4-FFF2-40B4-BE49-F238E27FC236}">
                <a16:creationId xmlns:a16="http://schemas.microsoft.com/office/drawing/2014/main" id="{2B92702B-E14C-886C-445A-349265F37592}"/>
              </a:ext>
            </a:extLst>
          </p:cNvPr>
          <p:cNvSpPr>
            <a:spLocks noGrp="1"/>
          </p:cNvSpPr>
          <p:nvPr>
            <p:ph type="pic" sz="quarter" idx="13" hasCustomPrompt="1"/>
          </p:nvPr>
        </p:nvSpPr>
        <p:spPr>
          <a:xfrm>
            <a:off x="6642169" y="-1"/>
            <a:ext cx="4635426" cy="6857999"/>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6" name="長方形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8" name="直線​​コネクタ(S)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とサブタイトル">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rtlCol="0" anchor="b">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図プレースホルダー 11">
            <a:extLst>
              <a:ext uri="{FF2B5EF4-FFF2-40B4-BE49-F238E27FC236}">
                <a16:creationId xmlns:a16="http://schemas.microsoft.com/office/drawing/2014/main" id="{2B92702B-E14C-886C-445A-349265F37592}"/>
              </a:ext>
            </a:extLst>
          </p:cNvPr>
          <p:cNvSpPr>
            <a:spLocks noGrp="1"/>
          </p:cNvSpPr>
          <p:nvPr>
            <p:ph type="pic" sz="quarter" idx="13" hasCustomPrompt="1"/>
          </p:nvPr>
        </p:nvSpPr>
        <p:spPr>
          <a:xfrm>
            <a:off x="915600" y="0"/>
            <a:ext cx="10361995" cy="3429000"/>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6" name="長方形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8" name="直線​​コネクタ(S)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rtlCol="0" anchor="t">
            <a:normAutofit/>
          </a:bodyPr>
          <a:lstStyle>
            <a:lvl1pPr marL="0" indent="0" algn="l">
              <a:lnSpc>
                <a:spcPct val="80000"/>
              </a:lnSpc>
              <a:spcBef>
                <a:spcPts val="0"/>
              </a:spcBef>
              <a:buNone/>
              <a:defRPr lang="ja-JP" sz="2000" spc="0" baseline="0">
                <a:solidFill>
                  <a:schemeClr val="tx1"/>
                </a:solidFill>
                <a:latin typeface="Meiryo UI" panose="020B0604030504040204" pitchFamily="50" charset="-128"/>
                <a:ea typeface="Meiryo UI" panose="020B0604030504040204" pitchFamily="50" charset="-128"/>
                <a:cs typeface="+mn-cs"/>
              </a:defRPr>
            </a:lvl1pPr>
          </a:lstStyle>
          <a:p>
            <a:pPr lvl="0" rtl="0"/>
            <a:r>
              <a:rPr lang="ja-JP"/>
              <a:t>クリックしてサブタイトルを追加</a:t>
            </a:r>
          </a:p>
        </p:txBody>
      </p:sp>
    </p:spTree>
    <p:extLst>
      <p:ext uri="{BB962C8B-B14F-4D97-AF65-F5344CB8AC3E}">
        <p14:creationId xmlns:p14="http://schemas.microsoft.com/office/powerpoint/2010/main" val="32272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とコンテンツ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rtlCol="0">
            <a:normAutofit/>
          </a:bodyPr>
          <a:lstStyle>
            <a:lvl1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1pPr>
            <a:lvl2pPr marL="6858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1430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6002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0574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cxnSp>
        <p:nvCxnSpPr>
          <p:cNvPr id="3" name="直線​​コネクタ(S)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長方形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9" name="スライド番号プレースホルダー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137359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のタイトル">
    <p:bg>
      <p:bgPr>
        <a:solidFill>
          <a:schemeClr val="accent6"/>
        </a:solidFill>
        <a:effectLst/>
      </p:bgPr>
    </p:bg>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rtlCol="0" anchor="b"/>
          <a:lstStyle>
            <a:lvl1pPr algn="ctr">
              <a:defRPr lang="ja-JP">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5" name="長方形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6" name="長方形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9" name="テキスト プレースホルダー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rtlCol="0" anchor="t">
            <a:normAutofit/>
          </a:bodyPr>
          <a:lstStyle>
            <a:lvl1pPr marL="0" indent="0" algn="ctr">
              <a:lnSpc>
                <a:spcPct val="80000"/>
              </a:lnSpc>
              <a:spcBef>
                <a:spcPts val="0"/>
              </a:spcBef>
              <a:buNone/>
              <a:defRPr lang="ja-JP" sz="2000" spc="0" baseline="0">
                <a:solidFill>
                  <a:schemeClr val="bg1"/>
                </a:solidFill>
                <a:latin typeface="Meiryo UI" panose="020B0604030504040204" pitchFamily="50" charset="-128"/>
                <a:ea typeface="Meiryo UI" panose="020B0604030504040204" pitchFamily="50" charset="-128"/>
                <a:cs typeface="+mn-cs"/>
              </a:defRPr>
            </a:lvl1pPr>
          </a:lstStyle>
          <a:p>
            <a:pPr lvl="0" rtl="0"/>
            <a:r>
              <a:rPr lang="ja-JP"/>
              <a:t>クリックしてサブタイトルを追加</a:t>
            </a:r>
          </a:p>
        </p:txBody>
      </p:sp>
    </p:spTree>
    <p:extLst>
      <p:ext uri="{BB962C8B-B14F-4D97-AF65-F5344CB8AC3E}">
        <p14:creationId xmlns:p14="http://schemas.microsoft.com/office/powerpoint/2010/main" val="206953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5">
            <a:extLst>
              <a:ext uri="{FF2B5EF4-FFF2-40B4-BE49-F238E27FC236}">
                <a16:creationId xmlns:a16="http://schemas.microsoft.com/office/drawing/2014/main" id="{1D40DF0B-6602-19D4-3110-4659C28780D5}"/>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256172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4" name="コンテンツ プレースホルダー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rtlCol="0">
            <a:normAutofit/>
          </a:bodyPr>
          <a:lstStyle>
            <a:lvl1pPr marL="320040" indent="-320040">
              <a:lnSpc>
                <a:spcPct val="100000"/>
              </a:lnSpc>
              <a:spcBef>
                <a:spcPts val="0"/>
              </a:spcBef>
              <a:spcAft>
                <a:spcPts val="1200"/>
              </a:spcAft>
              <a:buFont typeface="+mj-lt"/>
              <a:buAutoNum type="arabicPeriod"/>
              <a:defRPr lang="ja-JP" sz="2000">
                <a:latin typeface="Meiryo UI" panose="020B0604030504040204" pitchFamily="50" charset="-128"/>
                <a:ea typeface="Meiryo UI" panose="020B0604030504040204" pitchFamily="50" charset="-128"/>
              </a:defRPr>
            </a:lvl1pPr>
            <a:lvl2pPr marL="457200" indent="-320040">
              <a:lnSpc>
                <a:spcPct val="100000"/>
              </a:lnSpc>
              <a:spcBef>
                <a:spcPts val="1000"/>
              </a:spcBef>
              <a:spcAft>
                <a:spcPts val="1200"/>
              </a:spcAft>
              <a:buFont typeface="+mj-lt"/>
              <a:buAutoNum type="alphaLcPeriod"/>
              <a:defRPr lang="ja-JP" sz="2000">
                <a:latin typeface="Meiryo UI" panose="020B0604030504040204" pitchFamily="50" charset="-128"/>
                <a:ea typeface="Meiryo UI" panose="020B0604030504040204" pitchFamily="50" charset="-128"/>
              </a:defRPr>
            </a:lvl2pPr>
            <a:lvl3pPr marL="914400" indent="-320040">
              <a:spcBef>
                <a:spcPts val="1000"/>
              </a:spcBef>
              <a:spcAft>
                <a:spcPts val="1200"/>
              </a:spcAft>
              <a:buFont typeface="+mj-lt"/>
              <a:buAutoNum type="arabicParenR"/>
              <a:defRPr lang="ja-JP" sz="2000">
                <a:latin typeface="Meiryo UI" panose="020B0604030504040204" pitchFamily="50" charset="-128"/>
                <a:ea typeface="Meiryo UI" panose="020B0604030504040204" pitchFamily="50" charset="-128"/>
              </a:defRPr>
            </a:lvl3pPr>
            <a:lvl4pPr marL="1371600" indent="-320040">
              <a:spcBef>
                <a:spcPts val="1000"/>
              </a:spcBef>
              <a:spcAft>
                <a:spcPts val="1200"/>
              </a:spcAft>
              <a:buFont typeface="+mj-lt"/>
              <a:buAutoNum type="alphaLcParenR"/>
              <a:defRPr lang="ja-JP" sz="2000">
                <a:latin typeface="Meiryo UI" panose="020B0604030504040204" pitchFamily="50" charset="-128"/>
                <a:ea typeface="Meiryo UI" panose="020B0604030504040204" pitchFamily="50" charset="-128"/>
              </a:defRPr>
            </a:lvl4pPr>
            <a:lvl5pPr marL="1828800" indent="-320040">
              <a:spcBef>
                <a:spcPts val="1000"/>
              </a:spcBef>
              <a:spcAft>
                <a:spcPts val="1200"/>
              </a:spcAft>
              <a:buFont typeface="+mj-lt"/>
              <a:buAutoNum type="romanLcPeriod"/>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251423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タイトル、画像とコンテンツ">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8" name="図プレースホルダー 7">
            <a:extLst>
              <a:ext uri="{FF2B5EF4-FFF2-40B4-BE49-F238E27FC236}">
                <a16:creationId xmlns:a16="http://schemas.microsoft.com/office/drawing/2014/main" id="{357912CB-B8F8-1E65-094F-AD3220E6C79C}"/>
              </a:ext>
            </a:extLst>
          </p:cNvPr>
          <p:cNvSpPr>
            <a:spLocks noGrp="1"/>
          </p:cNvSpPr>
          <p:nvPr>
            <p:ph type="pic" sz="quarter" idx="12" hasCustomPrompt="1"/>
          </p:nvPr>
        </p:nvSpPr>
        <p:spPr>
          <a:xfrm>
            <a:off x="1503363" y="2061969"/>
            <a:ext cx="4592637" cy="4805362"/>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2" name="スライド番号プレースホルダー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10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タイトル、コンテンツ、表">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1468814" y="2057400"/>
            <a:ext cx="3091027" cy="3867538"/>
          </a:xfrm>
        </p:spPr>
        <p:txBody>
          <a:bodyPr lIns="0" rtlCol="0">
            <a:normAutofit/>
          </a:bodyPr>
          <a:lstStyle>
            <a:lvl1pPr marL="0" indent="0">
              <a:lnSpc>
                <a:spcPct val="100000"/>
              </a:lnSpc>
              <a:spcBef>
                <a:spcPts val="0"/>
              </a:spcBef>
              <a:spcAft>
                <a:spcPts val="12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4" name="表プレースホルダー 13">
            <a:extLst>
              <a:ext uri="{FF2B5EF4-FFF2-40B4-BE49-F238E27FC236}">
                <a16:creationId xmlns:a16="http://schemas.microsoft.com/office/drawing/2014/main" id="{EA708189-1532-1BDD-104F-4D8556146CEE}"/>
              </a:ext>
            </a:extLst>
          </p:cNvPr>
          <p:cNvSpPr>
            <a:spLocks noGrp="1"/>
          </p:cNvSpPr>
          <p:nvPr>
            <p:ph type="tbl" sz="quarter" idx="12" hasCustomPrompt="1"/>
          </p:nvPr>
        </p:nvSpPr>
        <p:spPr>
          <a:xfrm>
            <a:off x="5097463" y="2051976"/>
            <a:ext cx="6180137" cy="3867538"/>
          </a:xfrm>
        </p:spPr>
        <p:txBody>
          <a:bodyPr rtlCol="0">
            <a:normAutofit/>
          </a:bodyPr>
          <a:lstStyle>
            <a:lvl1pPr>
              <a:defRPr lang="ja-JP" sz="2000">
                <a:latin typeface="Meiryo UI" panose="020B0604030504040204" pitchFamily="50" charset="-128"/>
                <a:ea typeface="Meiryo UI" panose="020B0604030504040204" pitchFamily="50" charset="-128"/>
              </a:defRPr>
            </a:lvl1pPr>
          </a:lstStyle>
          <a:p>
            <a:pPr rtl="0"/>
            <a:r>
              <a:rPr lang="ja-JP"/>
              <a:t>アイコンをクリックして表を追加</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スライド番号プレースホルダー 5">
            <a:extLst>
              <a:ext uri="{FF2B5EF4-FFF2-40B4-BE49-F238E27FC236}">
                <a16:creationId xmlns:a16="http://schemas.microsoft.com/office/drawing/2014/main" id="{6E0EC71B-95A1-C740-6B1F-F8DF02E2D164}"/>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34092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8" name="コンテンツ プレースホルダー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rtlCol="0">
            <a:normAutofit/>
          </a:bodyPr>
          <a:lstStyle>
            <a:lvl1pPr>
              <a:lnSpc>
                <a:spcPct val="100000"/>
              </a:lnSpc>
              <a:spcAft>
                <a:spcPts val="600"/>
              </a:spcAft>
              <a:defRPr lang="ja-JP" sz="2000">
                <a:latin typeface="Meiryo UI" panose="020B0604030504040204" pitchFamily="50" charset="-128"/>
                <a:ea typeface="Meiryo UI" panose="020B0604030504040204" pitchFamily="50" charset="-128"/>
              </a:defRPr>
            </a:lvl1pPr>
            <a:lvl2pPr>
              <a:lnSpc>
                <a:spcPct val="100000"/>
              </a:lnSpc>
              <a:spcAft>
                <a:spcPts val="600"/>
              </a:spcAft>
              <a:defRPr lang="ja-JP" sz="2000">
                <a:latin typeface="Meiryo UI" panose="020B0604030504040204" pitchFamily="50" charset="-128"/>
                <a:ea typeface="Meiryo UI" panose="020B0604030504040204" pitchFamily="50" charset="-128"/>
              </a:defRPr>
            </a:lvl2pPr>
            <a:lvl3pPr>
              <a:lnSpc>
                <a:spcPct val="100000"/>
              </a:lnSpc>
              <a:spcBef>
                <a:spcPts val="1000"/>
              </a:spcBef>
              <a:spcAft>
                <a:spcPts val="600"/>
              </a:spcAft>
              <a:defRPr lang="ja-JP" sz="2000">
                <a:latin typeface="Meiryo UI" panose="020B0604030504040204" pitchFamily="50" charset="-128"/>
                <a:ea typeface="Meiryo UI" panose="020B0604030504040204" pitchFamily="50" charset="-128"/>
              </a:defRPr>
            </a:lvl3pPr>
            <a:lvl4pPr>
              <a:lnSpc>
                <a:spcPct val="100000"/>
              </a:lnSpc>
              <a:spcAft>
                <a:spcPts val="1200"/>
              </a:spcAft>
              <a:defRPr lang="ja-JP" sz="2000">
                <a:latin typeface="Meiryo UI" panose="020B0604030504040204" pitchFamily="50" charset="-128"/>
                <a:ea typeface="Meiryo UI" panose="020B0604030504040204" pitchFamily="50" charset="-128"/>
              </a:defRPr>
            </a:lvl4pPr>
            <a:lvl5pP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1" name="コンテンツ プレースホルダー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rtlCol="0">
            <a:normAutofit/>
          </a:bodyPr>
          <a:lstStyle>
            <a:lvl1pPr marL="0" indent="0">
              <a:lnSpc>
                <a:spcPct val="100000"/>
              </a:lnSpc>
              <a:spcAft>
                <a:spcPts val="6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Aft>
                <a:spcPts val="6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2" name="スライド番号プレースホルダー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8528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タイトルと表">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altLang="en-US" noProof="0"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ltLang="en-US" noProof="0" dirty="0"/>
              <a:t>クリックしてタイトルを追加</a:t>
            </a:r>
          </a:p>
        </p:txBody>
      </p:sp>
      <p:sp>
        <p:nvSpPr>
          <p:cNvPr id="9" name="表プレースホルダー 8">
            <a:extLst>
              <a:ext uri="{FF2B5EF4-FFF2-40B4-BE49-F238E27FC236}">
                <a16:creationId xmlns:a16="http://schemas.microsoft.com/office/drawing/2014/main" id="{CB43608F-0A38-CF4A-4B3B-F1212E786FDE}"/>
              </a:ext>
            </a:extLst>
          </p:cNvPr>
          <p:cNvSpPr>
            <a:spLocks noGrp="1"/>
          </p:cNvSpPr>
          <p:nvPr>
            <p:ph type="tbl" sz="quarter" idx="10" hasCustomPrompt="1"/>
          </p:nvPr>
        </p:nvSpPr>
        <p:spPr>
          <a:xfrm>
            <a:off x="1487488" y="2057400"/>
            <a:ext cx="9790112" cy="3886200"/>
          </a:xfrm>
        </p:spPr>
        <p:txBody>
          <a:bodyPr rtlCol="0">
            <a:normAutofit/>
          </a:bodyPr>
          <a:lstStyle>
            <a:lvl1pPr>
              <a:defRPr lang="ja-JP" sz="2400">
                <a:latin typeface="Meiryo UI" panose="020B0604030504040204" pitchFamily="50" charset="-128"/>
                <a:ea typeface="Meiryo UI" panose="020B0604030504040204" pitchFamily="50" charset="-128"/>
              </a:defRPr>
            </a:lvl1pPr>
          </a:lstStyle>
          <a:p>
            <a:pPr rtl="0"/>
            <a:r>
              <a:rPr lang="ja-JP" altLang="en-US" noProof="0" dirty="0"/>
              <a:t>アイコンをクリックして表を追加</a:t>
            </a:r>
          </a:p>
        </p:txBody>
      </p:sp>
      <p:sp>
        <p:nvSpPr>
          <p:cNvPr id="2" name="スライド番号プレースホルダー 5">
            <a:extLst>
              <a:ext uri="{FF2B5EF4-FFF2-40B4-BE49-F238E27FC236}">
                <a16:creationId xmlns:a16="http://schemas.microsoft.com/office/drawing/2014/main" id="{05DA3688-07D1-82D9-6818-C95E9A69C2F1}"/>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noProof="0" smtClean="0"/>
              <a:pPr/>
              <a:t>‹#›</a:t>
            </a:fld>
            <a:endParaRPr lang="ja-JP" altLang="en-US" noProof="0" dirty="0"/>
          </a:p>
        </p:txBody>
      </p:sp>
    </p:spTree>
    <p:extLst>
      <p:ext uri="{BB962C8B-B14F-4D97-AF65-F5344CB8AC3E}">
        <p14:creationId xmlns:p14="http://schemas.microsoft.com/office/powerpoint/2010/main" val="269135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ありがとうございます 1">
    <p:bg>
      <p:bgPr>
        <a:solidFill>
          <a:schemeClr val="accent2">
            <a:lumMod val="50000"/>
          </a:schemeClr>
        </a:solidFill>
        <a:effectLst/>
      </p:bgPr>
    </p:bg>
    <p:spTree>
      <p:nvGrpSpPr>
        <p:cNvPr id="1" name=""/>
        <p:cNvGrpSpPr/>
        <p:nvPr/>
      </p:nvGrpSpPr>
      <p:grpSpPr>
        <a:xfrm>
          <a:off x="0" y="0"/>
          <a:ext cx="0" cy="0"/>
          <a:chOff x="0" y="0"/>
          <a:chExt cx="0" cy="0"/>
        </a:xfrm>
      </p:grpSpPr>
      <p:sp>
        <p:nvSpPr>
          <p:cNvPr id="2" name="長方形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3" name="直線​​コネクタ(S)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長方形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8" name="タイトル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rtlCol="0" anchor="b">
            <a:normAutofit/>
          </a:bodyPr>
          <a:lstStyle>
            <a:lvl1pPr>
              <a:defRPr lang="ja-JP" sz="6000">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0" name="コンテンツ プレースホルダー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rtlCol="0" anchor="ctr">
            <a:normAutofit/>
          </a:bodyPr>
          <a:lstStyle>
            <a:lvl1pPr marL="0" indent="0">
              <a:lnSpc>
                <a:spcPct val="100000"/>
              </a:lnSpc>
              <a:spcBef>
                <a:spcPts val="0"/>
              </a:spcBef>
              <a:spcAft>
                <a:spcPts val="1200"/>
              </a:spcAft>
              <a:buNone/>
              <a:defRPr lang="ja-JP" sz="2000">
                <a:solidFill>
                  <a:schemeClr val="bg1"/>
                </a:solidFill>
                <a:latin typeface="Meiryo UI" panose="020B0604030504040204" pitchFamily="50" charset="-128"/>
                <a:ea typeface="Meiryo UI" panose="020B0604030504040204" pitchFamily="50" charset="-128"/>
              </a:defRPr>
            </a:lvl1pPr>
            <a:lvl2pPr marL="742950" indent="-285750">
              <a:lnSpc>
                <a:spcPct val="100000"/>
              </a:lnSpc>
              <a:spcBef>
                <a:spcPts val="0"/>
              </a:spcBef>
              <a:spcAft>
                <a:spcPts val="1200"/>
              </a:spcAft>
              <a:buFont typeface="Arial" panose="020B0604020202020204" pitchFamily="34" charset="0"/>
              <a:buChar char="•"/>
              <a:defRPr lang="ja-JP" sz="1800">
                <a:solidFill>
                  <a:schemeClr val="bg1"/>
                </a:solidFill>
                <a:latin typeface="Meiryo UI" panose="020B0604030504040204" pitchFamily="50" charset="-128"/>
                <a:ea typeface="Meiryo UI" panose="020B0604030504040204" pitchFamily="50" charset="-128"/>
              </a:defRPr>
            </a:lvl2pPr>
            <a:lvl3pPr marL="1200150" indent="-285750">
              <a:lnSpc>
                <a:spcPct val="100000"/>
              </a:lnSpc>
              <a:spcBef>
                <a:spcPts val="0"/>
              </a:spcBef>
              <a:spcAft>
                <a:spcPts val="1200"/>
              </a:spcAft>
              <a:buFont typeface="Arial" panose="020B0604020202020204" pitchFamily="34" charset="0"/>
              <a:buChar char="•"/>
              <a:defRPr lang="ja-JP" sz="1600">
                <a:solidFill>
                  <a:schemeClr val="bg1"/>
                </a:solidFill>
                <a:latin typeface="Meiryo UI" panose="020B0604030504040204" pitchFamily="50" charset="-128"/>
                <a:ea typeface="Meiryo UI" panose="020B0604030504040204" pitchFamily="50" charset="-128"/>
              </a:defRPr>
            </a:lvl3pPr>
            <a:lvl4pPr marL="1657350" indent="-285750">
              <a:lnSpc>
                <a:spcPct val="100000"/>
              </a:lnSpc>
              <a:spcBef>
                <a:spcPts val="0"/>
              </a:spcBef>
              <a:spcAft>
                <a:spcPts val="1200"/>
              </a:spcAft>
              <a:buFont typeface="Arial" panose="020B0604020202020204" pitchFamily="34" charset="0"/>
              <a:buChar char="•"/>
              <a:defRPr lang="ja-JP" sz="1400">
                <a:solidFill>
                  <a:schemeClr val="bg1"/>
                </a:solidFill>
                <a:latin typeface="Meiryo UI" panose="020B0604030504040204" pitchFamily="50" charset="-128"/>
                <a:ea typeface="Meiryo UI" panose="020B0604030504040204" pitchFamily="50" charset="-128"/>
              </a:defRPr>
            </a:lvl4pPr>
            <a:lvl5pPr marL="2114550" indent="-285750">
              <a:lnSpc>
                <a:spcPct val="100000"/>
              </a:lnSpc>
              <a:spcBef>
                <a:spcPts val="0"/>
              </a:spcBef>
              <a:spcAft>
                <a:spcPts val="1200"/>
              </a:spcAft>
              <a:buFont typeface="Arial" panose="020B0604020202020204" pitchFamily="34" charset="0"/>
              <a:buChar char="•"/>
              <a:defRPr lang="ja-JP" sz="1400">
                <a:solidFill>
                  <a:schemeClr val="bg1"/>
                </a:solidFill>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Tree>
    <p:extLst>
      <p:ext uri="{BB962C8B-B14F-4D97-AF65-F5344CB8AC3E}">
        <p14:creationId xmlns:p14="http://schemas.microsoft.com/office/powerpoint/2010/main" val="64374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defPPr>
              <a:defRPr lang="ja-JP"/>
            </a:defPPr>
          </a:lstStyle>
          <a:p>
            <a:pPr rtl="0"/>
            <a:r>
              <a:rPr lang="ja-JP" dirty="0"/>
              <a:t>マスター タイトルの書式設定</a:t>
            </a:r>
          </a:p>
        </p:txBody>
      </p:sp>
      <p:sp>
        <p:nvSpPr>
          <p:cNvPr id="3" name="テキスト プレースホルダー 2">
            <a:extLst>
              <a:ext uri="{FF2B5EF4-FFF2-40B4-BE49-F238E27FC236}">
                <a16:creationId xmlns:a16="http://schemas.microsoft.com/office/drawing/2014/main"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defPPr>
              <a:defRPr lang="ja-JP"/>
            </a:defPPr>
          </a:lstStyle>
          <a:p>
            <a:pPr lvl="0" rtl="0"/>
            <a:r>
              <a:rPr lang="ja-JP" dirty="0"/>
              <a:t>クリックしてマスター テキストのスタイルを編集</a:t>
            </a:r>
          </a:p>
          <a:p>
            <a:pPr lvl="1" rtl="0"/>
            <a:r>
              <a:rPr lang="ja-JP" dirty="0"/>
              <a:t>第 2 レベル</a:t>
            </a:r>
          </a:p>
          <a:p>
            <a:pPr lvl="2" rtl="0"/>
            <a:r>
              <a:rPr lang="ja-JP" dirty="0"/>
              <a:t>第 3 レベル</a:t>
            </a:r>
          </a:p>
          <a:p>
            <a:pPr lvl="3" rtl="0"/>
            <a:r>
              <a:rPr lang="ja-JP" dirty="0"/>
              <a:t>第 4 レベル</a:t>
            </a:r>
          </a:p>
          <a:p>
            <a:pPr lvl="4" rtl="0"/>
            <a:r>
              <a:rPr lang="ja-JP" dirty="0"/>
              <a:t>第 5 レベル</a:t>
            </a:r>
          </a:p>
        </p:txBody>
      </p:sp>
      <p:sp>
        <p:nvSpPr>
          <p:cNvPr id="4" name="日付プレースホルダー 3">
            <a:extLst>
              <a:ext uri="{FF2B5EF4-FFF2-40B4-BE49-F238E27FC236}">
                <a16:creationId xmlns:a16="http://schemas.microsoft.com/office/drawing/2014/main"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ja-JP" sz="900" b="0" cap="all" spc="150" baseline="0">
                <a:solidFill>
                  <a:schemeClr val="bg2">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5" name="フッター プレースホルダー 4">
            <a:extLst>
              <a:ext uri="{FF2B5EF4-FFF2-40B4-BE49-F238E27FC236}">
                <a16:creationId xmlns:a16="http://schemas.microsoft.com/office/drawing/2014/main"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ja-JP" sz="900" b="0" cap="all" spc="150" baseline="0">
                <a:solidFill>
                  <a:schemeClr val="bg2">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6" name="スライド番号プレースホルダー 5">
            <a:extLst>
              <a:ext uri="{FF2B5EF4-FFF2-40B4-BE49-F238E27FC236}">
                <a16:creationId xmlns:a16="http://schemas.microsoft.com/office/drawing/2014/main"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lang="ja-JP" sz="1200" b="1" spc="150" baseline="0">
                <a:solidFill>
                  <a:schemeClr val="tx1"/>
                </a:solidFill>
                <a:latin typeface="Meiryo UI" panose="020B0604030504040204" pitchFamily="50" charset="-128"/>
                <a:ea typeface="Meiryo UI" panose="020B0604030504040204" pitchFamily="50" charset="-128"/>
                <a:cs typeface="+mn-cs"/>
              </a:defRPr>
            </a:lvl1pPr>
          </a:lstStyle>
          <a:p>
            <a:fld id="{18D65601-5AE2-46FC-B138-694DDD2B510D}" type="slidenum">
              <a:rPr lang="en-US" altLang="ja-JP" smtClean="0"/>
              <a:pPr/>
              <a:t>‹#›</a:t>
            </a:fld>
            <a:endParaRPr lang="en-US"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737433849"/>
      </p:ext>
    </p:extLst>
  </p:cSld>
  <p:clrMap bg1="lt1" tx1="dk1" bg2="lt2" tx2="dk2" accent1="accent1" accent2="accent2" accent3="accent3" accent4="accent4" accent5="accent5" accent6="accent6" hlink="hlink" folHlink="folHlink"/>
  <p:sldLayoutIdLst>
    <p:sldLayoutId id="2147483694"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2" r:id="rId12"/>
    <p:sldLayoutId id="2147483681" r:id="rId13"/>
  </p:sldLayoutIdLst>
  <p:hf hdr="0" ftr="0" dt="0"/>
  <p:txStyles>
    <p:titleStyle>
      <a:lvl1pPr algn="l" defTabSz="914400" rtl="0" eaLnBrk="1" latinLnBrk="0" hangingPunct="1">
        <a:lnSpc>
          <a:spcPct val="90000"/>
        </a:lnSpc>
        <a:spcBef>
          <a:spcPct val="0"/>
        </a:spcBef>
        <a:buNone/>
        <a:defRPr kumimoji="1" lang="ja-JP" sz="4400" kern="1200">
          <a:solidFill>
            <a:schemeClr val="tx1"/>
          </a:solidFill>
          <a:latin typeface="Meiryo UI" panose="020B0604030504040204" pitchFamily="50" charset="-128"/>
          <a:ea typeface="Meiryo UI" panose="020B060403050404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lang="ja-JP" sz="28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lang="ja-JP" sz="24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lang="ja-JP"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9pPr>
    </p:bodyStyle>
    <p:otherStyle>
      <a:defPPr>
        <a:defRPr lang="ja-JP"/>
      </a:defPPr>
      <a:lvl1pPr marL="0" algn="l" defTabSz="914400" rtl="0" eaLnBrk="1" latinLnBrk="0" hangingPunct="1">
        <a:defRPr kumimoji="1" lang="ja-JP" sz="1800" kern="1200">
          <a:solidFill>
            <a:schemeClr val="tx1"/>
          </a:solidFill>
          <a:latin typeface="+mn-cs"/>
          <a:ea typeface="+mn-ea"/>
          <a:cs typeface="+mn-cs"/>
        </a:defRPr>
      </a:lvl1pPr>
      <a:lvl2pPr marL="457200" algn="l" defTabSz="914400" rtl="0" eaLnBrk="1" latinLnBrk="0" hangingPunct="1">
        <a:defRPr kumimoji="1" lang="ja-JP" sz="1800" kern="1200">
          <a:solidFill>
            <a:schemeClr val="tx1"/>
          </a:solidFill>
          <a:latin typeface="+mn-cs"/>
          <a:ea typeface="+mn-ea"/>
          <a:cs typeface="+mn-cs"/>
        </a:defRPr>
      </a:lvl2pPr>
      <a:lvl3pPr marL="914400" algn="l" defTabSz="914400" rtl="0" eaLnBrk="1" latinLnBrk="0" hangingPunct="1">
        <a:defRPr kumimoji="1" lang="ja-JP" sz="1800" kern="1200">
          <a:solidFill>
            <a:schemeClr val="tx1"/>
          </a:solidFill>
          <a:latin typeface="+mn-cs"/>
          <a:ea typeface="+mn-ea"/>
          <a:cs typeface="+mn-cs"/>
        </a:defRPr>
      </a:lvl3pPr>
      <a:lvl4pPr marL="1371600" algn="l" defTabSz="914400" rtl="0" eaLnBrk="1" latinLnBrk="0" hangingPunct="1">
        <a:defRPr kumimoji="1" lang="ja-JP" sz="1800" kern="1200">
          <a:solidFill>
            <a:schemeClr val="tx1"/>
          </a:solidFill>
          <a:latin typeface="+mn-cs"/>
          <a:ea typeface="+mn-ea"/>
          <a:cs typeface="+mn-cs"/>
        </a:defRPr>
      </a:lvl4pPr>
      <a:lvl5pPr marL="1828800" algn="l" defTabSz="914400" rtl="0" eaLnBrk="1" latinLnBrk="0" hangingPunct="1">
        <a:defRPr kumimoji="1" lang="ja-JP" sz="1800" kern="1200">
          <a:solidFill>
            <a:schemeClr val="tx1"/>
          </a:solidFill>
          <a:latin typeface="+mn-cs"/>
          <a:ea typeface="+mn-ea"/>
          <a:cs typeface="+mn-cs"/>
        </a:defRPr>
      </a:lvl5pPr>
      <a:lvl6pPr marL="2286000" algn="l" defTabSz="914400" rtl="0" eaLnBrk="1" latinLnBrk="0" hangingPunct="1">
        <a:defRPr kumimoji="1" lang="ja-JP" sz="1800" kern="1200">
          <a:solidFill>
            <a:schemeClr val="tx1"/>
          </a:solidFill>
          <a:latin typeface="+mn-cs"/>
          <a:ea typeface="+mn-ea"/>
          <a:cs typeface="+mn-cs"/>
        </a:defRPr>
      </a:lvl6pPr>
      <a:lvl7pPr marL="2743200" algn="l" defTabSz="914400" rtl="0" eaLnBrk="1" latinLnBrk="0" hangingPunct="1">
        <a:defRPr kumimoji="1" lang="ja-JP" sz="1800" kern="1200">
          <a:solidFill>
            <a:schemeClr val="tx1"/>
          </a:solidFill>
          <a:latin typeface="+mn-cs"/>
          <a:ea typeface="+mn-ea"/>
          <a:cs typeface="+mn-cs"/>
        </a:defRPr>
      </a:lvl7pPr>
      <a:lvl8pPr marL="3200400" algn="l" defTabSz="914400" rtl="0" eaLnBrk="1" latinLnBrk="0" hangingPunct="1">
        <a:defRPr kumimoji="1" lang="ja-JP" sz="1800" kern="1200">
          <a:solidFill>
            <a:schemeClr val="tx1"/>
          </a:solidFill>
          <a:latin typeface="+mn-cs"/>
          <a:ea typeface="+mn-ea"/>
          <a:cs typeface="+mn-cs"/>
        </a:defRPr>
      </a:lvl8pPr>
      <a:lvl9pPr marL="3657600" algn="l" defTabSz="914400" rtl="0" eaLnBrk="1" latinLnBrk="0" hangingPunct="1">
        <a:defRPr kumimoji="1" lang="ja-JP" sz="1800" kern="1200">
          <a:solidFill>
            <a:schemeClr val="tx1"/>
          </a:solidFill>
          <a:latin typeface="+mn-cs"/>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454C9E-20FB-B999-9303-C71D1334BAD7}"/>
              </a:ext>
            </a:extLst>
          </p:cNvPr>
          <p:cNvSpPr>
            <a:spLocks noGrp="1"/>
          </p:cNvSpPr>
          <p:nvPr>
            <p:ph type="title"/>
          </p:nvPr>
        </p:nvSpPr>
        <p:spPr>
          <a:xfrm>
            <a:off x="1285717" y="1179608"/>
            <a:ext cx="10186813" cy="2477991"/>
          </a:xfrm>
        </p:spPr>
        <p:txBody>
          <a:bodyPr rtlCol="0">
            <a:normAutofit fontScale="90000"/>
          </a:bodyPr>
          <a:lstStyle>
            <a:defPPr>
              <a:defRPr lang="ja-JP"/>
            </a:defPPr>
          </a:lstStyle>
          <a:p>
            <a:r>
              <a:rPr lang="en-US" altLang="ja-JP" dirty="0" err="1"/>
              <a:t>WebNN</a:t>
            </a:r>
            <a:r>
              <a:rPr lang="ja-JP" altLang="en-US" dirty="0"/>
              <a:t>を用いたローカル推論に</a:t>
            </a:r>
            <a:br>
              <a:rPr lang="en-US" altLang="ja-JP" dirty="0"/>
            </a:br>
            <a:r>
              <a:rPr lang="ja-JP" altLang="en-US" dirty="0"/>
              <a:t>よる、動的欺瞞</a:t>
            </a:r>
            <a:r>
              <a:rPr lang="en-US" altLang="ja-JP" dirty="0"/>
              <a:t>UI</a:t>
            </a:r>
            <a:r>
              <a:rPr lang="ja-JP" altLang="en-US" dirty="0"/>
              <a:t>へのリアルタイム</a:t>
            </a:r>
            <a:br>
              <a:rPr lang="en-US" altLang="ja-JP" dirty="0"/>
            </a:br>
            <a:r>
              <a:rPr lang="ja-JP" altLang="en-US" dirty="0"/>
              <a:t>介入手法の確立</a:t>
            </a:r>
            <a:endParaRPr lang="ja-JP" dirty="0"/>
          </a:p>
        </p:txBody>
      </p:sp>
      <p:sp>
        <p:nvSpPr>
          <p:cNvPr id="3" name="タイトル 1">
            <a:extLst>
              <a:ext uri="{FF2B5EF4-FFF2-40B4-BE49-F238E27FC236}">
                <a16:creationId xmlns:a16="http://schemas.microsoft.com/office/drawing/2014/main" id="{A6933A07-0890-16F1-638A-FE224068FDC5}"/>
              </a:ext>
            </a:extLst>
          </p:cNvPr>
          <p:cNvSpPr txBox="1">
            <a:spLocks/>
          </p:cNvSpPr>
          <p:nvPr/>
        </p:nvSpPr>
        <p:spPr>
          <a:xfrm>
            <a:off x="1285717" y="4646428"/>
            <a:ext cx="10186813" cy="1339701"/>
          </a:xfrm>
          <a:prstGeom prst="rect">
            <a:avLst/>
          </a:prstGeom>
        </p:spPr>
        <p:txBody>
          <a:bodyPr vert="horz" lIns="91440" tIns="45720" rIns="91440" bIns="45720" rtlCol="0" anchor="b">
            <a:normAutofit fontScale="97500"/>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pPr algn="r"/>
            <a:r>
              <a:rPr lang="en-US" altLang="ja-JP" sz="3200" dirty="0"/>
              <a:t>AI</a:t>
            </a:r>
            <a:r>
              <a:rPr lang="ja-JP" altLang="en-US" sz="3200" dirty="0"/>
              <a:t>・システムデザイン研究室</a:t>
            </a:r>
          </a:p>
          <a:p>
            <a:pPr algn="r"/>
            <a:r>
              <a:rPr lang="ja-JP" altLang="en-US" sz="3200" dirty="0"/>
              <a:t>秋山ゼミ　大学院</a:t>
            </a:r>
            <a:r>
              <a:rPr lang="en-US" altLang="ja-JP" sz="3200" dirty="0"/>
              <a:t>1</a:t>
            </a:r>
            <a:r>
              <a:rPr lang="ja-JP" altLang="en-US" sz="3200" dirty="0"/>
              <a:t>年 　西村和真</a:t>
            </a:r>
          </a:p>
          <a:p>
            <a:pPr algn="r"/>
            <a:endParaRPr lang="ja-JP" altLang="en-US" sz="3200" dirty="0"/>
          </a:p>
        </p:txBody>
      </p:sp>
    </p:spTree>
    <p:extLst>
      <p:ext uri="{BB962C8B-B14F-4D97-AF65-F5344CB8AC3E}">
        <p14:creationId xmlns:p14="http://schemas.microsoft.com/office/powerpoint/2010/main" val="337882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63473-7A3B-FD72-B3D9-1D89822015B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49F26E9-9F8E-1F88-CB47-1455C564364C}"/>
              </a:ext>
            </a:extLst>
          </p:cNvPr>
          <p:cNvSpPr>
            <a:spLocks noGrp="1"/>
          </p:cNvSpPr>
          <p:nvPr>
            <p:ph type="title"/>
          </p:nvPr>
        </p:nvSpPr>
        <p:spPr>
          <a:xfrm>
            <a:off x="1881963" y="355889"/>
            <a:ext cx="9175897" cy="989432"/>
          </a:xfrm>
        </p:spPr>
        <p:txBody>
          <a:bodyPr rtlCol="0">
            <a:normAutofit/>
          </a:bodyPr>
          <a:lstStyle>
            <a:defPPr>
              <a:defRPr lang="ja-JP"/>
            </a:defPPr>
          </a:lstStyle>
          <a:p>
            <a:pPr algn="ctr"/>
            <a:r>
              <a:rPr lang="ja-JP" altLang="en-US" dirty="0"/>
              <a:t>自己紹介・学部時代の研究</a:t>
            </a:r>
            <a:endParaRPr lang="en-US" altLang="ja-JP" dirty="0"/>
          </a:p>
        </p:txBody>
      </p:sp>
      <p:sp>
        <p:nvSpPr>
          <p:cNvPr id="3" name="タイトル 1">
            <a:extLst>
              <a:ext uri="{FF2B5EF4-FFF2-40B4-BE49-F238E27FC236}">
                <a16:creationId xmlns:a16="http://schemas.microsoft.com/office/drawing/2014/main" id="{5049D9F2-E2C4-F2C8-AB84-B0C41E110644}"/>
              </a:ext>
            </a:extLst>
          </p:cNvPr>
          <p:cNvSpPr txBox="1">
            <a:spLocks/>
          </p:cNvSpPr>
          <p:nvPr/>
        </p:nvSpPr>
        <p:spPr>
          <a:xfrm>
            <a:off x="1434573" y="1711843"/>
            <a:ext cx="9984794" cy="3892124"/>
          </a:xfrm>
          <a:prstGeom prst="rect">
            <a:avLst/>
          </a:prstGeom>
        </p:spPr>
        <p:txBody>
          <a:bodyPr vert="horz" lIns="91440" tIns="45720" rIns="91440" bIns="45720" rtlCol="0" anchor="b">
            <a:normAutofit/>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pPr algn="ctr"/>
            <a:r>
              <a:rPr lang="ja-JP" altLang="en-US" sz="4000" dirty="0"/>
              <a:t>学部の研究：観葉植物における土壌水分浸透</a:t>
            </a:r>
            <a:endParaRPr lang="en-US" altLang="ja-JP" sz="4000" dirty="0"/>
          </a:p>
          <a:p>
            <a:r>
              <a:rPr lang="ja-JP" altLang="en-US" sz="4000" dirty="0"/>
              <a:t>　　　　　　　　　の可視化システムの開発</a:t>
            </a:r>
            <a:br>
              <a:rPr lang="en-US" altLang="ja-JP" sz="4000" dirty="0"/>
            </a:br>
            <a:br>
              <a:rPr lang="en-US" altLang="ja-JP" sz="4000" dirty="0"/>
            </a:br>
            <a:r>
              <a:rPr lang="ja-JP" altLang="en-US" sz="4000" dirty="0"/>
              <a:t>趣味：　　　　　　モンハンワイルズ、</a:t>
            </a:r>
            <a:r>
              <a:rPr lang="en-US" altLang="ja-JP" sz="4000" dirty="0"/>
              <a:t>Apex</a:t>
            </a:r>
            <a:br>
              <a:rPr lang="en-US" altLang="ja-JP" sz="4000" dirty="0"/>
            </a:br>
            <a:r>
              <a:rPr lang="ja-JP" altLang="en-US" sz="4000" dirty="0"/>
              <a:t>好きな食べ物：　抹茶</a:t>
            </a:r>
            <a:br>
              <a:rPr lang="en-US" altLang="ja-JP" sz="4000" dirty="0"/>
            </a:br>
            <a:endParaRPr lang="ja-JP" altLang="en-US" sz="4000" dirty="0"/>
          </a:p>
        </p:txBody>
      </p:sp>
    </p:spTree>
    <p:extLst>
      <p:ext uri="{BB962C8B-B14F-4D97-AF65-F5344CB8AC3E}">
        <p14:creationId xmlns:p14="http://schemas.microsoft.com/office/powerpoint/2010/main" val="3274850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467E1-D102-5A40-36AD-0D93FFC95D5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3A1F394-C5AC-7746-35CD-BB0E94EE35BD}"/>
              </a:ext>
            </a:extLst>
          </p:cNvPr>
          <p:cNvSpPr>
            <a:spLocks noGrp="1"/>
          </p:cNvSpPr>
          <p:nvPr>
            <p:ph type="title"/>
          </p:nvPr>
        </p:nvSpPr>
        <p:spPr>
          <a:xfrm>
            <a:off x="1881963" y="355889"/>
            <a:ext cx="9175897" cy="989432"/>
          </a:xfrm>
        </p:spPr>
        <p:txBody>
          <a:bodyPr rtlCol="0">
            <a:normAutofit/>
          </a:bodyPr>
          <a:lstStyle>
            <a:defPPr>
              <a:defRPr lang="ja-JP"/>
            </a:defPPr>
          </a:lstStyle>
          <a:p>
            <a:pPr algn="ctr"/>
            <a:r>
              <a:rPr lang="ja-JP" altLang="en-US"/>
              <a:t>自己紹介・学部時代の研究</a:t>
            </a:r>
            <a:endParaRPr lang="en-US" altLang="ja-JP" dirty="0"/>
          </a:p>
        </p:txBody>
      </p:sp>
      <p:pic>
        <p:nvPicPr>
          <p:cNvPr id="5" name="図 4">
            <a:extLst>
              <a:ext uri="{FF2B5EF4-FFF2-40B4-BE49-F238E27FC236}">
                <a16:creationId xmlns:a16="http://schemas.microsoft.com/office/drawing/2014/main" id="{0A849208-2CC8-E50A-0C88-165F962A8F79}"/>
              </a:ext>
            </a:extLst>
          </p:cNvPr>
          <p:cNvPicPr>
            <a:picLocks noChangeAspect="1"/>
          </p:cNvPicPr>
          <p:nvPr/>
        </p:nvPicPr>
        <p:blipFill>
          <a:blip r:embed="rId3"/>
          <a:stretch>
            <a:fillRect/>
          </a:stretch>
        </p:blipFill>
        <p:spPr>
          <a:xfrm>
            <a:off x="0" y="16715"/>
            <a:ext cx="12192000" cy="6824569"/>
          </a:xfrm>
          <a:prstGeom prst="rect">
            <a:avLst/>
          </a:prstGeom>
        </p:spPr>
      </p:pic>
    </p:spTree>
    <p:extLst>
      <p:ext uri="{BB962C8B-B14F-4D97-AF65-F5344CB8AC3E}">
        <p14:creationId xmlns:p14="http://schemas.microsoft.com/office/powerpoint/2010/main" val="3917085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B2682-035B-E64A-D5AF-020AF6EFC27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EB4BA90-7723-F6C8-8006-2D55C1BFE9EA}"/>
              </a:ext>
            </a:extLst>
          </p:cNvPr>
          <p:cNvSpPr>
            <a:spLocks noGrp="1"/>
          </p:cNvSpPr>
          <p:nvPr>
            <p:ph type="title"/>
          </p:nvPr>
        </p:nvSpPr>
        <p:spPr>
          <a:xfrm>
            <a:off x="1881963" y="355889"/>
            <a:ext cx="9175897" cy="989432"/>
          </a:xfrm>
        </p:spPr>
        <p:txBody>
          <a:bodyPr rtlCol="0">
            <a:normAutofit/>
          </a:bodyPr>
          <a:lstStyle>
            <a:defPPr>
              <a:defRPr lang="ja-JP"/>
            </a:defPPr>
          </a:lstStyle>
          <a:p>
            <a:pPr algn="ctr"/>
            <a:r>
              <a:rPr lang="ja-JP" altLang="en-US" dirty="0"/>
              <a:t>研究背景</a:t>
            </a:r>
            <a:endParaRPr lang="en-US" altLang="ja-JP" dirty="0"/>
          </a:p>
        </p:txBody>
      </p:sp>
      <p:sp>
        <p:nvSpPr>
          <p:cNvPr id="3" name="タイトル 1">
            <a:extLst>
              <a:ext uri="{FF2B5EF4-FFF2-40B4-BE49-F238E27FC236}">
                <a16:creationId xmlns:a16="http://schemas.microsoft.com/office/drawing/2014/main" id="{31BDBCFC-723E-06B5-00B9-31476CF555A8}"/>
              </a:ext>
            </a:extLst>
          </p:cNvPr>
          <p:cNvSpPr txBox="1">
            <a:spLocks/>
          </p:cNvSpPr>
          <p:nvPr/>
        </p:nvSpPr>
        <p:spPr>
          <a:xfrm>
            <a:off x="1434573" y="1711843"/>
            <a:ext cx="9984794" cy="3892124"/>
          </a:xfrm>
          <a:prstGeom prst="rect">
            <a:avLst/>
          </a:prstGeom>
        </p:spPr>
        <p:txBody>
          <a:bodyPr vert="horz" lIns="91440" tIns="45720" rIns="91440" bIns="45720" rtlCol="0" anchor="b">
            <a:normAutofit/>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endParaRPr lang="ja-JP" altLang="en-US" sz="4000" dirty="0"/>
          </a:p>
        </p:txBody>
      </p:sp>
      <p:sp>
        <p:nvSpPr>
          <p:cNvPr id="8" name="タイトル 1">
            <a:extLst>
              <a:ext uri="{FF2B5EF4-FFF2-40B4-BE49-F238E27FC236}">
                <a16:creationId xmlns:a16="http://schemas.microsoft.com/office/drawing/2014/main" id="{2DF44AA5-566B-1371-218A-617CA8C69787}"/>
              </a:ext>
            </a:extLst>
          </p:cNvPr>
          <p:cNvSpPr txBox="1">
            <a:spLocks/>
          </p:cNvSpPr>
          <p:nvPr/>
        </p:nvSpPr>
        <p:spPr>
          <a:xfrm>
            <a:off x="1586973" y="1593669"/>
            <a:ext cx="9984794" cy="4162698"/>
          </a:xfrm>
          <a:prstGeom prst="rect">
            <a:avLst/>
          </a:prstGeom>
        </p:spPr>
        <p:txBody>
          <a:bodyPr vert="horz" lIns="91440" tIns="45720" rIns="91440" bIns="45720" rtlCol="0" anchor="b">
            <a:normAutofit/>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r>
              <a:rPr lang="ja-JP" altLang="en-US" sz="3000" dirty="0"/>
              <a:t>ダークパターン（欺瞞</a:t>
            </a:r>
            <a:r>
              <a:rPr lang="en-US" altLang="ja-JP" sz="3000" dirty="0"/>
              <a:t>UI</a:t>
            </a:r>
            <a:r>
              <a:rPr lang="ja-JP" altLang="en-US" sz="3000" dirty="0"/>
              <a:t>）とは</a:t>
            </a:r>
            <a:endParaRPr lang="en-US" altLang="ja-JP" sz="3000" dirty="0"/>
          </a:p>
          <a:p>
            <a:pPr marL="457200" indent="-457200">
              <a:buFont typeface="Arial" panose="020B0604020202020204" pitchFamily="34" charset="0"/>
              <a:buChar char="•"/>
            </a:pPr>
            <a:r>
              <a:rPr lang="ja-JP" altLang="en-US" sz="3000" dirty="0"/>
              <a:t>ユーザーを意図しない行動（意図しない購入、退会させない等）に誘導する欺瞞的なデザインの総称です。</a:t>
            </a:r>
            <a:endParaRPr lang="en-US" altLang="ja-JP" sz="3000" dirty="0"/>
          </a:p>
          <a:p>
            <a:pPr marL="457200" indent="-457200">
              <a:buFont typeface="Arial" panose="020B0604020202020204" pitchFamily="34" charset="0"/>
              <a:buChar char="•"/>
            </a:pPr>
            <a:endParaRPr lang="en-US" altLang="ja-JP" sz="3000" dirty="0"/>
          </a:p>
          <a:p>
            <a:pPr marL="457200" indent="-457200">
              <a:buFont typeface="Arial" panose="020B0604020202020204" pitchFamily="34" charset="0"/>
              <a:buChar char="•"/>
            </a:pPr>
            <a:endParaRPr lang="en-US" altLang="ja-JP" sz="3000" dirty="0"/>
          </a:p>
          <a:p>
            <a:pPr marL="457200" indent="-457200">
              <a:buFont typeface="Arial" panose="020B0604020202020204" pitchFamily="34" charset="0"/>
              <a:buChar char="•"/>
            </a:pPr>
            <a:r>
              <a:rPr lang="ja-JP" altLang="en-US" sz="3000" dirty="0"/>
              <a:t>悪意ある</a:t>
            </a:r>
            <a:r>
              <a:rPr lang="en-US" altLang="ja-JP" sz="3000" dirty="0"/>
              <a:t>UI</a:t>
            </a:r>
            <a:r>
              <a:rPr lang="ja-JP" altLang="en-US" sz="3000" dirty="0"/>
              <a:t>を防ぎ、</a:t>
            </a:r>
            <a:endParaRPr lang="en-US" altLang="ja-JP" sz="3000" dirty="0"/>
          </a:p>
          <a:p>
            <a:r>
              <a:rPr lang="ja-JP" altLang="en-US" sz="3000" dirty="0"/>
              <a:t>　  ネットリテラシーの低い人</a:t>
            </a:r>
            <a:endParaRPr lang="en-US" altLang="ja-JP" sz="3000" dirty="0"/>
          </a:p>
          <a:p>
            <a:r>
              <a:rPr lang="ja-JP" altLang="en-US" sz="3000" dirty="0"/>
              <a:t>　  や高齢者を守ろう。</a:t>
            </a:r>
            <a:endParaRPr lang="en-US" altLang="ja-JP" sz="3000" dirty="0"/>
          </a:p>
          <a:p>
            <a:endParaRPr lang="en-US" altLang="ja-JP" sz="3000" dirty="0"/>
          </a:p>
          <a:p>
            <a:endParaRPr lang="ja-JP" altLang="en-US" sz="3000" dirty="0"/>
          </a:p>
        </p:txBody>
      </p:sp>
      <p:pic>
        <p:nvPicPr>
          <p:cNvPr id="10" name="図 9">
            <a:extLst>
              <a:ext uri="{FF2B5EF4-FFF2-40B4-BE49-F238E27FC236}">
                <a16:creationId xmlns:a16="http://schemas.microsoft.com/office/drawing/2014/main" id="{24E859E8-9C1A-C82F-6CB9-B16142BA0896}"/>
              </a:ext>
            </a:extLst>
          </p:cNvPr>
          <p:cNvPicPr>
            <a:picLocks noChangeAspect="1"/>
          </p:cNvPicPr>
          <p:nvPr/>
        </p:nvPicPr>
        <p:blipFill>
          <a:blip r:embed="rId3"/>
          <a:stretch>
            <a:fillRect/>
          </a:stretch>
        </p:blipFill>
        <p:spPr>
          <a:xfrm>
            <a:off x="5985422" y="3429001"/>
            <a:ext cx="5849572" cy="3193272"/>
          </a:xfrm>
          <a:prstGeom prst="rect">
            <a:avLst/>
          </a:prstGeom>
        </p:spPr>
      </p:pic>
    </p:spTree>
    <p:extLst>
      <p:ext uri="{BB962C8B-B14F-4D97-AF65-F5344CB8AC3E}">
        <p14:creationId xmlns:p14="http://schemas.microsoft.com/office/powerpoint/2010/main" val="994541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0EF0E-6550-4753-B094-D3400CFCDB7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68959DD-CD0A-AD5D-1E36-669A5999CE3B}"/>
              </a:ext>
            </a:extLst>
          </p:cNvPr>
          <p:cNvSpPr>
            <a:spLocks noGrp="1"/>
          </p:cNvSpPr>
          <p:nvPr>
            <p:ph type="title"/>
          </p:nvPr>
        </p:nvSpPr>
        <p:spPr>
          <a:xfrm>
            <a:off x="1881963" y="355889"/>
            <a:ext cx="9175897" cy="989432"/>
          </a:xfrm>
        </p:spPr>
        <p:txBody>
          <a:bodyPr rtlCol="0">
            <a:normAutofit/>
          </a:bodyPr>
          <a:lstStyle>
            <a:defPPr>
              <a:defRPr lang="ja-JP"/>
            </a:defPPr>
          </a:lstStyle>
          <a:p>
            <a:pPr algn="ctr"/>
            <a:r>
              <a:rPr lang="ja-JP" altLang="en-US" dirty="0"/>
              <a:t>既存手法</a:t>
            </a:r>
            <a:endParaRPr lang="en-US" altLang="ja-JP" dirty="0"/>
          </a:p>
        </p:txBody>
      </p:sp>
      <p:sp>
        <p:nvSpPr>
          <p:cNvPr id="3" name="タイトル 1">
            <a:extLst>
              <a:ext uri="{FF2B5EF4-FFF2-40B4-BE49-F238E27FC236}">
                <a16:creationId xmlns:a16="http://schemas.microsoft.com/office/drawing/2014/main" id="{A5EFF387-7918-E50E-E72A-3B532F9873D6}"/>
              </a:ext>
            </a:extLst>
          </p:cNvPr>
          <p:cNvSpPr txBox="1">
            <a:spLocks/>
          </p:cNvSpPr>
          <p:nvPr/>
        </p:nvSpPr>
        <p:spPr>
          <a:xfrm>
            <a:off x="1434573" y="1711843"/>
            <a:ext cx="9984794" cy="3892124"/>
          </a:xfrm>
          <a:prstGeom prst="rect">
            <a:avLst/>
          </a:prstGeom>
        </p:spPr>
        <p:txBody>
          <a:bodyPr vert="horz" lIns="91440" tIns="45720" rIns="91440" bIns="45720" rtlCol="0" anchor="b">
            <a:normAutofit/>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endParaRPr lang="ja-JP" altLang="en-US" sz="4000" dirty="0"/>
          </a:p>
        </p:txBody>
      </p:sp>
      <p:sp>
        <p:nvSpPr>
          <p:cNvPr id="8" name="タイトル 1">
            <a:extLst>
              <a:ext uri="{FF2B5EF4-FFF2-40B4-BE49-F238E27FC236}">
                <a16:creationId xmlns:a16="http://schemas.microsoft.com/office/drawing/2014/main" id="{6940B116-7758-B843-3BA5-95D0CBE49F13}"/>
              </a:ext>
            </a:extLst>
          </p:cNvPr>
          <p:cNvSpPr txBox="1">
            <a:spLocks/>
          </p:cNvSpPr>
          <p:nvPr/>
        </p:nvSpPr>
        <p:spPr>
          <a:xfrm>
            <a:off x="1613098" y="1711843"/>
            <a:ext cx="10208788" cy="4950214"/>
          </a:xfrm>
          <a:prstGeom prst="rect">
            <a:avLst/>
          </a:prstGeom>
        </p:spPr>
        <p:txBody>
          <a:bodyPr vert="horz" lIns="91440" tIns="45720" rIns="91440" bIns="45720" rtlCol="0" anchor="b">
            <a:normAutofit lnSpcReduction="10000"/>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r>
              <a:rPr lang="ja-JP" altLang="en-US" sz="3000" dirty="0"/>
              <a:t>静的解析によるブロック</a:t>
            </a:r>
            <a:endParaRPr lang="en-US" altLang="ja-JP" sz="3000" dirty="0"/>
          </a:p>
          <a:p>
            <a:endParaRPr lang="en-US" altLang="ja-JP" sz="3000" dirty="0"/>
          </a:p>
          <a:p>
            <a:r>
              <a:rPr lang="en-US" altLang="ja-JP" sz="3000" dirty="0"/>
              <a:t>	</a:t>
            </a:r>
            <a:r>
              <a:rPr lang="ja-JP" altLang="en-US" sz="3000" dirty="0"/>
              <a:t>読み込み前のソースコードを解析してあらかじめ登録した</a:t>
            </a:r>
            <a:br>
              <a:rPr lang="en-US" altLang="ja-JP" sz="3000" dirty="0"/>
            </a:br>
            <a:r>
              <a:rPr lang="en-US" altLang="ja-JP" sz="3000" dirty="0"/>
              <a:t>	</a:t>
            </a:r>
            <a:r>
              <a:rPr lang="ja-JP" altLang="en-US" sz="3000" dirty="0"/>
              <a:t>リストに基づき検出・削除をおこなう。</a:t>
            </a:r>
            <a:endParaRPr lang="en-US" altLang="ja-JP" sz="3000" dirty="0"/>
          </a:p>
          <a:p>
            <a:pPr marL="457200" indent="-457200">
              <a:buFont typeface="Arial" panose="020B0604020202020204" pitchFamily="34" charset="0"/>
              <a:buChar char="•"/>
            </a:pPr>
            <a:endParaRPr lang="en-US" altLang="ja-JP" sz="3000" dirty="0"/>
          </a:p>
          <a:p>
            <a:r>
              <a:rPr lang="en-US" altLang="ja-JP" sz="3000" dirty="0"/>
              <a:t>	</a:t>
            </a:r>
            <a:r>
              <a:rPr lang="ja-JP" altLang="en-US" sz="3000" dirty="0"/>
              <a:t>例：</a:t>
            </a:r>
            <a:r>
              <a:rPr lang="en-US" altLang="ja-JP" sz="3000" dirty="0" err="1"/>
              <a:t>Adblock</a:t>
            </a:r>
            <a:r>
              <a:rPr lang="ja-JP" altLang="en-US" sz="3000" dirty="0"/>
              <a:t>（広告ブロッカーブラウザ拡張機能）</a:t>
            </a:r>
            <a:endParaRPr lang="en-US" altLang="ja-JP" sz="3000" dirty="0"/>
          </a:p>
          <a:p>
            <a:r>
              <a:rPr lang="ja-JP" altLang="en-US" sz="3000" dirty="0"/>
              <a:t>　　</a:t>
            </a:r>
            <a:endParaRPr lang="en-US" altLang="ja-JP" sz="3000" dirty="0"/>
          </a:p>
          <a:p>
            <a:r>
              <a:rPr lang="ja-JP" altLang="en-US" sz="3000" dirty="0"/>
              <a:t>動的解析によるブロック</a:t>
            </a:r>
            <a:endParaRPr lang="en-US" altLang="ja-JP" sz="3000" dirty="0"/>
          </a:p>
          <a:p>
            <a:r>
              <a:rPr lang="en-US" altLang="ja-JP" sz="3000" dirty="0"/>
              <a:t>	Web</a:t>
            </a:r>
            <a:r>
              <a:rPr lang="ja-JP" altLang="en-US" sz="3000" dirty="0"/>
              <a:t>ページが読み込まれた「後」の</a:t>
            </a:r>
            <a:r>
              <a:rPr lang="en-US" altLang="ja-JP" sz="3000" dirty="0" err="1"/>
              <a:t>Javascript</a:t>
            </a:r>
            <a:r>
              <a:rPr lang="ja-JP" altLang="en-US" sz="3000" dirty="0"/>
              <a:t>の挙動・レンダ</a:t>
            </a:r>
            <a:r>
              <a:rPr lang="en-US" altLang="ja-JP" sz="3000" dirty="0"/>
              <a:t>	</a:t>
            </a:r>
            <a:r>
              <a:rPr lang="ja-JP" altLang="en-US" sz="3000" dirty="0"/>
              <a:t>リングされたものを</a:t>
            </a:r>
            <a:r>
              <a:rPr lang="en-US" altLang="ja-JP" sz="3000" dirty="0"/>
              <a:t>AI</a:t>
            </a:r>
            <a:r>
              <a:rPr lang="ja-JP" altLang="en-US" sz="3000" dirty="0"/>
              <a:t>が検知・削除をおこなう</a:t>
            </a:r>
            <a:endParaRPr lang="en-US" altLang="ja-JP" sz="3000" dirty="0"/>
          </a:p>
          <a:p>
            <a:endParaRPr lang="en-US" altLang="ja-JP" sz="3000" dirty="0"/>
          </a:p>
          <a:p>
            <a:r>
              <a:rPr lang="en-US" altLang="ja-JP" sz="3000" dirty="0"/>
              <a:t>	</a:t>
            </a:r>
            <a:r>
              <a:rPr lang="ja-JP" altLang="en-US" sz="3000" dirty="0"/>
              <a:t>例：クラウド</a:t>
            </a:r>
            <a:r>
              <a:rPr lang="en-US" altLang="ja-JP" sz="3000" dirty="0"/>
              <a:t>AI</a:t>
            </a:r>
            <a:r>
              <a:rPr lang="ja-JP" altLang="en-US" sz="3000" dirty="0"/>
              <a:t>（</a:t>
            </a:r>
            <a:r>
              <a:rPr lang="ja-JP" altLang="en-US" sz="3200" dirty="0"/>
              <a:t>「</a:t>
            </a:r>
            <a:r>
              <a:rPr lang="en-US" altLang="ja-JP" sz="3200" dirty="0"/>
              <a:t>Insite</a:t>
            </a:r>
            <a:r>
              <a:rPr lang="ja-JP" altLang="en-US" sz="3200" dirty="0"/>
              <a:t>」という</a:t>
            </a:r>
            <a:r>
              <a:rPr lang="en-US" altLang="ja-JP" sz="3200" dirty="0"/>
              <a:t>Chrome</a:t>
            </a:r>
            <a:r>
              <a:rPr lang="ja-JP" altLang="en-US" sz="3200" dirty="0"/>
              <a:t>拡張機能</a:t>
            </a:r>
            <a:r>
              <a:rPr lang="en-US" altLang="ja-JP" sz="3200" dirty="0"/>
              <a:t>)</a:t>
            </a:r>
            <a:r>
              <a:rPr lang="ja-JP" altLang="en-US" sz="3200" dirty="0"/>
              <a:t>」</a:t>
            </a:r>
            <a:endParaRPr lang="en-US" altLang="ja-JP" sz="3200" dirty="0"/>
          </a:p>
          <a:p>
            <a:pPr marL="457200" indent="-457200">
              <a:buFont typeface="Arial" panose="020B0604020202020204" pitchFamily="34" charset="0"/>
              <a:buChar char="•"/>
            </a:pPr>
            <a:endParaRPr lang="en-US" altLang="ja-JP" sz="3000" dirty="0"/>
          </a:p>
        </p:txBody>
      </p:sp>
    </p:spTree>
    <p:extLst>
      <p:ext uri="{BB962C8B-B14F-4D97-AF65-F5344CB8AC3E}">
        <p14:creationId xmlns:p14="http://schemas.microsoft.com/office/powerpoint/2010/main" val="1066485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C742E-B5DE-9905-2528-15169E5AC9F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AC46B23-B442-A5CC-C3CB-B25E9F3CDBD0}"/>
              </a:ext>
            </a:extLst>
          </p:cNvPr>
          <p:cNvSpPr>
            <a:spLocks noGrp="1"/>
          </p:cNvSpPr>
          <p:nvPr>
            <p:ph type="title"/>
          </p:nvPr>
        </p:nvSpPr>
        <p:spPr>
          <a:xfrm>
            <a:off x="1881963" y="355889"/>
            <a:ext cx="9175897" cy="989432"/>
          </a:xfrm>
        </p:spPr>
        <p:txBody>
          <a:bodyPr rtlCol="0">
            <a:normAutofit/>
          </a:bodyPr>
          <a:lstStyle>
            <a:defPPr>
              <a:defRPr lang="ja-JP"/>
            </a:defPPr>
          </a:lstStyle>
          <a:p>
            <a:pPr algn="ctr"/>
            <a:r>
              <a:rPr lang="ja-JP" altLang="en-US" dirty="0"/>
              <a:t>クラウド</a:t>
            </a:r>
            <a:r>
              <a:rPr lang="en-US" altLang="ja-JP" dirty="0"/>
              <a:t>AI</a:t>
            </a:r>
            <a:r>
              <a:rPr lang="ja-JP" altLang="en-US" dirty="0"/>
              <a:t>の課題</a:t>
            </a:r>
            <a:endParaRPr lang="en-US" altLang="ja-JP" dirty="0"/>
          </a:p>
        </p:txBody>
      </p:sp>
      <p:sp>
        <p:nvSpPr>
          <p:cNvPr id="3" name="タイトル 1">
            <a:extLst>
              <a:ext uri="{FF2B5EF4-FFF2-40B4-BE49-F238E27FC236}">
                <a16:creationId xmlns:a16="http://schemas.microsoft.com/office/drawing/2014/main" id="{845CD482-95CD-AFD9-6A56-09F7B080870C}"/>
              </a:ext>
            </a:extLst>
          </p:cNvPr>
          <p:cNvSpPr txBox="1">
            <a:spLocks/>
          </p:cNvSpPr>
          <p:nvPr/>
        </p:nvSpPr>
        <p:spPr>
          <a:xfrm>
            <a:off x="1434573" y="1711843"/>
            <a:ext cx="9984794" cy="3892124"/>
          </a:xfrm>
          <a:prstGeom prst="rect">
            <a:avLst/>
          </a:prstGeom>
        </p:spPr>
        <p:txBody>
          <a:bodyPr vert="horz" lIns="91440" tIns="45720" rIns="91440" bIns="45720" rtlCol="0" anchor="b">
            <a:normAutofit/>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endParaRPr lang="ja-JP" altLang="en-US" sz="4000" dirty="0"/>
          </a:p>
        </p:txBody>
      </p:sp>
      <p:sp>
        <p:nvSpPr>
          <p:cNvPr id="8" name="タイトル 1">
            <a:extLst>
              <a:ext uri="{FF2B5EF4-FFF2-40B4-BE49-F238E27FC236}">
                <a16:creationId xmlns:a16="http://schemas.microsoft.com/office/drawing/2014/main" id="{832AF7BD-6E74-FE29-6BDC-522880C6A078}"/>
              </a:ext>
            </a:extLst>
          </p:cNvPr>
          <p:cNvSpPr txBox="1">
            <a:spLocks/>
          </p:cNvSpPr>
          <p:nvPr/>
        </p:nvSpPr>
        <p:spPr>
          <a:xfrm>
            <a:off x="1613097" y="1711843"/>
            <a:ext cx="10221851" cy="4035814"/>
          </a:xfrm>
          <a:prstGeom prst="rect">
            <a:avLst/>
          </a:prstGeom>
        </p:spPr>
        <p:txBody>
          <a:bodyPr vert="horz" lIns="91440" tIns="45720" rIns="91440" bIns="45720" rtlCol="0" anchor="b">
            <a:normAutofit/>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pPr marL="457200" indent="-457200">
              <a:buFont typeface="Arial" panose="020B0604020202020204" pitchFamily="34" charset="0"/>
              <a:buChar char="•"/>
            </a:pPr>
            <a:r>
              <a:rPr lang="ja-JP" altLang="en-US" sz="3200" dirty="0"/>
              <a:t>動的解析にクラウド</a:t>
            </a:r>
            <a:r>
              <a:rPr lang="en-US" altLang="ja-JP" sz="3200" dirty="0"/>
              <a:t>AI</a:t>
            </a:r>
            <a:r>
              <a:rPr lang="ja-JP" altLang="en-US" sz="3200" dirty="0"/>
              <a:t>を用いると、サーバとクライアントとの通信遅延により</a:t>
            </a:r>
            <a:r>
              <a:rPr lang="en-US" altLang="ja-JP" sz="3200" dirty="0"/>
              <a:t>UI</a:t>
            </a:r>
            <a:r>
              <a:rPr lang="ja-JP" altLang="en-US" sz="3200" dirty="0"/>
              <a:t>介入が間に合わず、誤操作を防止できない可能性がある。</a:t>
            </a:r>
            <a:endParaRPr lang="en-US" altLang="ja-JP" sz="3200" dirty="0"/>
          </a:p>
          <a:p>
            <a:pPr marL="457200" indent="-457200">
              <a:buFont typeface="Arial" panose="020B0604020202020204" pitchFamily="34" charset="0"/>
              <a:buChar char="•"/>
            </a:pPr>
            <a:endParaRPr lang="en-US" altLang="ja-JP" sz="3200" dirty="0"/>
          </a:p>
          <a:p>
            <a:pPr marL="457200" indent="-457200">
              <a:buFont typeface="Arial" panose="020B0604020202020204" pitchFamily="34" charset="0"/>
              <a:buChar char="•"/>
            </a:pPr>
            <a:r>
              <a:rPr lang="ja-JP" altLang="en-US" sz="3200" dirty="0"/>
              <a:t>プライバシー保護の観点からも課題がある。</a:t>
            </a:r>
            <a:endParaRPr lang="en-US" altLang="ja-JP" sz="3200" dirty="0"/>
          </a:p>
          <a:p>
            <a:r>
              <a:rPr lang="en-US" altLang="ja-JP" sz="3200" dirty="0"/>
              <a:t>	</a:t>
            </a:r>
            <a:r>
              <a:rPr lang="ja-JP" altLang="en-US" sz="3200" dirty="0"/>
              <a:t>→　閲覧している内容を外部サーバに送るため個人情報</a:t>
            </a:r>
            <a:br>
              <a:rPr lang="en-US" altLang="ja-JP" sz="3200" dirty="0"/>
            </a:br>
            <a:r>
              <a:rPr lang="ja-JP" altLang="en-US" sz="3200" dirty="0"/>
              <a:t>　　　　　　や機密情報の漏洩リスクがある。</a:t>
            </a:r>
            <a:endParaRPr lang="en-US" altLang="ja-JP" sz="3200" dirty="0"/>
          </a:p>
          <a:p>
            <a:pPr marL="914400" lvl="1" indent="-457200">
              <a:buFont typeface="Arial" panose="020B0604020202020204" pitchFamily="34" charset="0"/>
              <a:buChar char="•"/>
            </a:pPr>
            <a:endParaRPr lang="en-US" altLang="ja-JP" sz="100" dirty="0"/>
          </a:p>
          <a:p>
            <a:pPr marL="914400" lvl="1" indent="-457200">
              <a:buFont typeface="Arial" panose="020B0604020202020204" pitchFamily="34" charset="0"/>
              <a:buChar char="•"/>
            </a:pPr>
            <a:endParaRPr lang="en-US" altLang="ja-JP" sz="100" dirty="0"/>
          </a:p>
          <a:p>
            <a:pPr marL="914400" lvl="1" indent="-457200">
              <a:buFont typeface="Arial" panose="020B0604020202020204" pitchFamily="34" charset="0"/>
              <a:buChar char="•"/>
            </a:pPr>
            <a:endParaRPr lang="en-US" altLang="ja-JP" sz="100" dirty="0"/>
          </a:p>
          <a:p>
            <a:pPr marL="914400" lvl="1" indent="-457200">
              <a:buFont typeface="Arial" panose="020B0604020202020204" pitchFamily="34" charset="0"/>
              <a:buChar char="•"/>
            </a:pPr>
            <a:endParaRPr lang="en-US" altLang="ja-JP" sz="100" dirty="0"/>
          </a:p>
          <a:p>
            <a:pPr marL="914400" lvl="1" indent="-457200">
              <a:buFont typeface="Arial" panose="020B0604020202020204" pitchFamily="34" charset="0"/>
              <a:buChar char="•"/>
            </a:pPr>
            <a:endParaRPr lang="en-US" altLang="ja-JP" sz="100" dirty="0"/>
          </a:p>
          <a:p>
            <a:pPr marL="1371600" lvl="2" indent="-457200">
              <a:buFont typeface="Arial" panose="020B0604020202020204" pitchFamily="34" charset="0"/>
              <a:buChar char="•"/>
            </a:pPr>
            <a:endParaRPr lang="en-US" altLang="ja-JP" sz="100" dirty="0"/>
          </a:p>
          <a:p>
            <a:pPr marL="457200" indent="-457200">
              <a:buFont typeface="Arial" panose="020B0604020202020204" pitchFamily="34" charset="0"/>
              <a:buChar char="•"/>
            </a:pPr>
            <a:endParaRPr lang="en-US" altLang="ja-JP" sz="2900" dirty="0"/>
          </a:p>
        </p:txBody>
      </p:sp>
    </p:spTree>
    <p:extLst>
      <p:ext uri="{BB962C8B-B14F-4D97-AF65-F5344CB8AC3E}">
        <p14:creationId xmlns:p14="http://schemas.microsoft.com/office/powerpoint/2010/main" val="2575436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AA832-72EC-D11B-FC43-40A9C522E40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32A4B45-928B-897E-43F8-F0C565A6A159}"/>
              </a:ext>
            </a:extLst>
          </p:cNvPr>
          <p:cNvSpPr>
            <a:spLocks noGrp="1"/>
          </p:cNvSpPr>
          <p:nvPr>
            <p:ph type="title"/>
          </p:nvPr>
        </p:nvSpPr>
        <p:spPr>
          <a:xfrm>
            <a:off x="1881963" y="355889"/>
            <a:ext cx="9175897" cy="989432"/>
          </a:xfrm>
        </p:spPr>
        <p:txBody>
          <a:bodyPr rtlCol="0">
            <a:normAutofit/>
          </a:bodyPr>
          <a:lstStyle>
            <a:defPPr>
              <a:defRPr lang="ja-JP"/>
            </a:defPPr>
          </a:lstStyle>
          <a:p>
            <a:pPr algn="ctr"/>
            <a:r>
              <a:rPr lang="ja-JP" altLang="en-US" dirty="0"/>
              <a:t>研究方法</a:t>
            </a:r>
            <a:endParaRPr lang="en-US" altLang="ja-JP" dirty="0"/>
          </a:p>
        </p:txBody>
      </p:sp>
      <p:sp>
        <p:nvSpPr>
          <p:cNvPr id="3" name="タイトル 1">
            <a:extLst>
              <a:ext uri="{FF2B5EF4-FFF2-40B4-BE49-F238E27FC236}">
                <a16:creationId xmlns:a16="http://schemas.microsoft.com/office/drawing/2014/main" id="{CF7FA574-D50E-C391-F57B-E6D72B3A0AB6}"/>
              </a:ext>
            </a:extLst>
          </p:cNvPr>
          <p:cNvSpPr txBox="1">
            <a:spLocks/>
          </p:cNvSpPr>
          <p:nvPr/>
        </p:nvSpPr>
        <p:spPr>
          <a:xfrm>
            <a:off x="1434573" y="1711843"/>
            <a:ext cx="9984794" cy="3892124"/>
          </a:xfrm>
          <a:prstGeom prst="rect">
            <a:avLst/>
          </a:prstGeom>
        </p:spPr>
        <p:txBody>
          <a:bodyPr vert="horz" lIns="91440" tIns="45720" rIns="91440" bIns="45720" rtlCol="0" anchor="b">
            <a:normAutofit/>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endParaRPr lang="ja-JP" altLang="en-US" sz="4000" dirty="0"/>
          </a:p>
        </p:txBody>
      </p:sp>
      <p:sp>
        <p:nvSpPr>
          <p:cNvPr id="8" name="タイトル 1">
            <a:extLst>
              <a:ext uri="{FF2B5EF4-FFF2-40B4-BE49-F238E27FC236}">
                <a16:creationId xmlns:a16="http://schemas.microsoft.com/office/drawing/2014/main" id="{11D3EA14-E3B9-4421-343D-9299F6D909C4}"/>
              </a:ext>
            </a:extLst>
          </p:cNvPr>
          <p:cNvSpPr txBox="1">
            <a:spLocks/>
          </p:cNvSpPr>
          <p:nvPr/>
        </p:nvSpPr>
        <p:spPr>
          <a:xfrm>
            <a:off x="1613098" y="1711843"/>
            <a:ext cx="10208788" cy="4950214"/>
          </a:xfrm>
          <a:prstGeom prst="rect">
            <a:avLst/>
          </a:prstGeom>
        </p:spPr>
        <p:txBody>
          <a:bodyPr vert="horz" lIns="91440" tIns="45720" rIns="91440" bIns="45720" rtlCol="0" anchor="b">
            <a:normAutofit/>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endParaRPr lang="en-US" altLang="ja-JP" sz="3200" dirty="0"/>
          </a:p>
        </p:txBody>
      </p:sp>
      <p:sp>
        <p:nvSpPr>
          <p:cNvPr id="4" name="タイトル 1">
            <a:extLst>
              <a:ext uri="{FF2B5EF4-FFF2-40B4-BE49-F238E27FC236}">
                <a16:creationId xmlns:a16="http://schemas.microsoft.com/office/drawing/2014/main" id="{029E1162-E855-8832-EBAD-BC9AF486578C}"/>
              </a:ext>
            </a:extLst>
          </p:cNvPr>
          <p:cNvSpPr txBox="1">
            <a:spLocks/>
          </p:cNvSpPr>
          <p:nvPr/>
        </p:nvSpPr>
        <p:spPr>
          <a:xfrm>
            <a:off x="1613097" y="1711843"/>
            <a:ext cx="10221851" cy="4035814"/>
          </a:xfrm>
          <a:prstGeom prst="rect">
            <a:avLst/>
          </a:prstGeom>
        </p:spPr>
        <p:txBody>
          <a:bodyPr vert="horz" lIns="91440" tIns="45720" rIns="91440" bIns="45720" rtlCol="0" anchor="b">
            <a:normAutofit lnSpcReduction="10000"/>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r>
              <a:rPr lang="ja-JP" altLang="en-US" sz="3200" dirty="0"/>
              <a:t>ローカル上で推論を行う。</a:t>
            </a:r>
            <a:endParaRPr lang="en-US" altLang="ja-JP" sz="3200" dirty="0"/>
          </a:p>
          <a:p>
            <a:r>
              <a:rPr lang="en-US" altLang="ja-JP" sz="3200" dirty="0"/>
              <a:t>	</a:t>
            </a:r>
            <a:r>
              <a:rPr lang="ja-JP" altLang="en-US" sz="3200" dirty="0"/>
              <a:t>→　</a:t>
            </a:r>
            <a:r>
              <a:rPr lang="en-US" altLang="ja-JP" sz="3200" dirty="0"/>
              <a:t>AI</a:t>
            </a:r>
            <a:r>
              <a:rPr lang="ja-JP" altLang="en-US" sz="3200" dirty="0"/>
              <a:t>をクライアント側（ユーザの</a:t>
            </a:r>
            <a:r>
              <a:rPr lang="en-US" altLang="ja-JP" sz="3200" dirty="0"/>
              <a:t>PC</a:t>
            </a:r>
            <a:r>
              <a:rPr lang="ja-JP" altLang="en-US" sz="3200" dirty="0"/>
              <a:t>側）に入れ推論を</a:t>
            </a:r>
            <a:r>
              <a:rPr lang="en-US" altLang="ja-JP" sz="3200" dirty="0"/>
              <a:t>	</a:t>
            </a:r>
            <a:r>
              <a:rPr lang="ja-JP" altLang="en-US" sz="3200" dirty="0"/>
              <a:t>　　 行う</a:t>
            </a:r>
            <a:endParaRPr lang="en-US" altLang="ja-JP" sz="3200" dirty="0"/>
          </a:p>
          <a:p>
            <a:r>
              <a:rPr lang="ja-JP" altLang="en-US" sz="3200" dirty="0"/>
              <a:t>メリット</a:t>
            </a:r>
            <a:endParaRPr lang="en-US" altLang="ja-JP" sz="3200" dirty="0"/>
          </a:p>
          <a:p>
            <a:pPr marL="457200" indent="-457200">
              <a:buFont typeface="Arial" panose="020B0604020202020204" pitchFamily="34" charset="0"/>
              <a:buChar char="•"/>
            </a:pPr>
            <a:r>
              <a:rPr lang="ja-JP" altLang="en-US" sz="3200" dirty="0"/>
              <a:t>外部にデータを送信しないためプライバシーが守られる。</a:t>
            </a:r>
            <a:endParaRPr lang="en-US" altLang="ja-JP" sz="3200" dirty="0"/>
          </a:p>
          <a:p>
            <a:pPr marL="457200" indent="-457200">
              <a:buFont typeface="Arial" panose="020B0604020202020204" pitchFamily="34" charset="0"/>
              <a:buChar char="•"/>
            </a:pPr>
            <a:r>
              <a:rPr lang="ja-JP" altLang="en-US" sz="3200" dirty="0"/>
              <a:t>ローカル上で行うため通信環境を意識する必要がない</a:t>
            </a:r>
            <a:br>
              <a:rPr lang="en-US" altLang="ja-JP" sz="3200" dirty="0"/>
            </a:br>
            <a:endParaRPr lang="en-US" altLang="ja-JP" sz="3200" dirty="0"/>
          </a:p>
          <a:p>
            <a:pPr marL="914400" lvl="1" indent="-457200">
              <a:buFont typeface="Arial" panose="020B0604020202020204" pitchFamily="34" charset="0"/>
              <a:buChar char="•"/>
            </a:pPr>
            <a:endParaRPr lang="en-US" altLang="ja-JP" sz="100" dirty="0"/>
          </a:p>
          <a:p>
            <a:pPr marL="914400" lvl="1" indent="-457200">
              <a:buFont typeface="Arial" panose="020B0604020202020204" pitchFamily="34" charset="0"/>
              <a:buChar char="•"/>
            </a:pPr>
            <a:endParaRPr lang="en-US" altLang="ja-JP" sz="100" dirty="0"/>
          </a:p>
          <a:p>
            <a:pPr marL="914400" lvl="1" indent="-457200">
              <a:buFont typeface="Arial" panose="020B0604020202020204" pitchFamily="34" charset="0"/>
              <a:buChar char="•"/>
            </a:pPr>
            <a:endParaRPr lang="en-US" altLang="ja-JP" sz="100" dirty="0"/>
          </a:p>
          <a:p>
            <a:pPr marL="914400" lvl="1" indent="-457200">
              <a:buFont typeface="Arial" panose="020B0604020202020204" pitchFamily="34" charset="0"/>
              <a:buChar char="•"/>
            </a:pPr>
            <a:endParaRPr lang="en-US" altLang="ja-JP" sz="100" dirty="0"/>
          </a:p>
          <a:p>
            <a:pPr marL="914400" lvl="1" indent="-457200">
              <a:buFont typeface="Arial" panose="020B0604020202020204" pitchFamily="34" charset="0"/>
              <a:buChar char="•"/>
            </a:pPr>
            <a:endParaRPr lang="en-US" altLang="ja-JP" sz="100" dirty="0"/>
          </a:p>
          <a:p>
            <a:pPr marL="1371600" lvl="2" indent="-457200">
              <a:buFont typeface="Arial" panose="020B0604020202020204" pitchFamily="34" charset="0"/>
              <a:buChar char="•"/>
            </a:pPr>
            <a:endParaRPr lang="en-US" altLang="ja-JP" sz="100" dirty="0"/>
          </a:p>
          <a:p>
            <a:r>
              <a:rPr lang="ja-JP" altLang="en-US" sz="2900" dirty="0"/>
              <a:t>デメリット</a:t>
            </a:r>
            <a:endParaRPr lang="en-US" altLang="ja-JP" sz="2900" dirty="0"/>
          </a:p>
          <a:p>
            <a:pPr marL="457200" indent="-457200">
              <a:buFont typeface="Arial" panose="020B0604020202020204" pitchFamily="34" charset="0"/>
              <a:buChar char="•"/>
            </a:pPr>
            <a:r>
              <a:rPr lang="ja-JP" altLang="en-US" sz="2900" dirty="0"/>
              <a:t>ローカル推論はクライアントの</a:t>
            </a:r>
            <a:r>
              <a:rPr lang="en-US" altLang="ja-JP" sz="2900" dirty="0"/>
              <a:t>PC</a:t>
            </a:r>
            <a:r>
              <a:rPr lang="ja-JP" altLang="en-US" sz="2900" dirty="0"/>
              <a:t>のスペックに依存するため考慮する必要がある。</a:t>
            </a:r>
            <a:endParaRPr lang="en-US" altLang="ja-JP" sz="2900" dirty="0"/>
          </a:p>
          <a:p>
            <a:pPr lvl="1"/>
            <a:endParaRPr lang="en-US" altLang="ja-JP" sz="100" dirty="0"/>
          </a:p>
        </p:txBody>
      </p:sp>
    </p:spTree>
    <p:extLst>
      <p:ext uri="{BB962C8B-B14F-4D97-AF65-F5344CB8AC3E}">
        <p14:creationId xmlns:p14="http://schemas.microsoft.com/office/powerpoint/2010/main" val="2859335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53B21-E77E-9C47-7C9A-95F155BF23A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29E19C8-21BE-FFA9-36BE-41524ACA1257}"/>
              </a:ext>
            </a:extLst>
          </p:cNvPr>
          <p:cNvSpPr>
            <a:spLocks noGrp="1"/>
          </p:cNvSpPr>
          <p:nvPr>
            <p:ph type="title"/>
          </p:nvPr>
        </p:nvSpPr>
        <p:spPr>
          <a:xfrm>
            <a:off x="1881963" y="355889"/>
            <a:ext cx="9175897" cy="989432"/>
          </a:xfrm>
        </p:spPr>
        <p:txBody>
          <a:bodyPr rtlCol="0">
            <a:normAutofit/>
          </a:bodyPr>
          <a:lstStyle>
            <a:defPPr>
              <a:defRPr lang="ja-JP"/>
            </a:defPPr>
          </a:lstStyle>
          <a:p>
            <a:pPr algn="ctr"/>
            <a:r>
              <a:rPr lang="ja-JP" altLang="en-US" dirty="0"/>
              <a:t>現状</a:t>
            </a:r>
            <a:endParaRPr lang="en-US" altLang="ja-JP" dirty="0"/>
          </a:p>
        </p:txBody>
      </p:sp>
      <p:sp>
        <p:nvSpPr>
          <p:cNvPr id="3" name="タイトル 1">
            <a:extLst>
              <a:ext uri="{FF2B5EF4-FFF2-40B4-BE49-F238E27FC236}">
                <a16:creationId xmlns:a16="http://schemas.microsoft.com/office/drawing/2014/main" id="{FA04E830-F6F7-733B-1CB5-E877374F2ABD}"/>
              </a:ext>
            </a:extLst>
          </p:cNvPr>
          <p:cNvSpPr txBox="1">
            <a:spLocks/>
          </p:cNvSpPr>
          <p:nvPr/>
        </p:nvSpPr>
        <p:spPr>
          <a:xfrm>
            <a:off x="1434573" y="1711843"/>
            <a:ext cx="9984794" cy="3892124"/>
          </a:xfrm>
          <a:prstGeom prst="rect">
            <a:avLst/>
          </a:prstGeom>
        </p:spPr>
        <p:txBody>
          <a:bodyPr vert="horz" lIns="91440" tIns="45720" rIns="91440" bIns="45720" rtlCol="0" anchor="b">
            <a:normAutofit/>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endParaRPr lang="ja-JP" altLang="en-US" sz="4000" dirty="0"/>
          </a:p>
        </p:txBody>
      </p:sp>
      <p:sp>
        <p:nvSpPr>
          <p:cNvPr id="8" name="タイトル 1">
            <a:extLst>
              <a:ext uri="{FF2B5EF4-FFF2-40B4-BE49-F238E27FC236}">
                <a16:creationId xmlns:a16="http://schemas.microsoft.com/office/drawing/2014/main" id="{774C5FF1-24B0-ECA9-D87F-F05482418D91}"/>
              </a:ext>
            </a:extLst>
          </p:cNvPr>
          <p:cNvSpPr txBox="1">
            <a:spLocks/>
          </p:cNvSpPr>
          <p:nvPr/>
        </p:nvSpPr>
        <p:spPr>
          <a:xfrm>
            <a:off x="1613098" y="1711843"/>
            <a:ext cx="10208788" cy="4950214"/>
          </a:xfrm>
          <a:prstGeom prst="rect">
            <a:avLst/>
          </a:prstGeom>
        </p:spPr>
        <p:txBody>
          <a:bodyPr vert="horz" lIns="91440" tIns="45720" rIns="91440" bIns="45720" rtlCol="0" anchor="b">
            <a:normAutofit/>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endParaRPr lang="en-US" altLang="ja-JP" sz="3200" dirty="0"/>
          </a:p>
        </p:txBody>
      </p:sp>
      <p:sp>
        <p:nvSpPr>
          <p:cNvPr id="4" name="タイトル 1">
            <a:extLst>
              <a:ext uri="{FF2B5EF4-FFF2-40B4-BE49-F238E27FC236}">
                <a16:creationId xmlns:a16="http://schemas.microsoft.com/office/drawing/2014/main" id="{7324A58D-2993-B964-9BC7-B5C42446924B}"/>
              </a:ext>
            </a:extLst>
          </p:cNvPr>
          <p:cNvSpPr txBox="1">
            <a:spLocks/>
          </p:cNvSpPr>
          <p:nvPr/>
        </p:nvSpPr>
        <p:spPr>
          <a:xfrm>
            <a:off x="1613097" y="1711843"/>
            <a:ext cx="10208789" cy="4558328"/>
          </a:xfrm>
          <a:prstGeom prst="rect">
            <a:avLst/>
          </a:prstGeom>
        </p:spPr>
        <p:txBody>
          <a:bodyPr vert="horz" lIns="91440" tIns="45720" rIns="91440" bIns="45720" rtlCol="0" anchor="b">
            <a:normAutofit fontScale="92500" lnSpcReduction="20000"/>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pPr marL="457200" indent="-457200">
              <a:buFont typeface="Arial" panose="020B0604020202020204" pitchFamily="34" charset="0"/>
              <a:buChar char="•"/>
            </a:pPr>
            <a:r>
              <a:rPr lang="ja-JP" altLang="en-US" sz="4800" dirty="0"/>
              <a:t>研究をかなり変えてしまったため、文献調査や先行研究が不十分</a:t>
            </a:r>
            <a:br>
              <a:rPr lang="en-US" altLang="ja-JP" sz="4800" dirty="0"/>
            </a:br>
            <a:endParaRPr lang="en-US" altLang="ja-JP" sz="4800" dirty="0"/>
          </a:p>
          <a:p>
            <a:pPr marL="457200" indent="-457200">
              <a:buFont typeface="Arial" panose="020B0604020202020204" pitchFamily="34" charset="0"/>
              <a:buChar char="•"/>
            </a:pPr>
            <a:r>
              <a:rPr lang="en-US" altLang="ja-JP" sz="4800" dirty="0" err="1"/>
              <a:t>WebNN</a:t>
            </a:r>
            <a:r>
              <a:rPr lang="ja-JP" altLang="en-US" sz="4800" dirty="0"/>
              <a:t>というまだ開発段階の</a:t>
            </a:r>
            <a:r>
              <a:rPr lang="en-US" altLang="ja-JP" sz="4800" dirty="0"/>
              <a:t>API</a:t>
            </a:r>
            <a:r>
              <a:rPr lang="ja-JP" altLang="en-US" sz="4800" dirty="0"/>
              <a:t>を使用しどの程度推論速度が改善できるかを検証するという感じです。</a:t>
            </a:r>
            <a:br>
              <a:rPr lang="en-US" altLang="ja-JP" sz="4800" dirty="0"/>
            </a:br>
            <a:br>
              <a:rPr lang="en-US" altLang="ja-JP" sz="4800" dirty="0"/>
            </a:br>
            <a:br>
              <a:rPr lang="en-US" altLang="ja-JP" sz="4800" dirty="0"/>
            </a:br>
            <a:endParaRPr lang="en-US" altLang="ja-JP" sz="4800" dirty="0"/>
          </a:p>
        </p:txBody>
      </p:sp>
    </p:spTree>
    <p:extLst>
      <p:ext uri="{BB962C8B-B14F-4D97-AF65-F5344CB8AC3E}">
        <p14:creationId xmlns:p14="http://schemas.microsoft.com/office/powerpoint/2010/main" val="1308159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F101732C-7338-DBA0-BD19-1FA88304749F}"/>
              </a:ext>
            </a:extLst>
          </p:cNvPr>
          <p:cNvSpPr>
            <a:spLocks noGrp="1"/>
          </p:cNvSpPr>
          <p:nvPr>
            <p:ph type="title"/>
          </p:nvPr>
        </p:nvSpPr>
        <p:spPr>
          <a:xfrm>
            <a:off x="1731484" y="2625634"/>
            <a:ext cx="8729032" cy="927464"/>
          </a:xfrm>
        </p:spPr>
        <p:txBody>
          <a:bodyPr rtlCol="0"/>
          <a:lstStyle>
            <a:defPPr>
              <a:defRPr lang="ja-JP"/>
            </a:defPPr>
          </a:lstStyle>
          <a:p>
            <a:pPr algn="ctr" rtl="0"/>
            <a:r>
              <a:rPr lang="ja-JP" altLang="en-US" dirty="0"/>
              <a:t>ご清聴ありがとうございました</a:t>
            </a:r>
            <a:endParaRPr lang="ja-JP" dirty="0"/>
          </a:p>
        </p:txBody>
      </p:sp>
    </p:spTree>
    <p:extLst>
      <p:ext uri="{BB962C8B-B14F-4D97-AF65-F5344CB8AC3E}">
        <p14:creationId xmlns:p14="http://schemas.microsoft.com/office/powerpoint/2010/main" val="704370842"/>
      </p:ext>
    </p:extLst>
  </p:cSld>
  <p:clrMapOvr>
    <a:masterClrMapping/>
  </p:clrMapOvr>
</p:sld>
</file>

<file path=ppt/theme/theme1.xml><?xml version="1.0" encoding="utf-8"?>
<a:theme xmlns:a="http://schemas.openxmlformats.org/drawingml/2006/main" name="ユーザー設定">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Meiryo UI "/>
        <a:ea typeface=""/>
        <a:cs typeface="Meiryo UI "/>
      </a:majorFont>
      <a:minorFont>
        <a:latin typeface="Meiryo UI "/>
        <a:ea typeface=""/>
        <a:cs typeface="Meiryo UI "/>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_72938360_TF78544816_Win32" id="{029ED66B-9A8D-46F5-948E-0ADEE2C80AFD}" vid="{66DD23D5-FBAC-432E-A532-9880DE2D209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 panose="020F0302020204030204"/>
        <a:ea typeface=""/>
        <a:cs typeface="Meiryo UI "/>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 panose="020F0502020204030204"/>
        <a:ea typeface=""/>
        <a:cs typeface="Meiryo UI "/>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 panose="020F0302020204030204"/>
        <a:ea typeface=""/>
        <a:cs typeface="Meiryo UI "/>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 panose="020F0502020204030204"/>
        <a:ea typeface=""/>
        <a:cs typeface="Meiryo UI "/>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DB7358-0BCB-4DEB-B717-C1D7CC555F0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DE3707C-8CAB-4302-B7E1-D32E1543E05C}">
  <ds:schemaRefs>
    <ds:schemaRef ds:uri="http://schemas.microsoft.com/sharepoint/v3/contenttype/forms"/>
  </ds:schemaRefs>
</ds:datastoreItem>
</file>

<file path=customXml/itemProps3.xml><?xml version="1.0" encoding="utf-8"?>
<ds:datastoreItem xmlns:ds="http://schemas.openxmlformats.org/officeDocument/2006/customXml" ds:itemID="{B69E9DE5-EFFE-4262-A023-32732F0B66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会議用モダン プレゼンテーション</Template>
  <TotalTime>729</TotalTime>
  <Words>1130</Words>
  <Application>Microsoft Office PowerPoint</Application>
  <PresentationFormat>ワイド画面</PresentationFormat>
  <Paragraphs>74</Paragraphs>
  <Slides>9</Slides>
  <Notes>9</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9</vt:i4>
      </vt:variant>
    </vt:vector>
  </HeadingPairs>
  <TitlesOfParts>
    <vt:vector size="12" baseType="lpstr">
      <vt:lpstr>Meiryo UI</vt:lpstr>
      <vt:lpstr>Arial</vt:lpstr>
      <vt:lpstr>ユーザー設定</vt:lpstr>
      <vt:lpstr>WebNNを用いたローカル推論に よる、動的欺瞞UIへのリアルタイム 介入手法の確立</vt:lpstr>
      <vt:lpstr>自己紹介・学部時代の研究</vt:lpstr>
      <vt:lpstr>自己紹介・学部時代の研究</vt:lpstr>
      <vt:lpstr>研究背景</vt:lpstr>
      <vt:lpstr>既存手法</vt:lpstr>
      <vt:lpstr>クラウドAIの課題</vt:lpstr>
      <vt:lpstr>研究方法</vt:lpstr>
      <vt:lpstr>現状</vt:lpstr>
      <vt:lpstr>ご清聴ありがとうございました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j22345nk</dc:creator>
  <cp:lastModifiedBy>j22345nk</cp:lastModifiedBy>
  <cp:revision>26</cp:revision>
  <dcterms:created xsi:type="dcterms:W3CDTF">2026-04-22T00:57:43Z</dcterms:created>
  <dcterms:modified xsi:type="dcterms:W3CDTF">2026-04-22T13:07:38Z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