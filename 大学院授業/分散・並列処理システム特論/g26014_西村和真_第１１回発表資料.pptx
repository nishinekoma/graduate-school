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322" r:id="rId5"/>
    <p:sldId id="329" r:id="rId6"/>
    <p:sldId id="330" r:id="rId7"/>
    <p:sldId id="332" r:id="rId8"/>
    <p:sldId id="331" r:id="rId9"/>
    <p:sldId id="333" r:id="rId10"/>
    <p:sldId id="334" r:id="rId11"/>
    <p:sldId id="336" r:id="rId12"/>
    <p:sldId id="335" r:id="rId13"/>
  </p:sldIdLst>
  <p:sldSz cx="12192000" cy="6858000"/>
  <p:notesSz cx="6858000" cy="9144000"/>
  <p:defaultTextStyle>
    <a:defPPr rtl="0">
      <a:defRPr lang="ja-JP"/>
    </a:defPPr>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3F10"/>
    <a:srgbClr val="58696B"/>
    <a:srgbClr val="95B8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513" autoAdjust="0"/>
  </p:normalViewPr>
  <p:slideViewPr>
    <p:cSldViewPr snapToGrid="0">
      <p:cViewPr varScale="1">
        <p:scale>
          <a:sx n="51" d="100"/>
          <a:sy n="51" d="100"/>
        </p:scale>
        <p:origin x="1256" y="48"/>
      </p:cViewPr>
      <p:guideLst/>
    </p:cSldViewPr>
  </p:slideViewPr>
  <p:outlineViewPr>
    <p:cViewPr>
      <p:scale>
        <a:sx n="33" d="100"/>
        <a:sy n="33" d="100"/>
      </p:scale>
      <p:origin x="0" y="-7776"/>
    </p:cViewPr>
  </p:outlineViewPr>
  <p:notesTextViewPr>
    <p:cViewPr>
      <p:scale>
        <a:sx n="100" d="100"/>
        <a:sy n="100" d="100"/>
      </p:scale>
      <p:origin x="0" y="-36"/>
    </p:cViewPr>
  </p:notesTextViewPr>
  <p:sorterViewPr>
    <p:cViewPr>
      <p:scale>
        <a:sx n="100" d="100"/>
        <a:sy n="100" d="100"/>
      </p:scale>
      <p:origin x="0" y="0"/>
    </p:cViewPr>
  </p:sorterViewPr>
  <p:notesViewPr>
    <p:cSldViewPr snapToGrid="0">
      <p:cViewPr>
        <p:scale>
          <a:sx n="80" d="100"/>
          <a:sy n="80" d="100"/>
        </p:scale>
        <p:origin x="4002" y="15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ja-JP" sz="1200"/>
            </a:lvl1pPr>
          </a:lstStyle>
          <a:p>
            <a:pPr rtl="0"/>
            <a:fld id="{3D428F60-EEB6-4235-8F32-A11CE9C14B93}" type="datetime1">
              <a:rPr lang="ja-JP" altLang="en-US" smtClean="0">
                <a:latin typeface="Meiryo UI" panose="020B0604030504040204" pitchFamily="50" charset="-128"/>
                <a:ea typeface="Meiryo UI" panose="020B0604030504040204" pitchFamily="50" charset="-128"/>
              </a:rPr>
              <a:t>2026/6/29</a:t>
            </a:fld>
            <a:endParaRPr lang="ja-JP" dirty="0">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ja-JP" sz="1200"/>
            </a:lvl1pPr>
          </a:lstStyle>
          <a:p>
            <a:pPr rtl="0"/>
            <a:fld id="{00AC623C-86E0-4A85-83FB-F4A716956FD4}" type="slidenum">
              <a:rPr lang="ja-JP" smtClean="0">
                <a:latin typeface="Meiryo UI" panose="020B0604030504040204" pitchFamily="50" charset="-128"/>
                <a:ea typeface="Meiryo UI" panose="020B0604030504040204" pitchFamily="50" charset="-128"/>
              </a:rPr>
              <a:t>‹#›</a:t>
            </a:fld>
            <a:endParaRPr 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ja-JP" sz="1200">
                <a:latin typeface="Meiryo UI" panose="020B0604030504040204" pitchFamily="50" charset="-128"/>
                <a:ea typeface="Meiryo UI" panose="020B0604030504040204" pitchFamily="50" charset="-128"/>
              </a:defRPr>
            </a:lvl1pPr>
          </a:lstStyle>
          <a:p>
            <a:fld id="{D2E69705-234C-4F4E-8785-2C3496ACDA1A}" type="datetime1">
              <a:rPr lang="en-US" altLang="ja-JP" smtClean="0"/>
              <a:pPr/>
              <a:t>6/29/2026</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ja-JP"/>
            </a:defPPr>
          </a:lstStyle>
          <a:p>
            <a:pPr rtl="0"/>
            <a:endParaRPr lang="ja-JP"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ja-JP" sz="1200">
                <a:latin typeface="Meiryo UI" panose="020B0604030504040204" pitchFamily="50" charset="-128"/>
                <a:ea typeface="Meiryo UI" panose="020B0604030504040204" pitchFamily="50" charset="-128"/>
              </a:defRPr>
            </a:lvl1pPr>
          </a:lstStyle>
          <a:p>
            <a:fld id="{C37D7554-D10C-4E29-B8E6-BB7111FA614F}"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lang="ja-JP" sz="1200" kern="1200">
        <a:solidFill>
          <a:schemeClr val="tx1"/>
        </a:solidFill>
        <a:latin typeface="+mn-cs"/>
        <a:ea typeface="+mn-ea"/>
        <a:cs typeface="+mn-cs"/>
      </a:defRPr>
    </a:lvl6pPr>
    <a:lvl7pPr marL="2743200" algn="l" defTabSz="914400" rtl="0" eaLnBrk="1" latinLnBrk="0" hangingPunct="1">
      <a:defRPr lang="ja-JP" sz="1200" kern="1200">
        <a:solidFill>
          <a:schemeClr val="tx1"/>
        </a:solidFill>
        <a:latin typeface="+mn-cs"/>
        <a:ea typeface="+mn-ea"/>
        <a:cs typeface="+mn-cs"/>
      </a:defRPr>
    </a:lvl7pPr>
    <a:lvl8pPr marL="3200400" algn="l" defTabSz="914400" rtl="0" eaLnBrk="1" latinLnBrk="0" hangingPunct="1">
      <a:defRPr lang="ja-JP" sz="1200" kern="1200">
        <a:solidFill>
          <a:schemeClr val="tx1"/>
        </a:solidFill>
        <a:latin typeface="+mn-cs"/>
        <a:ea typeface="+mn-ea"/>
        <a:cs typeface="+mn-cs"/>
      </a:defRPr>
    </a:lvl8pPr>
    <a:lvl9pPr marL="3657600" algn="l" defTabSz="914400" rtl="0" eaLnBrk="1" latinLnBrk="0" hangingPunct="1">
      <a:defRPr lang="ja-JP" sz="1200" kern="1200">
        <a:solidFill>
          <a:schemeClr val="tx1"/>
        </a:solidFill>
        <a:latin typeface="+mn-cs"/>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endParaRPr lang="ja-JP" dirty="0"/>
          </a:p>
        </p:txBody>
      </p:sp>
      <p:sp>
        <p:nvSpPr>
          <p:cNvPr id="4" name="スライド番号プレースホルダー 3"/>
          <p:cNvSpPr>
            <a:spLocks noGrp="1"/>
          </p:cNvSpPr>
          <p:nvPr>
            <p:ph type="sldNum" sz="quarter" idx="5"/>
          </p:nvPr>
        </p:nvSpPr>
        <p:spPr/>
        <p:txBody>
          <a:bodyPr rtlCol="0"/>
          <a:lstStyle>
            <a:defPPr>
              <a:defRPr lang="ja-JP"/>
            </a:defPPr>
          </a:lstStyle>
          <a:p>
            <a:pPr rtl="0"/>
            <a:fld id="{C37D7554-D10C-4E29-B8E6-BB7111FA614F}" type="slidenum">
              <a:rPr lang="ja-JP" smtClean="0"/>
              <a:t>1</a:t>
            </a:fld>
            <a:endParaRPr lang="ja-JP" dirty="0"/>
          </a:p>
        </p:txBody>
      </p:sp>
    </p:spTree>
    <p:extLst>
      <p:ext uri="{BB962C8B-B14F-4D97-AF65-F5344CB8AC3E}">
        <p14:creationId xmlns:p14="http://schemas.microsoft.com/office/powerpoint/2010/main" val="121234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1952-E6F8-74B7-14C1-E4AF4CEDA9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BC4B99-6EC4-C6F9-C60F-DEE61634B5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CCE373-C572-E3E4-B21F-8FDA41875766}"/>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200" dirty="0">
                <a:solidFill>
                  <a:schemeClr val="bg1"/>
                </a:solidFill>
              </a:rPr>
              <a:t>Synchronized</a:t>
            </a:r>
            <a:r>
              <a:rPr lang="ja-JP" altLang="en-US" sz="1200" dirty="0">
                <a:solidFill>
                  <a:schemeClr val="bg1"/>
                </a:solidFill>
              </a:rPr>
              <a:t>とは、メソッド、つまり</a:t>
            </a:r>
            <a:r>
              <a:rPr lang="ja-JP" altLang="ja-JP" sz="1200" dirty="0">
                <a:solidFill>
                  <a:schemeClr val="bg1"/>
                </a:solidFill>
              </a:rPr>
              <a:t>処理のまとまり</a:t>
            </a:r>
            <a:r>
              <a:rPr lang="ja-JP" altLang="en-US" sz="1200" dirty="0">
                <a:solidFill>
                  <a:schemeClr val="bg1"/>
                </a:solidFill>
              </a:rPr>
              <a:t>に着けることでそのメソッド全体をカギのかかった部屋にできる仕組みです。特徴として、生成されたオブジェクト自身専用のカギを使用して部屋をロックするというのがあります。</a:t>
            </a:r>
            <a:endParaRPr lang="en-US" altLang="ja-JP" sz="1200" dirty="0">
              <a:solidFill>
                <a:schemeClr val="bg1"/>
              </a:solidFill>
            </a:endParaRPr>
          </a:p>
        </p:txBody>
      </p:sp>
      <p:sp>
        <p:nvSpPr>
          <p:cNvPr id="4" name="スライド番号プレースホルダー 3">
            <a:extLst>
              <a:ext uri="{FF2B5EF4-FFF2-40B4-BE49-F238E27FC236}">
                <a16:creationId xmlns:a16="http://schemas.microsoft.com/office/drawing/2014/main" id="{6ECBA889-9CDE-BC64-BE33-A106ACE73EF7}"/>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2</a:t>
            </a:fld>
            <a:endParaRPr lang="ja-JP" dirty="0"/>
          </a:p>
        </p:txBody>
      </p:sp>
    </p:spTree>
    <p:extLst>
      <p:ext uri="{BB962C8B-B14F-4D97-AF65-F5344CB8AC3E}">
        <p14:creationId xmlns:p14="http://schemas.microsoft.com/office/powerpoint/2010/main" val="4118898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D98AB-F835-5E14-8AF1-E0D0131E4D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8EFDF5-4A1D-770F-CD2C-25BFFBCCF52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265E8C4-8A20-719B-8B2C-A0088BB8059A}"/>
              </a:ext>
            </a:extLst>
          </p:cNvPr>
          <p:cNvSpPr>
            <a:spLocks noGrp="1"/>
          </p:cNvSpPr>
          <p:nvPr>
            <p:ph type="body" idx="1"/>
          </p:nvPr>
        </p:nvSpPr>
        <p:spPr/>
        <p:txBody>
          <a:bodyPr rtlCol="0"/>
          <a:lstStyle>
            <a:defPPr>
              <a:defRPr lang="ja-JP"/>
            </a:defPPr>
          </a:lstStyle>
          <a:p>
            <a:pPr marL="0" lvl="0" indent="0">
              <a:buFont typeface="Arial" panose="020B0604020202020204" pitchFamily="34" charset="0"/>
              <a:buNone/>
              <a:defRPr/>
            </a:pPr>
            <a:endParaRPr kumimoji="1" lang="ja-JP" altLang="en-US" b="0" dirty="0"/>
          </a:p>
        </p:txBody>
      </p:sp>
      <p:sp>
        <p:nvSpPr>
          <p:cNvPr id="4" name="スライド番号プレースホルダー 3">
            <a:extLst>
              <a:ext uri="{FF2B5EF4-FFF2-40B4-BE49-F238E27FC236}">
                <a16:creationId xmlns:a16="http://schemas.microsoft.com/office/drawing/2014/main" id="{859084B1-6886-E496-F1E2-4056D3B807C8}"/>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3</a:t>
            </a:fld>
            <a:endParaRPr lang="ja-JP" dirty="0"/>
          </a:p>
        </p:txBody>
      </p:sp>
    </p:spTree>
    <p:extLst>
      <p:ext uri="{BB962C8B-B14F-4D97-AF65-F5344CB8AC3E}">
        <p14:creationId xmlns:p14="http://schemas.microsoft.com/office/powerpoint/2010/main" val="4280416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5AE81-FF2C-0FA1-ED08-8F14A9570E0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55DDB1-3E1F-CA8F-3546-A3723B54CF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D009076-D0E3-2D79-C3B9-4C1CD627971E}"/>
              </a:ext>
            </a:extLst>
          </p:cNvPr>
          <p:cNvSpPr>
            <a:spLocks noGrp="1"/>
          </p:cNvSpPr>
          <p:nvPr>
            <p:ph type="body" idx="1"/>
          </p:nvPr>
        </p:nvSpPr>
        <p:spPr/>
        <p:txBody>
          <a:bodyPr rtlCol="0"/>
          <a:lstStyle>
            <a:defPPr>
              <a:defRPr lang="ja-JP"/>
            </a:defPPr>
          </a:lstStyle>
          <a:p>
            <a:pPr marL="0" lvl="0" indent="0">
              <a:buFont typeface="Arial" panose="020B0604020202020204" pitchFamily="34" charset="0"/>
              <a:buNone/>
              <a:defRPr/>
            </a:pPr>
            <a:r>
              <a:rPr kumimoji="1" lang="ja-JP" altLang="en-US" b="0" dirty="0"/>
              <a:t>実際に見ていきましょう。まず一番下を見ましょう。</a:t>
            </a:r>
            <a:r>
              <a:rPr kumimoji="1" lang="en-US" altLang="ja-JP" b="0" dirty="0"/>
              <a:t>(Enter)main</a:t>
            </a:r>
            <a:r>
              <a:rPr kumimoji="1" lang="ja-JP" altLang="en-US" b="0" dirty="0"/>
              <a:t>にて１つだけ</a:t>
            </a:r>
            <a:r>
              <a:rPr kumimoji="1" lang="en-US" altLang="ja-JP" b="0" dirty="0"/>
              <a:t>lock</a:t>
            </a:r>
            <a:r>
              <a:rPr kumimoji="1" lang="ja-JP" altLang="en-US" b="0" dirty="0"/>
              <a:t>オブジェクト生成します。鍵は一つだけ生成です。次に各スレッドにて、同じ</a:t>
            </a:r>
            <a:r>
              <a:rPr kumimoji="1" lang="en-US" altLang="ja-JP" b="0" dirty="0"/>
              <a:t>lock</a:t>
            </a:r>
            <a:r>
              <a:rPr kumimoji="1" lang="ja-JP" altLang="en-US" b="0" dirty="0"/>
              <a:t>オブジェクトが渡されます。つまり全</a:t>
            </a:r>
            <a:r>
              <a:rPr kumimoji="1" lang="en-US" altLang="ja-JP" b="0" dirty="0"/>
              <a:t>Thread</a:t>
            </a:r>
            <a:r>
              <a:rPr kumimoji="1" lang="ja-JP" altLang="en-US" b="0" dirty="0"/>
              <a:t>にて同じ鍵を共有します。最後に</a:t>
            </a:r>
            <a:r>
              <a:rPr kumimoji="1" lang="en-US" altLang="ja-JP" b="0" dirty="0"/>
              <a:t>Synchronized</a:t>
            </a:r>
            <a:r>
              <a:rPr kumimoji="1" lang="ja-JP" altLang="en-US" b="0" dirty="0"/>
              <a:t>、ここで</a:t>
            </a:r>
            <a:r>
              <a:rPr kumimoji="1" lang="en-US" altLang="ja-JP" b="0" dirty="0"/>
              <a:t>lock</a:t>
            </a:r>
            <a:r>
              <a:rPr kumimoji="1" lang="ja-JP" altLang="en-US" b="0" dirty="0"/>
              <a:t>オブジェクトが使用されます。</a:t>
            </a:r>
            <a:endParaRPr kumimoji="1" lang="en-US" altLang="ja-JP" b="0" dirty="0"/>
          </a:p>
          <a:p>
            <a:pPr marL="0" lvl="0" indent="0">
              <a:buFont typeface="Arial" panose="020B0604020202020204" pitchFamily="34" charset="0"/>
              <a:buNone/>
              <a:defRPr/>
            </a:pPr>
            <a:r>
              <a:rPr kumimoji="1" lang="en-US" altLang="ja-JP" b="0" dirty="0"/>
              <a:t>Synchronized</a:t>
            </a:r>
            <a:r>
              <a:rPr kumimoji="1" lang="ja-JP" altLang="en-US" b="0" dirty="0"/>
              <a:t>は</a:t>
            </a:r>
            <a:r>
              <a:rPr kumimoji="1" lang="en-US" altLang="ja-JP" b="0" dirty="0"/>
              <a:t>lock</a:t>
            </a:r>
            <a:r>
              <a:rPr kumimoji="1" lang="ja-JP" altLang="en-US" b="0" dirty="0"/>
              <a:t>は取得できるか？をみて、他のスレッドが占有していなければ処理開始します。占有していれば待機です。こんなことをしています。</a:t>
            </a:r>
          </a:p>
        </p:txBody>
      </p:sp>
      <p:sp>
        <p:nvSpPr>
          <p:cNvPr id="4" name="スライド番号プレースホルダー 3">
            <a:extLst>
              <a:ext uri="{FF2B5EF4-FFF2-40B4-BE49-F238E27FC236}">
                <a16:creationId xmlns:a16="http://schemas.microsoft.com/office/drawing/2014/main" id="{8C67C200-3921-67AA-7944-78135B70F550}"/>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4</a:t>
            </a:fld>
            <a:endParaRPr lang="ja-JP" dirty="0"/>
          </a:p>
        </p:txBody>
      </p:sp>
    </p:spTree>
    <p:extLst>
      <p:ext uri="{BB962C8B-B14F-4D97-AF65-F5344CB8AC3E}">
        <p14:creationId xmlns:p14="http://schemas.microsoft.com/office/powerpoint/2010/main" val="480834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47FCA-283D-3B2E-4600-07B6D95631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57CCDC-E65C-94F6-756D-40579775268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995BAC8-33C7-44E1-13F5-817B39D0FA37}"/>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200" dirty="0">
                <a:solidFill>
                  <a:schemeClr val="bg1"/>
                </a:solidFill>
              </a:rPr>
              <a:t>まとめです。</a:t>
            </a:r>
            <a:endParaRPr lang="en-US" altLang="ja-JP" sz="1200" dirty="0">
              <a:solidFill>
                <a:schemeClr val="bg1"/>
              </a:solidFill>
            </a:endParaRPr>
          </a:p>
        </p:txBody>
      </p:sp>
      <p:sp>
        <p:nvSpPr>
          <p:cNvPr id="4" name="スライド番号プレースホルダー 3">
            <a:extLst>
              <a:ext uri="{FF2B5EF4-FFF2-40B4-BE49-F238E27FC236}">
                <a16:creationId xmlns:a16="http://schemas.microsoft.com/office/drawing/2014/main" id="{1E6C013A-ECE1-9CF0-10F1-92B81A8DD82C}"/>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5</a:t>
            </a:fld>
            <a:endParaRPr lang="ja-JP" dirty="0"/>
          </a:p>
        </p:txBody>
      </p:sp>
    </p:spTree>
    <p:extLst>
      <p:ext uri="{BB962C8B-B14F-4D97-AF65-F5344CB8AC3E}">
        <p14:creationId xmlns:p14="http://schemas.microsoft.com/office/powerpoint/2010/main" val="1954604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32C1F-EF35-2EF1-B068-E228D7FA37B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53860FD-72CB-964E-A77B-23A7F64BEC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E250D6-218C-384D-A9B9-1FBDD7EF5911}"/>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200" dirty="0">
                <a:solidFill>
                  <a:schemeClr val="bg1"/>
                </a:solidFill>
              </a:rPr>
              <a:t>余談です。興味ない人は寝てていいです。先ほど鍵を説明しましたが、これは厳密には</a:t>
            </a:r>
            <a:r>
              <a:rPr lang="en-US" altLang="ja-JP" sz="1200" dirty="0">
                <a:solidFill>
                  <a:schemeClr val="bg1"/>
                </a:solidFill>
              </a:rPr>
              <a:t>Monitor</a:t>
            </a:r>
            <a:r>
              <a:rPr lang="ja-JP" altLang="en-US" sz="1200" dirty="0">
                <a:solidFill>
                  <a:schemeClr val="bg1"/>
                </a:solidFill>
              </a:rPr>
              <a:t>という仕組みを利用しています。こいつはオブジェクト生成した際、そのオブジェクトに紐づく</a:t>
            </a:r>
            <a:r>
              <a:rPr lang="en-US" altLang="ja-JP" sz="1200" dirty="0">
                <a:solidFill>
                  <a:schemeClr val="bg1"/>
                </a:solidFill>
              </a:rPr>
              <a:t>Monitor</a:t>
            </a:r>
            <a:r>
              <a:rPr lang="ja-JP" altLang="en-US" sz="1200" dirty="0">
                <a:solidFill>
                  <a:schemeClr val="bg1"/>
                </a:solidFill>
              </a:rPr>
              <a:t>が一つだけ関連付けられます。こいつが主に管理しているのは、</a:t>
            </a:r>
            <a:r>
              <a:rPr lang="en-US" altLang="ja-JP" sz="1200" dirty="0">
                <a:solidFill>
                  <a:schemeClr val="bg1"/>
                </a:solidFill>
              </a:rPr>
              <a:t>Owner</a:t>
            </a:r>
            <a:r>
              <a:rPr lang="ja-JP" altLang="en-US" sz="1200" dirty="0">
                <a:solidFill>
                  <a:schemeClr val="bg1"/>
                </a:solidFill>
              </a:rPr>
              <a:t>という現在ロックを持つ</a:t>
            </a:r>
            <a:r>
              <a:rPr lang="en-US" altLang="ja-JP" sz="1200" dirty="0">
                <a:solidFill>
                  <a:schemeClr val="bg1"/>
                </a:solidFill>
              </a:rPr>
              <a:t>Thread</a:t>
            </a:r>
            <a:r>
              <a:rPr lang="ja-JP" altLang="en-US" sz="1200" dirty="0">
                <a:solidFill>
                  <a:schemeClr val="bg1"/>
                </a:solidFill>
              </a:rPr>
              <a:t>、つまり占有中のスレッド、次に現在</a:t>
            </a:r>
            <a:r>
              <a:rPr lang="en-US" altLang="ja-JP" sz="1200" dirty="0">
                <a:solidFill>
                  <a:schemeClr val="bg1"/>
                </a:solidFill>
              </a:rPr>
              <a:t>Owner</a:t>
            </a:r>
            <a:r>
              <a:rPr lang="ja-JP" altLang="en-US" sz="1200" dirty="0">
                <a:solidFill>
                  <a:schemeClr val="bg1"/>
                </a:solidFill>
              </a:rPr>
              <a:t>に紐づくというロック取得回数の</a:t>
            </a:r>
            <a:r>
              <a:rPr lang="en-US" altLang="ja-JP" sz="1200" dirty="0">
                <a:solidFill>
                  <a:schemeClr val="bg1"/>
                </a:solidFill>
              </a:rPr>
              <a:t>Entry Count</a:t>
            </a:r>
            <a:r>
              <a:rPr lang="ja-JP" altLang="en-US" sz="1200" dirty="0">
                <a:solidFill>
                  <a:schemeClr val="bg1"/>
                </a:solidFill>
              </a:rPr>
              <a:t>、あとはロック待ちの</a:t>
            </a:r>
            <a:r>
              <a:rPr lang="en-US" altLang="ja-JP" sz="1200" dirty="0">
                <a:solidFill>
                  <a:schemeClr val="bg1"/>
                </a:solidFill>
              </a:rPr>
              <a:t>Thread</a:t>
            </a:r>
            <a:r>
              <a:rPr lang="ja-JP" altLang="en-US" sz="1200" dirty="0">
                <a:solidFill>
                  <a:schemeClr val="bg1"/>
                </a:solidFill>
              </a:rPr>
              <a:t>を示す</a:t>
            </a:r>
            <a:r>
              <a:rPr lang="en-US" altLang="ja-JP" sz="1200" dirty="0">
                <a:solidFill>
                  <a:schemeClr val="bg1"/>
                </a:solidFill>
              </a:rPr>
              <a:t>Waiting</a:t>
            </a:r>
            <a:r>
              <a:rPr lang="ja-JP" altLang="en-US" sz="1200" dirty="0">
                <a:solidFill>
                  <a:schemeClr val="bg1"/>
                </a:solidFill>
              </a:rPr>
              <a:t>があります。</a:t>
            </a:r>
            <a:endParaRPr lang="en-US" altLang="ja-JP" sz="1200" dirty="0">
              <a:solidFill>
                <a:schemeClr val="bg1"/>
              </a:solidFill>
            </a:endParaRPr>
          </a:p>
        </p:txBody>
      </p:sp>
      <p:sp>
        <p:nvSpPr>
          <p:cNvPr id="4" name="スライド番号プレースホルダー 3">
            <a:extLst>
              <a:ext uri="{FF2B5EF4-FFF2-40B4-BE49-F238E27FC236}">
                <a16:creationId xmlns:a16="http://schemas.microsoft.com/office/drawing/2014/main" id="{98F5982A-4506-765B-3C05-1D55A2045908}"/>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6</a:t>
            </a:fld>
            <a:endParaRPr lang="ja-JP" dirty="0"/>
          </a:p>
        </p:txBody>
      </p:sp>
    </p:spTree>
    <p:extLst>
      <p:ext uri="{BB962C8B-B14F-4D97-AF65-F5344CB8AC3E}">
        <p14:creationId xmlns:p14="http://schemas.microsoft.com/office/powerpoint/2010/main" val="2657432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4C186-6004-6EF1-12F1-ECB3CE5166A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26D0D48-CE64-6748-5BD1-979FD55AE73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EFE275-ECFF-23FE-50DB-206856508202}"/>
              </a:ext>
            </a:extLst>
          </p:cNvPr>
          <p:cNvSpPr>
            <a:spLocks noGrp="1"/>
          </p:cNvSpPr>
          <p:nvPr>
            <p:ph type="body" idx="1"/>
          </p:nvPr>
        </p:nvSpPr>
        <p:spPr/>
        <p:txBody>
          <a:bodyPr rtlCol="0"/>
          <a:lstStyle>
            <a:defPPr>
              <a:defRPr lang="ja-JP"/>
            </a:defPPr>
          </a:lstStyle>
          <a:p>
            <a:r>
              <a:rPr lang="ja-JP" altLang="ja-JP" dirty="0"/>
              <a:t>Monitorという仕組みですが、私は「仕組み」と表現しました。変数のような名前</a:t>
            </a:r>
            <a:r>
              <a:rPr lang="ja-JP" altLang="en-US" dirty="0"/>
              <a:t>で</a:t>
            </a:r>
            <a:r>
              <a:rPr lang="ja-JP" altLang="ja-JP" dirty="0"/>
              <a:t>いかにもクラスっぽいですが、</a:t>
            </a:r>
            <a:r>
              <a:rPr lang="ja-JP" altLang="ja-JP" b="1" dirty="0"/>
              <a:t>実体はJVM内部にあるロック管理</a:t>
            </a:r>
            <a:r>
              <a:rPr lang="ja-JP" altLang="ja-JP" dirty="0"/>
              <a:t>です。つまり、私たちがJavaから直接触ることはできませ</a:t>
            </a:r>
            <a:r>
              <a:rPr lang="ja-JP" altLang="en-US" dirty="0"/>
              <a:t>んと。</a:t>
            </a:r>
            <a:r>
              <a:rPr lang="ja-JP" altLang="ja-JP" dirty="0"/>
              <a:t>また、オブジェクトを生成すると、そのオブジェクトにMonitorが1つだけ関連付けられます。そのためもちろん</a:t>
            </a:r>
            <a:r>
              <a:rPr lang="ja-JP" altLang="ja-JP" sz="1200" kern="1200" dirty="0">
                <a:solidFill>
                  <a:schemeClr val="tx1"/>
                </a:solidFill>
                <a:latin typeface="Meiryo UI" panose="020B0604030504040204" pitchFamily="50" charset="-128"/>
                <a:ea typeface="Meiryo UI" panose="020B0604030504040204" pitchFamily="50" charset="-128"/>
                <a:cs typeface="+mn-cs"/>
              </a:rPr>
              <a:t>new Thread()</a:t>
            </a:r>
            <a:r>
              <a:rPr lang="ja-JP" altLang="ja-JP" dirty="0"/>
              <a:t>で生成したThreadオブジェクトにも、それぞれMonitorが1つ関連付けられています。</a:t>
            </a:r>
            <a:r>
              <a:rPr lang="ja-JP" altLang="ja-JP" b="1" dirty="0"/>
              <a:t>ただしそれぞれ別々のMonitorなので、Thread同士では共有できません。</a:t>
            </a:r>
            <a:r>
              <a:rPr lang="ja-JP" altLang="ja-JP" dirty="0"/>
              <a:t>そこで、Thread間で共有するための</a:t>
            </a:r>
            <a:r>
              <a:rPr lang="ja-JP" altLang="ja-JP" sz="1200" kern="1200" dirty="0">
                <a:solidFill>
                  <a:schemeClr val="tx1"/>
                </a:solidFill>
                <a:latin typeface="Meiryo UI" panose="020B0604030504040204" pitchFamily="50" charset="-128"/>
                <a:ea typeface="Meiryo UI" panose="020B0604030504040204" pitchFamily="50" charset="-128"/>
                <a:cs typeface="+mn-cs"/>
              </a:rPr>
              <a:t>Object lock</a:t>
            </a:r>
            <a:r>
              <a:rPr lang="ja-JP" altLang="ja-JP" dirty="0"/>
              <a:t>を1つだけ生成し、その</a:t>
            </a:r>
            <a:r>
              <a:rPr lang="ja-JP" altLang="ja-JP" b="1" dirty="0"/>
              <a:t>lockに関連付けられたMonitor</a:t>
            </a:r>
            <a:r>
              <a:rPr lang="ja-JP" altLang="ja-JP" dirty="0"/>
              <a:t>を</a:t>
            </a:r>
            <a:r>
              <a:rPr lang="ja-JP" altLang="ja-JP" sz="1200" kern="1200" dirty="0">
                <a:solidFill>
                  <a:schemeClr val="tx1"/>
                </a:solidFill>
                <a:latin typeface="Meiryo UI" panose="020B0604030504040204" pitchFamily="50" charset="-128"/>
                <a:ea typeface="Meiryo UI" panose="020B0604030504040204" pitchFamily="50" charset="-128"/>
                <a:cs typeface="+mn-cs"/>
              </a:rPr>
              <a:t>Thread</a:t>
            </a:r>
            <a:r>
              <a:rPr lang="ja-JP" altLang="ja-JP" dirty="0"/>
              <a:t>全員で利用することで、ロックの取得・解放・待機を管理しています。</a:t>
            </a:r>
          </a:p>
        </p:txBody>
      </p:sp>
      <p:sp>
        <p:nvSpPr>
          <p:cNvPr id="4" name="スライド番号プレースホルダー 3">
            <a:extLst>
              <a:ext uri="{FF2B5EF4-FFF2-40B4-BE49-F238E27FC236}">
                <a16:creationId xmlns:a16="http://schemas.microsoft.com/office/drawing/2014/main" id="{11CE7194-E2CF-FC79-C48D-8F27E4448B48}"/>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7</a:t>
            </a:fld>
            <a:endParaRPr lang="ja-JP" dirty="0"/>
          </a:p>
        </p:txBody>
      </p:sp>
    </p:spTree>
    <p:extLst>
      <p:ext uri="{BB962C8B-B14F-4D97-AF65-F5344CB8AC3E}">
        <p14:creationId xmlns:p14="http://schemas.microsoft.com/office/powerpoint/2010/main" val="4241270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9DF4D-F918-B4CF-9AFC-BC2B65B9C36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E81D23D-160B-3637-96CE-A9E2E648E98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B4468C1-C5C1-5387-D32F-20A12CFAE42D}"/>
              </a:ext>
            </a:extLst>
          </p:cNvPr>
          <p:cNvSpPr>
            <a:spLocks noGrp="1"/>
          </p:cNvSpPr>
          <p:nvPr>
            <p:ph type="body" idx="1"/>
          </p:nvPr>
        </p:nvSpPr>
        <p:spPr/>
        <p:txBody>
          <a:bodyPr rtlCol="0"/>
          <a:lstStyle>
            <a:defPPr>
              <a:defRPr lang="ja-JP"/>
            </a:defPPr>
          </a:lstStyle>
          <a:p>
            <a:r>
              <a:rPr lang="ja-JP" altLang="en-US" dirty="0"/>
              <a:t>例です。例えば</a:t>
            </a:r>
            <a:r>
              <a:rPr lang="en-US" altLang="ja-JP" dirty="0"/>
              <a:t>Thread</a:t>
            </a:r>
            <a:r>
              <a:rPr lang="ja-JP" altLang="en-US" dirty="0"/>
              <a:t>が５つあって共有オブジェクト生成して</a:t>
            </a:r>
            <a:r>
              <a:rPr lang="en-US" altLang="ja-JP" dirty="0"/>
              <a:t>Synchronized</a:t>
            </a:r>
            <a:r>
              <a:rPr lang="ja-JP" altLang="en-US" dirty="0"/>
              <a:t>使っていたらこうなります。</a:t>
            </a:r>
            <a:br>
              <a:rPr lang="en-US" altLang="ja-JP" dirty="0"/>
            </a:br>
            <a:r>
              <a:rPr lang="en-US" altLang="ja-JP" dirty="0"/>
              <a:t>Owner</a:t>
            </a:r>
            <a:r>
              <a:rPr lang="ja-JP" altLang="en-US" dirty="0"/>
              <a:t>は</a:t>
            </a:r>
            <a:r>
              <a:rPr lang="en-US" altLang="ja-JP" dirty="0"/>
              <a:t>Thread-1</a:t>
            </a:r>
            <a:r>
              <a:rPr lang="ja-JP" altLang="en-US" dirty="0"/>
              <a:t>が占有して占有回数</a:t>
            </a:r>
            <a:r>
              <a:rPr lang="en-US" altLang="ja-JP" dirty="0"/>
              <a:t>1</a:t>
            </a:r>
            <a:r>
              <a:rPr lang="ja-JP" altLang="en-US" dirty="0"/>
              <a:t>回、占有待ちが</a:t>
            </a:r>
            <a:r>
              <a:rPr lang="en-US" altLang="ja-JP" dirty="0"/>
              <a:t>Thread</a:t>
            </a:r>
            <a:r>
              <a:rPr lang="ja-JP" altLang="en-US" dirty="0"/>
              <a:t>２から５までってわかりますね。</a:t>
            </a:r>
            <a:br>
              <a:rPr lang="en-US" altLang="ja-JP" dirty="0"/>
            </a:br>
            <a:endParaRPr lang="ja-JP" altLang="ja-JP" dirty="0"/>
          </a:p>
        </p:txBody>
      </p:sp>
      <p:sp>
        <p:nvSpPr>
          <p:cNvPr id="4" name="スライド番号プレースホルダー 3">
            <a:extLst>
              <a:ext uri="{FF2B5EF4-FFF2-40B4-BE49-F238E27FC236}">
                <a16:creationId xmlns:a16="http://schemas.microsoft.com/office/drawing/2014/main" id="{968D4B88-B4EB-83AE-CBE0-05C6455F5211}"/>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8</a:t>
            </a:fld>
            <a:endParaRPr lang="ja-JP" dirty="0"/>
          </a:p>
        </p:txBody>
      </p:sp>
    </p:spTree>
    <p:extLst>
      <p:ext uri="{BB962C8B-B14F-4D97-AF65-F5344CB8AC3E}">
        <p14:creationId xmlns:p14="http://schemas.microsoft.com/office/powerpoint/2010/main" val="120644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68997-8C73-306A-3602-3D246FB5CC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76F4B30-4234-1188-2472-76097ADF70F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70E56A-D974-B62C-6160-C45DEBF780E7}"/>
              </a:ext>
            </a:extLst>
          </p:cNvPr>
          <p:cNvSpPr>
            <a:spLocks noGrp="1"/>
          </p:cNvSpPr>
          <p:nvPr>
            <p:ph type="body" idx="1"/>
          </p:nvPr>
        </p:nvSpPr>
        <p:spPr/>
        <p:txBody>
          <a:bodyPr rtlCol="0"/>
          <a:lstStyle>
            <a:defPPr>
              <a:defRPr lang="ja-JP"/>
            </a:defPPr>
          </a:lstStyle>
          <a:p>
            <a:r>
              <a:rPr lang="en-US" altLang="ja-JP" dirty="0"/>
              <a:t>Synchronized</a:t>
            </a:r>
            <a:r>
              <a:rPr lang="ja-JP" altLang="en-US" dirty="0"/>
              <a:t>と</a:t>
            </a:r>
            <a:r>
              <a:rPr lang="en-US" altLang="ja-JP" dirty="0"/>
              <a:t>Monitor</a:t>
            </a:r>
            <a:r>
              <a:rPr lang="ja-JP" altLang="en-US" dirty="0"/>
              <a:t>の関係性。ではどう作用しているのか？簡単に言うと</a:t>
            </a:r>
            <a:r>
              <a:rPr lang="en-US" altLang="ja-JP" dirty="0"/>
              <a:t>Synchronized</a:t>
            </a:r>
            <a:r>
              <a:rPr lang="ja-JP" altLang="en-US" dirty="0"/>
              <a:t>が</a:t>
            </a:r>
            <a:r>
              <a:rPr lang="en-US" altLang="ja-JP" dirty="0"/>
              <a:t>Monitor</a:t>
            </a:r>
            <a:r>
              <a:rPr lang="ja-JP" altLang="en-US" dirty="0"/>
              <a:t>を使用し、</a:t>
            </a:r>
            <a:r>
              <a:rPr lang="en-US" altLang="ja-JP" dirty="0"/>
              <a:t>Owner</a:t>
            </a:r>
            <a:r>
              <a:rPr lang="ja-JP" altLang="en-US" dirty="0"/>
              <a:t>がいない時、入れるという処理をしています。また、右の図のように</a:t>
            </a:r>
            <a:r>
              <a:rPr lang="en-US" altLang="ja-JP" dirty="0"/>
              <a:t>Synchronized</a:t>
            </a:r>
            <a:r>
              <a:rPr lang="ja-JP" altLang="en-US" dirty="0"/>
              <a:t>が</a:t>
            </a:r>
            <a:r>
              <a:rPr lang="en-US" altLang="ja-JP" dirty="0"/>
              <a:t>2</a:t>
            </a:r>
            <a:r>
              <a:rPr lang="ja-JP" altLang="en-US" dirty="0"/>
              <a:t>重になっていて、同じ</a:t>
            </a:r>
            <a:r>
              <a:rPr lang="en-US" altLang="ja-JP" dirty="0"/>
              <a:t>lock</a:t>
            </a:r>
            <a:r>
              <a:rPr lang="ja-JP" altLang="en-US" dirty="0"/>
              <a:t>オブジェクトを使用している時、外側の</a:t>
            </a:r>
            <a:r>
              <a:rPr lang="en-US" altLang="ja-JP" dirty="0"/>
              <a:t>lock</a:t>
            </a:r>
            <a:r>
              <a:rPr lang="ja-JP" altLang="en-US" dirty="0"/>
              <a:t>取得には</a:t>
            </a:r>
            <a:r>
              <a:rPr lang="ja-JP" altLang="ja-JP" dirty="0"/>
              <a:t>ロック未取得状態</a:t>
            </a:r>
            <a:r>
              <a:rPr lang="ja-JP" altLang="en-US" dirty="0"/>
              <a:t>の時、</a:t>
            </a:r>
            <a:r>
              <a:rPr lang="en-US" altLang="ja-JP" dirty="0"/>
              <a:t>Owner</a:t>
            </a:r>
            <a:r>
              <a:rPr lang="ja-JP" altLang="en-US" dirty="0"/>
              <a:t>がいないのでスレッドは処理通過できますが、内側の</a:t>
            </a:r>
            <a:r>
              <a:rPr lang="en-US" altLang="ja-JP" dirty="0"/>
              <a:t>Synchronized</a:t>
            </a:r>
            <a:r>
              <a:rPr lang="ja-JP" altLang="en-US" dirty="0"/>
              <a:t>に来た際、同じ</a:t>
            </a:r>
            <a:r>
              <a:rPr lang="en-US" altLang="ja-JP" dirty="0"/>
              <a:t>lock</a:t>
            </a:r>
            <a:r>
              <a:rPr lang="ja-JP" altLang="en-US" dirty="0"/>
              <a:t>オブジェクトを使用しているため</a:t>
            </a:r>
            <a:r>
              <a:rPr lang="en-US" altLang="ja-JP" dirty="0"/>
              <a:t>Owner</a:t>
            </a:r>
            <a:r>
              <a:rPr lang="ja-JP" altLang="en-US" dirty="0"/>
              <a:t>がいるため取得できないと思いますが、その時、取得している</a:t>
            </a:r>
            <a:r>
              <a:rPr lang="en-US" altLang="ja-JP" dirty="0"/>
              <a:t>Owner</a:t>
            </a:r>
            <a:r>
              <a:rPr lang="ja-JP" altLang="en-US" dirty="0"/>
              <a:t>が自分自身であるとき、左の図のように入ることができ、</a:t>
            </a:r>
            <a:r>
              <a:rPr lang="en-US" altLang="ja-JP" dirty="0"/>
              <a:t>Entry</a:t>
            </a:r>
            <a:r>
              <a:rPr lang="ja-JP" altLang="en-US" dirty="0"/>
              <a:t> </a:t>
            </a:r>
            <a:r>
              <a:rPr lang="en-US" altLang="ja-JP" dirty="0"/>
              <a:t>Count</a:t>
            </a:r>
            <a:r>
              <a:rPr lang="ja-JP" altLang="en-US" dirty="0"/>
              <a:t>が＋されます。つまり２になりますね。</a:t>
            </a:r>
            <a:r>
              <a:rPr lang="en-US" altLang="ja-JP" dirty="0"/>
              <a:t>Lock</a:t>
            </a:r>
            <a:r>
              <a:rPr lang="ja-JP" altLang="en-US" dirty="0"/>
              <a:t>オブジェクトを何回占有したかですから。</a:t>
            </a:r>
            <a:br>
              <a:rPr lang="en-US" altLang="ja-JP" dirty="0"/>
            </a:br>
            <a:r>
              <a:rPr lang="ja-JP" altLang="en-US" dirty="0"/>
              <a:t>質問あれば答えます。ご清聴ありがとうございました。</a:t>
            </a:r>
            <a:endParaRPr lang="ja-JP" altLang="ja-JP" dirty="0"/>
          </a:p>
        </p:txBody>
      </p:sp>
      <p:sp>
        <p:nvSpPr>
          <p:cNvPr id="4" name="スライド番号プレースホルダー 3">
            <a:extLst>
              <a:ext uri="{FF2B5EF4-FFF2-40B4-BE49-F238E27FC236}">
                <a16:creationId xmlns:a16="http://schemas.microsoft.com/office/drawing/2014/main" id="{51FF2C07-DDC3-72E6-AB59-9727092410D5}"/>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9</a:t>
            </a:fld>
            <a:endParaRPr lang="ja-JP" dirty="0"/>
          </a:p>
        </p:txBody>
      </p:sp>
    </p:spTree>
    <p:extLst>
      <p:ext uri="{BB962C8B-B14F-4D97-AF65-F5344CB8AC3E}">
        <p14:creationId xmlns:p14="http://schemas.microsoft.com/office/powerpoint/2010/main" val="788940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議題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ltLang="en-US" noProof="0" dirty="0"/>
              <a:t>クリックしてコンテンツを追加</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画像">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6642169" y="-1"/>
            <a:ext cx="4635426" cy="6857999"/>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サブタイトル">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915600" y="0"/>
            <a:ext cx="10361995" cy="3429000"/>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ja-JP" sz="2000" spc="0" baseline="0">
                <a:solidFill>
                  <a:schemeClr val="tx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のタイトル">
    <p:bg>
      <p:bgPr>
        <a:solidFill>
          <a:schemeClr val="accent6"/>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ja-JP">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5" name="長方形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6" name="長方形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テキスト プレースホルダー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ja-JP" sz="2000" spc="0" baseline="0">
                <a:solidFill>
                  <a:schemeClr val="bg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4" name="コンテンツ プレースホルダー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ja-JP" sz="2000">
                <a:latin typeface="Meiryo UI" panose="020B0604030504040204" pitchFamily="50" charset="-128"/>
                <a:ea typeface="Meiryo UI" panose="020B0604030504040204" pitchFamily="50" charset="-128"/>
              </a:defRPr>
            </a:lvl1pPr>
            <a:lvl2pPr marL="457200" indent="-320040">
              <a:lnSpc>
                <a:spcPct val="100000"/>
              </a:lnSpc>
              <a:spcBef>
                <a:spcPts val="1000"/>
              </a:spcBef>
              <a:spcAft>
                <a:spcPts val="1200"/>
              </a:spcAft>
              <a:buFont typeface="+mj-lt"/>
              <a:buAutoNum type="alphaLcPeriod"/>
              <a:defRPr lang="ja-JP" sz="2000">
                <a:latin typeface="Meiryo UI" panose="020B0604030504040204" pitchFamily="50" charset="-128"/>
                <a:ea typeface="Meiryo UI" panose="020B0604030504040204" pitchFamily="50" charset="-128"/>
              </a:defRPr>
            </a:lvl2pPr>
            <a:lvl3pPr marL="914400" indent="-320040">
              <a:spcBef>
                <a:spcPts val="1000"/>
              </a:spcBef>
              <a:spcAft>
                <a:spcPts val="1200"/>
              </a:spcAft>
              <a:buFont typeface="+mj-lt"/>
              <a:buAutoNum type="arabicParenR"/>
              <a:defRPr lang="ja-JP" sz="2000">
                <a:latin typeface="Meiryo UI" panose="020B0604030504040204" pitchFamily="50" charset="-128"/>
                <a:ea typeface="Meiryo UI" panose="020B0604030504040204" pitchFamily="50" charset="-128"/>
              </a:defRPr>
            </a:lvl3pPr>
            <a:lvl4pPr marL="1371600" indent="-320040">
              <a:spcBef>
                <a:spcPts val="1000"/>
              </a:spcBef>
              <a:spcAft>
                <a:spcPts val="1200"/>
              </a:spcAft>
              <a:buFont typeface="+mj-lt"/>
              <a:buAutoNum type="alphaLcParenR"/>
              <a:defRPr lang="ja-JP" sz="2000">
                <a:latin typeface="Meiryo UI" panose="020B0604030504040204" pitchFamily="50" charset="-128"/>
                <a:ea typeface="Meiryo UI" panose="020B0604030504040204" pitchFamily="50" charset="-128"/>
              </a:defRPr>
            </a:lvl4pPr>
            <a:lvl5pPr marL="1828800" indent="-320040">
              <a:spcBef>
                <a:spcPts val="1000"/>
              </a:spcBef>
              <a:spcAft>
                <a:spcPts val="1200"/>
              </a:spcAft>
              <a:buFont typeface="+mj-lt"/>
              <a:buAutoNum type="romanLcPeriod"/>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画像とコンテンツ">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図プレースホルダー 7">
            <a:extLst>
              <a:ext uri="{FF2B5EF4-FFF2-40B4-BE49-F238E27FC236}">
                <a16:creationId xmlns:a16="http://schemas.microsoft.com/office/drawing/2014/main" id="{357912CB-B8F8-1E65-094F-AD3220E6C79C}"/>
              </a:ext>
            </a:extLst>
          </p:cNvPr>
          <p:cNvSpPr>
            <a:spLocks noGrp="1"/>
          </p:cNvSpPr>
          <p:nvPr>
            <p:ph type="pic" sz="quarter" idx="12" hasCustomPrompt="1"/>
          </p:nvPr>
        </p:nvSpPr>
        <p:spPr>
          <a:xfrm>
            <a:off x="1503363" y="2061969"/>
            <a:ext cx="4592637" cy="4805362"/>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コンテンツ、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4" name="表プレースホルダー 13">
            <a:extLst>
              <a:ext uri="{FF2B5EF4-FFF2-40B4-BE49-F238E27FC236}">
                <a16:creationId xmlns:a16="http://schemas.microsoft.com/office/drawing/2014/main" id="{EA708189-1532-1BDD-104F-4D8556146CEE}"/>
              </a:ext>
            </a:extLst>
          </p:cNvPr>
          <p:cNvSpPr>
            <a:spLocks noGrp="1"/>
          </p:cNvSpPr>
          <p:nvPr>
            <p:ph type="tbl" sz="quarter" idx="12" hasCustomPrompt="1"/>
          </p:nvPr>
        </p:nvSpPr>
        <p:spPr>
          <a:xfrm>
            <a:off x="5097463" y="2051976"/>
            <a:ext cx="6180137" cy="3867538"/>
          </a:xfrm>
        </p:spPr>
        <p:txBody>
          <a:bodyPr rtlCol="0">
            <a:normAutofit/>
          </a:bodyPr>
          <a:lstStyle>
            <a:lvl1pPr>
              <a:defRPr lang="ja-JP" sz="2000">
                <a:latin typeface="Meiryo UI" panose="020B0604030504040204" pitchFamily="50" charset="-128"/>
                <a:ea typeface="Meiryo UI" panose="020B0604030504040204" pitchFamily="50" charset="-128"/>
              </a:defRPr>
            </a:lvl1pPr>
          </a:lstStyle>
          <a:p>
            <a:pPr rtl="0"/>
            <a:r>
              <a:rPr lang="ja-JP"/>
              <a:t>アイコンをクリックして表を追加</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スライド番号プレースホルダー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コンテンツ プレースホルダー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ja-JP" sz="2000">
                <a:latin typeface="Meiryo UI" panose="020B0604030504040204" pitchFamily="50" charset="-128"/>
                <a:ea typeface="Meiryo UI" panose="020B0604030504040204" pitchFamily="50" charset="-128"/>
              </a:defRPr>
            </a:lvl1pPr>
            <a:lvl2pPr>
              <a:lnSpc>
                <a:spcPct val="100000"/>
              </a:lnSpc>
              <a:spcAft>
                <a:spcPts val="600"/>
              </a:spcAft>
              <a:defRPr lang="ja-JP" sz="2000">
                <a:latin typeface="Meiryo UI" panose="020B0604030504040204" pitchFamily="50" charset="-128"/>
                <a:ea typeface="Meiryo UI" panose="020B0604030504040204" pitchFamily="50" charset="-128"/>
              </a:defRPr>
            </a:lvl2pPr>
            <a:lvl3pPr>
              <a:lnSpc>
                <a:spcPct val="100000"/>
              </a:lnSpc>
              <a:spcBef>
                <a:spcPts val="1000"/>
              </a:spcBef>
              <a:spcAft>
                <a:spcPts val="600"/>
              </a:spcAft>
              <a:defRPr lang="ja-JP" sz="2000">
                <a:latin typeface="Meiryo UI" panose="020B0604030504040204" pitchFamily="50" charset="-128"/>
                <a:ea typeface="Meiryo UI" panose="020B0604030504040204" pitchFamily="50" charset="-128"/>
              </a:defRPr>
            </a:lvl3pPr>
            <a:lvl4pPr>
              <a:lnSpc>
                <a:spcPct val="100000"/>
              </a:lnSpc>
              <a:spcAft>
                <a:spcPts val="1200"/>
              </a:spcAft>
              <a:defRPr lang="ja-JP" sz="2000">
                <a:latin typeface="Meiryo UI" panose="020B0604030504040204" pitchFamily="50" charset="-128"/>
                <a:ea typeface="Meiryo UI" panose="020B0604030504040204" pitchFamily="50" charset="-128"/>
              </a:defRPr>
            </a:lvl4pPr>
            <a:lvl5pP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1" name="コンテンツ プレースホルダー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Aft>
                <a:spcPts val="6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トルと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9" name="表プレースホルダー 8">
            <a:extLst>
              <a:ext uri="{FF2B5EF4-FFF2-40B4-BE49-F238E27FC236}">
                <a16:creationId xmlns:a16="http://schemas.microsoft.com/office/drawing/2014/main" id="{CB43608F-0A38-CF4A-4B3B-F1212E786FDE}"/>
              </a:ext>
            </a:extLst>
          </p:cNvPr>
          <p:cNvSpPr>
            <a:spLocks noGrp="1"/>
          </p:cNvSpPr>
          <p:nvPr>
            <p:ph type="tbl" sz="quarter" idx="10" hasCustomPrompt="1"/>
          </p:nvPr>
        </p:nvSpPr>
        <p:spPr>
          <a:xfrm>
            <a:off x="1487488" y="2057400"/>
            <a:ext cx="9790112" cy="3886200"/>
          </a:xfrm>
        </p:spPr>
        <p:txBody>
          <a:bodyPr rtlCol="0">
            <a:normAutofit/>
          </a:bodyPr>
          <a:lstStyle>
            <a:lvl1pPr>
              <a:defRPr lang="ja-JP" sz="2400">
                <a:latin typeface="Meiryo UI" panose="020B0604030504040204" pitchFamily="50" charset="-128"/>
                <a:ea typeface="Meiryo UI" panose="020B0604030504040204" pitchFamily="50" charset="-128"/>
              </a:defRPr>
            </a:lvl1pPr>
          </a:lstStyle>
          <a:p>
            <a:pPr rtl="0"/>
            <a:r>
              <a:rPr lang="ja-JP" altLang="en-US" noProof="0" dirty="0"/>
              <a:t>アイコンをクリックして表を追加</a:t>
            </a:r>
          </a:p>
        </p:txBody>
      </p:sp>
      <p:sp>
        <p:nvSpPr>
          <p:cNvPr id="2" name="スライド番号プレースホルダー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ありがとうございます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0" name="コンテンツ プレースホルダー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ja-JP" sz="2000">
                <a:solidFill>
                  <a:schemeClr val="bg1"/>
                </a:solidFill>
                <a:latin typeface="Meiryo UI" panose="020B0604030504040204" pitchFamily="50" charset="-128"/>
                <a:ea typeface="Meiryo UI" panose="020B0604030504040204" pitchFamily="50" charset="-128"/>
              </a:defRPr>
            </a:lvl1pPr>
            <a:lvl2pPr marL="742950" indent="-285750">
              <a:lnSpc>
                <a:spcPct val="100000"/>
              </a:lnSpc>
              <a:spcBef>
                <a:spcPts val="0"/>
              </a:spcBef>
              <a:spcAft>
                <a:spcPts val="1200"/>
              </a:spcAft>
              <a:buFont typeface="Arial" panose="020B0604020202020204" pitchFamily="34" charset="0"/>
              <a:buChar char="•"/>
              <a:defRPr lang="ja-JP" sz="1800">
                <a:solidFill>
                  <a:schemeClr val="bg1"/>
                </a:solidFill>
                <a:latin typeface="Meiryo UI" panose="020B0604030504040204" pitchFamily="50" charset="-128"/>
                <a:ea typeface="Meiryo UI" panose="020B0604030504040204" pitchFamily="50" charset="-128"/>
              </a:defRPr>
            </a:lvl2pPr>
            <a:lvl3pPr marL="1200150" indent="-285750">
              <a:lnSpc>
                <a:spcPct val="100000"/>
              </a:lnSpc>
              <a:spcBef>
                <a:spcPts val="0"/>
              </a:spcBef>
              <a:spcAft>
                <a:spcPts val="1200"/>
              </a:spcAft>
              <a:buFont typeface="Arial" panose="020B0604020202020204" pitchFamily="34" charset="0"/>
              <a:buChar char="•"/>
              <a:defRPr lang="ja-JP" sz="1600">
                <a:solidFill>
                  <a:schemeClr val="bg1"/>
                </a:solidFill>
                <a:latin typeface="Meiryo UI" panose="020B0604030504040204" pitchFamily="50" charset="-128"/>
                <a:ea typeface="Meiryo UI" panose="020B0604030504040204" pitchFamily="50" charset="-128"/>
              </a:defRPr>
            </a:lvl3pPr>
            <a:lvl4pPr marL="16573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4pPr>
            <a:lvl5pPr marL="21145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ja-JP"/>
            </a:defPPr>
          </a:lstStyle>
          <a:p>
            <a:pPr rtl="0"/>
            <a:r>
              <a:rPr lang="ja-JP" dirty="0"/>
              <a:t>マスター タイトルの書式設定</a:t>
            </a:r>
          </a:p>
        </p:txBody>
      </p:sp>
      <p:sp>
        <p:nvSpPr>
          <p:cNvPr id="3" name="テキスト プレースホルダー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4" name="日付プレースホルダー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5" name="フッター プレースホルダー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ja-JP" sz="1200" b="1" spc="150" baseline="0">
                <a:solidFill>
                  <a:schemeClr val="tx1"/>
                </a:solidFill>
                <a:latin typeface="Meiryo UI" panose="020B0604030504040204" pitchFamily="50" charset="-128"/>
                <a:ea typeface="Meiryo UI" panose="020B0604030504040204" pitchFamily="50" charset="-128"/>
                <a:cs typeface="+mn-cs"/>
              </a:defRPr>
            </a:lvl1pPr>
          </a:lstStyle>
          <a:p>
            <a:fld id="{18D65601-5AE2-46FC-B138-694DDD2B510D}"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kumimoji="1" lang="ja-JP"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lang="ja-JP"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lang="ja-JP"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lang="ja-JP"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9pPr>
    </p:bodyStyle>
    <p:otherStyle>
      <a:defPPr>
        <a:defRPr lang="ja-JP"/>
      </a:defPPr>
      <a:lvl1pPr marL="0" algn="l" defTabSz="914400" rtl="0" eaLnBrk="1" latinLnBrk="0" hangingPunct="1">
        <a:defRPr kumimoji="1" lang="ja-JP" sz="1800" kern="1200">
          <a:solidFill>
            <a:schemeClr val="tx1"/>
          </a:solidFill>
          <a:latin typeface="+mn-cs"/>
          <a:ea typeface="+mn-ea"/>
          <a:cs typeface="+mn-cs"/>
        </a:defRPr>
      </a:lvl1pPr>
      <a:lvl2pPr marL="457200" algn="l" defTabSz="914400" rtl="0" eaLnBrk="1" latinLnBrk="0" hangingPunct="1">
        <a:defRPr kumimoji="1" lang="ja-JP" sz="1800" kern="1200">
          <a:solidFill>
            <a:schemeClr val="tx1"/>
          </a:solidFill>
          <a:latin typeface="+mn-cs"/>
          <a:ea typeface="+mn-ea"/>
          <a:cs typeface="+mn-cs"/>
        </a:defRPr>
      </a:lvl2pPr>
      <a:lvl3pPr marL="914400" algn="l" defTabSz="914400" rtl="0" eaLnBrk="1" latinLnBrk="0" hangingPunct="1">
        <a:defRPr kumimoji="1" lang="ja-JP" sz="1800" kern="1200">
          <a:solidFill>
            <a:schemeClr val="tx1"/>
          </a:solidFill>
          <a:latin typeface="+mn-cs"/>
          <a:ea typeface="+mn-ea"/>
          <a:cs typeface="+mn-cs"/>
        </a:defRPr>
      </a:lvl3pPr>
      <a:lvl4pPr marL="1371600" algn="l" defTabSz="914400" rtl="0" eaLnBrk="1" latinLnBrk="0" hangingPunct="1">
        <a:defRPr kumimoji="1" lang="ja-JP" sz="1800" kern="1200">
          <a:solidFill>
            <a:schemeClr val="tx1"/>
          </a:solidFill>
          <a:latin typeface="+mn-cs"/>
          <a:ea typeface="+mn-ea"/>
          <a:cs typeface="+mn-cs"/>
        </a:defRPr>
      </a:lvl4pPr>
      <a:lvl5pPr marL="1828800" algn="l" defTabSz="914400" rtl="0" eaLnBrk="1" latinLnBrk="0" hangingPunct="1">
        <a:defRPr kumimoji="1" lang="ja-JP" sz="1800" kern="1200">
          <a:solidFill>
            <a:schemeClr val="tx1"/>
          </a:solidFill>
          <a:latin typeface="+mn-cs"/>
          <a:ea typeface="+mn-ea"/>
          <a:cs typeface="+mn-cs"/>
        </a:defRPr>
      </a:lvl5pPr>
      <a:lvl6pPr marL="2286000" algn="l" defTabSz="914400" rtl="0" eaLnBrk="1" latinLnBrk="0" hangingPunct="1">
        <a:defRPr kumimoji="1" lang="ja-JP" sz="1800" kern="1200">
          <a:solidFill>
            <a:schemeClr val="tx1"/>
          </a:solidFill>
          <a:latin typeface="+mn-cs"/>
          <a:ea typeface="+mn-ea"/>
          <a:cs typeface="+mn-cs"/>
        </a:defRPr>
      </a:lvl6pPr>
      <a:lvl7pPr marL="2743200" algn="l" defTabSz="914400" rtl="0" eaLnBrk="1" latinLnBrk="0" hangingPunct="1">
        <a:defRPr kumimoji="1" lang="ja-JP" sz="1800" kern="1200">
          <a:solidFill>
            <a:schemeClr val="tx1"/>
          </a:solidFill>
          <a:latin typeface="+mn-cs"/>
          <a:ea typeface="+mn-ea"/>
          <a:cs typeface="+mn-cs"/>
        </a:defRPr>
      </a:lvl7pPr>
      <a:lvl8pPr marL="3200400" algn="l" defTabSz="914400" rtl="0" eaLnBrk="1" latinLnBrk="0" hangingPunct="1">
        <a:defRPr kumimoji="1" lang="ja-JP" sz="1800" kern="1200">
          <a:solidFill>
            <a:schemeClr val="tx1"/>
          </a:solidFill>
          <a:latin typeface="+mn-cs"/>
          <a:ea typeface="+mn-ea"/>
          <a:cs typeface="+mn-cs"/>
        </a:defRPr>
      </a:lvl8pPr>
      <a:lvl9pPr marL="3657600" algn="l" defTabSz="914400" rtl="0" eaLnBrk="1" latinLnBrk="0" hangingPunct="1">
        <a:defRPr kumimoji="1" lang="ja-JP" sz="1800"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454C9E-20FB-B999-9303-C71D1334BAD7}"/>
              </a:ext>
            </a:extLst>
          </p:cNvPr>
          <p:cNvSpPr>
            <a:spLocks noGrp="1"/>
          </p:cNvSpPr>
          <p:nvPr>
            <p:ph type="title"/>
          </p:nvPr>
        </p:nvSpPr>
        <p:spPr>
          <a:xfrm>
            <a:off x="1285717" y="1179609"/>
            <a:ext cx="10449083" cy="1339702"/>
          </a:xfrm>
        </p:spPr>
        <p:txBody>
          <a:bodyPr rtlCol="0">
            <a:normAutofit/>
          </a:bodyPr>
          <a:lstStyle>
            <a:defPPr>
              <a:defRPr lang="ja-JP"/>
            </a:defPPr>
          </a:lstStyle>
          <a:p>
            <a:r>
              <a:rPr lang="en-US" altLang="ja-JP" sz="5400" dirty="0"/>
              <a:t>Synchronized</a:t>
            </a:r>
            <a:r>
              <a:rPr lang="ja-JP" altLang="en-US" sz="5400" dirty="0"/>
              <a:t>メソッドとは何か？</a:t>
            </a:r>
            <a:endParaRPr lang="ja-JP" sz="5400" dirty="0"/>
          </a:p>
        </p:txBody>
      </p:sp>
      <p:sp>
        <p:nvSpPr>
          <p:cNvPr id="3" name="タイトル 1">
            <a:extLst>
              <a:ext uri="{FF2B5EF4-FFF2-40B4-BE49-F238E27FC236}">
                <a16:creationId xmlns:a16="http://schemas.microsoft.com/office/drawing/2014/main" id="{A6933A07-0890-16F1-638A-FE224068FDC5}"/>
              </a:ext>
            </a:extLst>
          </p:cNvPr>
          <p:cNvSpPr txBox="1">
            <a:spLocks/>
          </p:cNvSpPr>
          <p:nvPr/>
        </p:nvSpPr>
        <p:spPr>
          <a:xfrm>
            <a:off x="1285717" y="4646428"/>
            <a:ext cx="10186813" cy="1339701"/>
          </a:xfrm>
          <a:prstGeom prst="rect">
            <a:avLst/>
          </a:prstGeom>
        </p:spPr>
        <p:txBody>
          <a:bodyPr vert="horz" lIns="91440" tIns="45720" rIns="91440" bIns="45720" rtlCol="0" anchor="b">
            <a:normAutofit fontScale="97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gn="r"/>
            <a:r>
              <a:rPr lang="ja-JP" altLang="en-US" sz="3200" dirty="0"/>
              <a:t>博士前期課程</a:t>
            </a:r>
            <a:br>
              <a:rPr lang="en-US" altLang="ja-JP" sz="3200" dirty="0"/>
            </a:br>
            <a:r>
              <a:rPr lang="ja-JP" altLang="en-US" sz="3200" dirty="0"/>
              <a:t>　大学院</a:t>
            </a:r>
            <a:r>
              <a:rPr lang="en-US" altLang="ja-JP" sz="3200" dirty="0"/>
              <a:t>1</a:t>
            </a:r>
            <a:r>
              <a:rPr lang="ja-JP" altLang="en-US" sz="3200" dirty="0"/>
              <a:t>年 　西村和真</a:t>
            </a:r>
          </a:p>
          <a:p>
            <a:pPr algn="r"/>
            <a:endParaRPr lang="ja-JP" altLang="en-US" sz="3200"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3473-7A3B-FD72-B3D9-1D89822015B9}"/>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64B93643-D887-149C-E846-401055890879}"/>
              </a:ext>
            </a:extLst>
          </p:cNvPr>
          <p:cNvSpPr txBox="1"/>
          <p:nvPr/>
        </p:nvSpPr>
        <p:spPr>
          <a:xfrm>
            <a:off x="1073933" y="134308"/>
            <a:ext cx="6391579" cy="769441"/>
          </a:xfrm>
          <a:prstGeom prst="rect">
            <a:avLst/>
          </a:prstGeom>
          <a:noFill/>
        </p:spPr>
        <p:txBody>
          <a:bodyPr wrap="square">
            <a:spAutoFit/>
          </a:bodyPr>
          <a:lstStyle/>
          <a:p>
            <a:pPr lvl="0">
              <a:defRPr/>
            </a:pPr>
            <a:r>
              <a:rPr kumimoji="1" lang="en-US" altLang="ja-JP" sz="4400" dirty="0">
                <a:solidFill>
                  <a:schemeClr val="bg1"/>
                </a:solidFill>
                <a:latin typeface="Meiryo UI" panose="020B0604030504040204" pitchFamily="50" charset="-128"/>
                <a:ea typeface="Meiryo UI" panose="020B0604030504040204" pitchFamily="50" charset="-128"/>
                <a:cs typeface="+mj-cs"/>
              </a:rPr>
              <a:t>Synchronized</a:t>
            </a:r>
            <a:r>
              <a:rPr kumimoji="1" lang="ja-JP" altLang="en-US" sz="4400" dirty="0">
                <a:solidFill>
                  <a:schemeClr val="bg1"/>
                </a:solidFill>
                <a:latin typeface="Meiryo UI" panose="020B0604030504040204" pitchFamily="50" charset="-128"/>
                <a:ea typeface="Meiryo UI" panose="020B0604030504040204" pitchFamily="50" charset="-128"/>
                <a:cs typeface="+mj-cs"/>
              </a:rPr>
              <a:t>とは</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2" name="テキスト ボックス 1">
            <a:extLst>
              <a:ext uri="{FF2B5EF4-FFF2-40B4-BE49-F238E27FC236}">
                <a16:creationId xmlns:a16="http://schemas.microsoft.com/office/drawing/2014/main" id="{011F558D-50A9-61F0-F408-8CD15787565E}"/>
              </a:ext>
            </a:extLst>
          </p:cNvPr>
          <p:cNvSpPr txBox="1"/>
          <p:nvPr/>
        </p:nvSpPr>
        <p:spPr>
          <a:xfrm>
            <a:off x="1370346" y="1580858"/>
            <a:ext cx="10253807" cy="2708434"/>
          </a:xfrm>
          <a:prstGeom prst="rect">
            <a:avLst/>
          </a:prstGeom>
          <a:noFill/>
        </p:spPr>
        <p:txBody>
          <a:bodyPr wrap="square">
            <a:spAutoFit/>
          </a:bodyPr>
          <a:lstStyle/>
          <a:p>
            <a:pPr>
              <a:spcAft>
                <a:spcPts val="1200"/>
              </a:spcAft>
            </a:pPr>
            <a:r>
              <a:rPr lang="ja-JP" altLang="en-US" sz="2800" dirty="0">
                <a:solidFill>
                  <a:schemeClr val="bg1"/>
                </a:solidFill>
              </a:rPr>
              <a:t>何か？</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ja-JP" sz="2800" dirty="0">
                <a:solidFill>
                  <a:schemeClr val="bg1"/>
                </a:solidFill>
              </a:rPr>
              <a:t>メソッド（処理のまとまり）</a:t>
            </a:r>
            <a:r>
              <a:rPr lang="ja-JP" altLang="en-US" sz="2800" dirty="0">
                <a:solidFill>
                  <a:schemeClr val="bg1"/>
                </a:solidFill>
              </a:rPr>
              <a:t>に着けることで</a:t>
            </a:r>
            <a:r>
              <a:rPr lang="ja-JP" altLang="ja-JP" sz="2800" dirty="0">
                <a:solidFill>
                  <a:schemeClr val="bg1"/>
                </a:solidFill>
              </a:rPr>
              <a:t>そのメソッド全体を「カギのかかった部屋」にできる仕組み</a:t>
            </a:r>
            <a:endParaRPr lang="en-US" altLang="ja-JP" sz="2800" dirty="0">
              <a:solidFill>
                <a:schemeClr val="bg1"/>
              </a:solidFill>
            </a:endParaRPr>
          </a:p>
          <a:p>
            <a:pPr>
              <a:spcAft>
                <a:spcPts val="1200"/>
              </a:spcAft>
            </a:pPr>
            <a:r>
              <a:rPr lang="ja-JP" altLang="en-US" sz="2800" dirty="0">
                <a:solidFill>
                  <a:schemeClr val="bg1"/>
                </a:solidFill>
              </a:rPr>
              <a:t>特徴</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en-US" sz="2800" dirty="0">
                <a:solidFill>
                  <a:schemeClr val="bg1"/>
                </a:solidFill>
              </a:rPr>
              <a:t>生成されたオブジェクト自身専用の鍵を使用して部屋をロックする</a:t>
            </a:r>
            <a:endParaRPr lang="en-US" altLang="ja-JP" sz="2800" dirty="0">
              <a:solidFill>
                <a:schemeClr val="bg1"/>
              </a:solidFill>
            </a:endParaRPr>
          </a:p>
        </p:txBody>
      </p:sp>
    </p:spTree>
    <p:extLst>
      <p:ext uri="{BB962C8B-B14F-4D97-AF65-F5344CB8AC3E}">
        <p14:creationId xmlns:p14="http://schemas.microsoft.com/office/powerpoint/2010/main" val="3274850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E9D22-AA88-C120-184B-97E88A4DF540}"/>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0236E5C5-D4B5-46BD-7EB7-E40C7B731B8C}"/>
              </a:ext>
            </a:extLst>
          </p:cNvPr>
          <p:cNvSpPr txBox="1"/>
          <p:nvPr/>
        </p:nvSpPr>
        <p:spPr>
          <a:xfrm>
            <a:off x="1073933" y="134308"/>
            <a:ext cx="800743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前提</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3" name="テキスト ボックス 2">
            <a:extLst>
              <a:ext uri="{FF2B5EF4-FFF2-40B4-BE49-F238E27FC236}">
                <a16:creationId xmlns:a16="http://schemas.microsoft.com/office/drawing/2014/main" id="{FBBDBD85-2692-4115-E051-1FB6EEDE4223}"/>
              </a:ext>
            </a:extLst>
          </p:cNvPr>
          <p:cNvSpPr txBox="1"/>
          <p:nvPr/>
        </p:nvSpPr>
        <p:spPr>
          <a:xfrm>
            <a:off x="1390389" y="1127342"/>
            <a:ext cx="10346499" cy="1692771"/>
          </a:xfrm>
          <a:prstGeom prst="rect">
            <a:avLst/>
          </a:prstGeom>
          <a:noFill/>
        </p:spPr>
        <p:txBody>
          <a:bodyPr wrap="square" rtlCol="0">
            <a:spAutoFit/>
          </a:bodyPr>
          <a:lstStyle/>
          <a:p>
            <a:pPr>
              <a:spcAft>
                <a:spcPts val="1200"/>
              </a:spcAft>
            </a:pPr>
            <a:r>
              <a:rPr kumimoji="1" lang="en-US" altLang="ja-JP" sz="2800" b="1" dirty="0">
                <a:solidFill>
                  <a:schemeClr val="bg1"/>
                </a:solidFill>
              </a:rPr>
              <a:t>Java</a:t>
            </a:r>
          </a:p>
          <a:p>
            <a:pPr>
              <a:spcAft>
                <a:spcPts val="1200"/>
              </a:spcAft>
            </a:pPr>
            <a:r>
              <a:rPr kumimoji="1" lang="en-US" altLang="ja-JP" sz="2800" b="1" dirty="0">
                <a:solidFill>
                  <a:schemeClr val="bg1"/>
                </a:solidFill>
              </a:rPr>
              <a:t>	</a:t>
            </a:r>
            <a:r>
              <a:rPr kumimoji="1" lang="ja-JP" altLang="en-US" sz="2800" b="1" dirty="0">
                <a:solidFill>
                  <a:schemeClr val="bg1"/>
                </a:solidFill>
              </a:rPr>
              <a:t>作られた全てのオブジェクトには生まれながらにして自身専用の</a:t>
            </a:r>
            <a:endParaRPr kumimoji="1" lang="en-US" altLang="ja-JP" sz="2800" b="1" dirty="0">
              <a:solidFill>
                <a:schemeClr val="bg1"/>
              </a:solidFill>
            </a:endParaRPr>
          </a:p>
          <a:p>
            <a:pPr>
              <a:spcAft>
                <a:spcPts val="1200"/>
              </a:spcAft>
            </a:pPr>
            <a:r>
              <a:rPr kumimoji="1" lang="ja-JP" altLang="en-US" sz="2800" b="1" dirty="0">
                <a:solidFill>
                  <a:schemeClr val="bg1"/>
                </a:solidFill>
              </a:rPr>
              <a:t>　　　　鍵を持っている。（カギは</a:t>
            </a:r>
            <a:r>
              <a:rPr kumimoji="1" lang="en-US" altLang="ja-JP" sz="2800" b="1" dirty="0">
                <a:solidFill>
                  <a:schemeClr val="bg1"/>
                </a:solidFill>
              </a:rPr>
              <a:t>Monitor</a:t>
            </a:r>
            <a:r>
              <a:rPr kumimoji="1" lang="ja-JP" altLang="en-US" sz="2800" b="1" dirty="0">
                <a:solidFill>
                  <a:schemeClr val="bg1"/>
                </a:solidFill>
              </a:rPr>
              <a:t>のこと。余談にて。）</a:t>
            </a:r>
            <a:endParaRPr kumimoji="1" lang="ja-JP" altLang="en-US" dirty="0">
              <a:solidFill>
                <a:schemeClr val="bg1"/>
              </a:solidFill>
            </a:endParaRPr>
          </a:p>
        </p:txBody>
      </p:sp>
      <p:sp>
        <p:nvSpPr>
          <p:cNvPr id="2" name="テキスト ボックス 1">
            <a:extLst>
              <a:ext uri="{FF2B5EF4-FFF2-40B4-BE49-F238E27FC236}">
                <a16:creationId xmlns:a16="http://schemas.microsoft.com/office/drawing/2014/main" id="{013BA3CF-612D-0532-71AD-25AAA8AFC6F8}"/>
              </a:ext>
            </a:extLst>
          </p:cNvPr>
          <p:cNvSpPr txBox="1"/>
          <p:nvPr/>
        </p:nvSpPr>
        <p:spPr>
          <a:xfrm>
            <a:off x="1390388" y="3514668"/>
            <a:ext cx="10346499" cy="523220"/>
          </a:xfrm>
          <a:prstGeom prst="rect">
            <a:avLst/>
          </a:prstGeom>
          <a:noFill/>
        </p:spPr>
        <p:txBody>
          <a:bodyPr wrap="square" rtlCol="0">
            <a:spAutoFit/>
          </a:bodyPr>
          <a:lstStyle/>
          <a:p>
            <a:pPr>
              <a:spcAft>
                <a:spcPts val="1200"/>
              </a:spcAft>
            </a:pPr>
            <a:r>
              <a:rPr kumimoji="1" lang="ja-JP" altLang="en-US" sz="2800" b="1" dirty="0">
                <a:solidFill>
                  <a:schemeClr val="bg1"/>
                </a:solidFill>
              </a:rPr>
              <a:t>その性質を利用し、一度だけ生成したオブジェクトを　「鍵」として扱う</a:t>
            </a:r>
            <a:endParaRPr kumimoji="1" lang="en-US" altLang="ja-JP" sz="2800" b="1" dirty="0">
              <a:solidFill>
                <a:schemeClr val="bg1"/>
              </a:solidFill>
            </a:endParaRPr>
          </a:p>
        </p:txBody>
      </p:sp>
      <p:sp>
        <p:nvSpPr>
          <p:cNvPr id="5" name="テキスト ボックス 4">
            <a:extLst>
              <a:ext uri="{FF2B5EF4-FFF2-40B4-BE49-F238E27FC236}">
                <a16:creationId xmlns:a16="http://schemas.microsoft.com/office/drawing/2014/main" id="{DBE90012-59EA-E633-E9A1-16D608D4C3B3}"/>
              </a:ext>
            </a:extLst>
          </p:cNvPr>
          <p:cNvSpPr txBox="1"/>
          <p:nvPr/>
        </p:nvSpPr>
        <p:spPr>
          <a:xfrm>
            <a:off x="1390387" y="4732443"/>
            <a:ext cx="10346499" cy="1107996"/>
          </a:xfrm>
          <a:prstGeom prst="rect">
            <a:avLst/>
          </a:prstGeom>
          <a:noFill/>
        </p:spPr>
        <p:txBody>
          <a:bodyPr wrap="square" rtlCol="0">
            <a:spAutoFit/>
          </a:bodyPr>
          <a:lstStyle/>
          <a:p>
            <a:pPr>
              <a:spcAft>
                <a:spcPts val="1200"/>
              </a:spcAft>
            </a:pPr>
            <a:r>
              <a:rPr kumimoji="1" lang="ja-JP" altLang="en-US" sz="2800" b="1" dirty="0">
                <a:solidFill>
                  <a:schemeClr val="bg1"/>
                </a:solidFill>
              </a:rPr>
              <a:t>その一個の鍵（オブジェクト）がスレッドに　占有</a:t>
            </a:r>
            <a:r>
              <a:rPr kumimoji="1" lang="en-US" altLang="ja-JP" sz="2800" b="1" dirty="0">
                <a:solidFill>
                  <a:schemeClr val="bg1"/>
                </a:solidFill>
              </a:rPr>
              <a:t>?</a:t>
            </a:r>
            <a:r>
              <a:rPr kumimoji="1" lang="ja-JP" altLang="en-US" sz="2800" b="1" dirty="0">
                <a:solidFill>
                  <a:schemeClr val="bg1"/>
                </a:solidFill>
              </a:rPr>
              <a:t> </a:t>
            </a:r>
            <a:r>
              <a:rPr kumimoji="1" lang="en-US" altLang="ja-JP" sz="2800" b="1" dirty="0">
                <a:solidFill>
                  <a:schemeClr val="bg1"/>
                </a:solidFill>
              </a:rPr>
              <a:t>YES or NO</a:t>
            </a:r>
          </a:p>
          <a:p>
            <a:pPr>
              <a:spcAft>
                <a:spcPts val="1200"/>
              </a:spcAft>
            </a:pPr>
            <a:r>
              <a:rPr kumimoji="1" lang="en-US" altLang="ja-JP" sz="2800" b="1" dirty="0">
                <a:solidFill>
                  <a:schemeClr val="bg1"/>
                </a:solidFill>
              </a:rPr>
              <a:t>				</a:t>
            </a:r>
            <a:r>
              <a:rPr kumimoji="1" lang="ja-JP" altLang="en-US" sz="2800" b="1" dirty="0">
                <a:solidFill>
                  <a:schemeClr val="bg1"/>
                </a:solidFill>
              </a:rPr>
              <a:t>→　それにより競合を防ぐ</a:t>
            </a:r>
            <a:endParaRPr kumimoji="1" lang="en-US" altLang="ja-JP" sz="2800" b="1" dirty="0">
              <a:solidFill>
                <a:schemeClr val="bg1"/>
              </a:solidFill>
            </a:endParaRPr>
          </a:p>
        </p:txBody>
      </p:sp>
    </p:spTree>
    <p:extLst>
      <p:ext uri="{BB962C8B-B14F-4D97-AF65-F5344CB8AC3E}">
        <p14:creationId xmlns:p14="http://schemas.microsoft.com/office/powerpoint/2010/main" val="2090194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B1516-DDAF-1F0A-E8F9-6CE0DF624421}"/>
            </a:ext>
          </a:extLst>
        </p:cNvPr>
        <p:cNvGrpSpPr/>
        <p:nvPr/>
      </p:nvGrpSpPr>
      <p:grpSpPr>
        <a:xfrm>
          <a:off x="0" y="0"/>
          <a:ext cx="0" cy="0"/>
          <a:chOff x="0" y="0"/>
          <a:chExt cx="0" cy="0"/>
        </a:xfrm>
      </p:grpSpPr>
      <p:sp>
        <p:nvSpPr>
          <p:cNvPr id="16" name="テキスト ボックス 15">
            <a:extLst>
              <a:ext uri="{FF2B5EF4-FFF2-40B4-BE49-F238E27FC236}">
                <a16:creationId xmlns:a16="http://schemas.microsoft.com/office/drawing/2014/main" id="{0913B04B-3602-41D8-A621-7D92EDDD73DF}"/>
              </a:ext>
            </a:extLst>
          </p:cNvPr>
          <p:cNvSpPr txBox="1"/>
          <p:nvPr/>
        </p:nvSpPr>
        <p:spPr>
          <a:xfrm>
            <a:off x="6499225" y="5106940"/>
            <a:ext cx="5289551" cy="769441"/>
          </a:xfrm>
          <a:prstGeom prst="rect">
            <a:avLst/>
          </a:prstGeom>
          <a:noFill/>
        </p:spPr>
        <p:txBody>
          <a:bodyPr wrap="square" rtlCol="0">
            <a:spAutoFit/>
          </a:bodyPr>
          <a:lstStyle/>
          <a:p>
            <a:r>
              <a:rPr kumimoji="1" lang="en-US" altLang="ja-JP" sz="2200" dirty="0">
                <a:solidFill>
                  <a:schemeClr val="bg1"/>
                </a:solidFill>
              </a:rPr>
              <a:t>main</a:t>
            </a:r>
            <a:r>
              <a:rPr kumimoji="1" lang="ja-JP" altLang="en-US" sz="2200" dirty="0">
                <a:solidFill>
                  <a:schemeClr val="bg1"/>
                </a:solidFill>
              </a:rPr>
              <a:t>にて１つだけ</a:t>
            </a:r>
            <a:r>
              <a:rPr kumimoji="1" lang="en-US" altLang="ja-JP" sz="2200" dirty="0">
                <a:solidFill>
                  <a:schemeClr val="bg1"/>
                </a:solidFill>
              </a:rPr>
              <a:t>lock</a:t>
            </a:r>
            <a:r>
              <a:rPr kumimoji="1" lang="ja-JP" altLang="en-US" sz="2200" dirty="0">
                <a:solidFill>
                  <a:schemeClr val="bg1"/>
                </a:solidFill>
              </a:rPr>
              <a:t>オブジェクト生成する。</a:t>
            </a:r>
            <a:br>
              <a:rPr kumimoji="1" lang="en-US" altLang="ja-JP" sz="2200" dirty="0">
                <a:solidFill>
                  <a:schemeClr val="bg1"/>
                </a:solidFill>
              </a:rPr>
            </a:br>
            <a:r>
              <a:rPr kumimoji="1" lang="en-US" altLang="ja-JP" sz="2200" dirty="0">
                <a:solidFill>
                  <a:schemeClr val="bg1"/>
                </a:solidFill>
              </a:rPr>
              <a:t>	</a:t>
            </a:r>
            <a:r>
              <a:rPr kumimoji="1" lang="ja-JP" altLang="en-US" sz="2200" dirty="0">
                <a:solidFill>
                  <a:schemeClr val="bg1"/>
                </a:solidFill>
              </a:rPr>
              <a:t>→　鍵は一つだけ生成。</a:t>
            </a:r>
          </a:p>
        </p:txBody>
      </p:sp>
      <p:sp>
        <p:nvSpPr>
          <p:cNvPr id="22" name="テキスト ボックス 21">
            <a:extLst>
              <a:ext uri="{FF2B5EF4-FFF2-40B4-BE49-F238E27FC236}">
                <a16:creationId xmlns:a16="http://schemas.microsoft.com/office/drawing/2014/main" id="{ADFFC3FE-76CA-A23B-D4E6-7265467B9BBF}"/>
              </a:ext>
            </a:extLst>
          </p:cNvPr>
          <p:cNvSpPr txBox="1"/>
          <p:nvPr/>
        </p:nvSpPr>
        <p:spPr>
          <a:xfrm>
            <a:off x="6515100" y="1143455"/>
            <a:ext cx="5273676" cy="769441"/>
          </a:xfrm>
          <a:prstGeom prst="rect">
            <a:avLst/>
          </a:prstGeom>
          <a:noFill/>
        </p:spPr>
        <p:txBody>
          <a:bodyPr wrap="square" rtlCol="0">
            <a:spAutoFit/>
          </a:bodyPr>
          <a:lstStyle/>
          <a:p>
            <a:r>
              <a:rPr kumimoji="1" lang="ja-JP" altLang="ja-JP" sz="2200" dirty="0">
                <a:solidFill>
                  <a:schemeClr val="bg1"/>
                </a:solidFill>
              </a:rPr>
              <a:t>各Threadに</a:t>
            </a:r>
            <a:r>
              <a:rPr kumimoji="1" lang="ja-JP" altLang="ja-JP" sz="2200" b="1" dirty="0">
                <a:solidFill>
                  <a:schemeClr val="bg1"/>
                </a:solidFill>
              </a:rPr>
              <a:t>同じlockオブジェクト</a:t>
            </a:r>
            <a:r>
              <a:rPr kumimoji="1" lang="ja-JP" altLang="ja-JP" sz="2200" dirty="0">
                <a:solidFill>
                  <a:schemeClr val="bg1"/>
                </a:solidFill>
              </a:rPr>
              <a:t>が</a:t>
            </a:r>
            <a:r>
              <a:rPr kumimoji="1" lang="ja-JP" altLang="en-US" sz="2200" dirty="0">
                <a:solidFill>
                  <a:schemeClr val="bg1"/>
                </a:solidFill>
              </a:rPr>
              <a:t>渡される</a:t>
            </a:r>
            <a:br>
              <a:rPr kumimoji="1" lang="ja-JP" altLang="ja-JP" sz="2200" dirty="0">
                <a:solidFill>
                  <a:schemeClr val="bg1"/>
                </a:solidFill>
              </a:rPr>
            </a:br>
            <a:r>
              <a:rPr kumimoji="1" lang="ja-JP" altLang="en-US" sz="2200" dirty="0">
                <a:solidFill>
                  <a:schemeClr val="bg1"/>
                </a:solidFill>
              </a:rPr>
              <a:t>　</a:t>
            </a:r>
            <a:r>
              <a:rPr kumimoji="1" lang="ja-JP" altLang="ja-JP" sz="2200" dirty="0">
                <a:solidFill>
                  <a:schemeClr val="bg1"/>
                </a:solidFill>
              </a:rPr>
              <a:t>→ つまり全Threadが同じ鍵を共有する。</a:t>
            </a:r>
            <a:endParaRPr kumimoji="1" lang="en-US" altLang="ja-JP" sz="2200" dirty="0">
              <a:solidFill>
                <a:schemeClr val="bg1"/>
              </a:solidFill>
            </a:endParaRPr>
          </a:p>
        </p:txBody>
      </p:sp>
      <p:pic>
        <p:nvPicPr>
          <p:cNvPr id="26" name="図 25">
            <a:extLst>
              <a:ext uri="{FF2B5EF4-FFF2-40B4-BE49-F238E27FC236}">
                <a16:creationId xmlns:a16="http://schemas.microsoft.com/office/drawing/2014/main" id="{B0E65388-6EEF-AB09-D0EB-D608D093BFCB}"/>
              </a:ext>
            </a:extLst>
          </p:cNvPr>
          <p:cNvPicPr>
            <a:picLocks noChangeAspect="1"/>
          </p:cNvPicPr>
          <p:nvPr/>
        </p:nvPicPr>
        <p:blipFill>
          <a:blip r:embed="rId3"/>
          <a:stretch>
            <a:fillRect/>
          </a:stretch>
        </p:blipFill>
        <p:spPr>
          <a:xfrm>
            <a:off x="921532" y="197940"/>
            <a:ext cx="3320267" cy="6550186"/>
          </a:xfrm>
          <a:prstGeom prst="rect">
            <a:avLst/>
          </a:prstGeom>
        </p:spPr>
      </p:pic>
      <p:cxnSp>
        <p:nvCxnSpPr>
          <p:cNvPr id="14" name="直線矢印コネクタ 13">
            <a:extLst>
              <a:ext uri="{FF2B5EF4-FFF2-40B4-BE49-F238E27FC236}">
                <a16:creationId xmlns:a16="http://schemas.microsoft.com/office/drawing/2014/main" id="{CEFEBDE4-789F-E29C-0FC5-317EC8493B47}"/>
              </a:ext>
            </a:extLst>
          </p:cNvPr>
          <p:cNvCxnSpPr/>
          <p:nvPr/>
        </p:nvCxnSpPr>
        <p:spPr>
          <a:xfrm>
            <a:off x="3476625" y="5316834"/>
            <a:ext cx="3022600"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直線矢印コネクタ 22">
            <a:extLst>
              <a:ext uri="{FF2B5EF4-FFF2-40B4-BE49-F238E27FC236}">
                <a16:creationId xmlns:a16="http://schemas.microsoft.com/office/drawing/2014/main" id="{2925C30E-499B-AFFF-2DF5-6DFF63DA6C47}"/>
              </a:ext>
            </a:extLst>
          </p:cNvPr>
          <p:cNvCxnSpPr>
            <a:cxnSpLocks/>
          </p:cNvCxnSpPr>
          <p:nvPr/>
        </p:nvCxnSpPr>
        <p:spPr>
          <a:xfrm>
            <a:off x="3047999" y="2844800"/>
            <a:ext cx="3467101"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直線矢印コネクタ 16">
            <a:extLst>
              <a:ext uri="{FF2B5EF4-FFF2-40B4-BE49-F238E27FC236}">
                <a16:creationId xmlns:a16="http://schemas.microsoft.com/office/drawing/2014/main" id="{8D51AE66-185A-D114-860B-F8E130F55CC0}"/>
              </a:ext>
            </a:extLst>
          </p:cNvPr>
          <p:cNvCxnSpPr>
            <a:cxnSpLocks/>
          </p:cNvCxnSpPr>
          <p:nvPr/>
        </p:nvCxnSpPr>
        <p:spPr>
          <a:xfrm>
            <a:off x="4127500" y="1358900"/>
            <a:ext cx="2387600"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8" name="テキスト ボックス 27">
            <a:extLst>
              <a:ext uri="{FF2B5EF4-FFF2-40B4-BE49-F238E27FC236}">
                <a16:creationId xmlns:a16="http://schemas.microsoft.com/office/drawing/2014/main" id="{B7B8007D-58A5-1877-5F0F-A0D6E9948C44}"/>
              </a:ext>
            </a:extLst>
          </p:cNvPr>
          <p:cNvSpPr txBox="1"/>
          <p:nvPr/>
        </p:nvSpPr>
        <p:spPr>
          <a:xfrm>
            <a:off x="6572251" y="2629356"/>
            <a:ext cx="5143500" cy="1785104"/>
          </a:xfrm>
          <a:prstGeom prst="rect">
            <a:avLst/>
          </a:prstGeom>
          <a:noFill/>
        </p:spPr>
        <p:txBody>
          <a:bodyPr wrap="square" rtlCol="0">
            <a:spAutoFit/>
          </a:bodyPr>
          <a:lstStyle/>
          <a:p>
            <a:r>
              <a:rPr kumimoji="1" lang="en-US" altLang="ja-JP" sz="2200" dirty="0">
                <a:solidFill>
                  <a:schemeClr val="bg1"/>
                </a:solidFill>
              </a:rPr>
              <a:t>lock</a:t>
            </a:r>
            <a:r>
              <a:rPr kumimoji="1" lang="ja-JP" altLang="en-US" sz="2200" dirty="0">
                <a:solidFill>
                  <a:schemeClr val="bg1"/>
                </a:solidFill>
              </a:rPr>
              <a:t>オブジェクトが使用される。　</a:t>
            </a:r>
            <a:r>
              <a:rPr kumimoji="1" lang="en-US" altLang="ja-JP" sz="2200" dirty="0">
                <a:solidFill>
                  <a:schemeClr val="bg1"/>
                </a:solidFill>
              </a:rPr>
              <a:t>Synchronized</a:t>
            </a:r>
          </a:p>
          <a:p>
            <a:pPr marL="800100" lvl="1" indent="-342900">
              <a:buFont typeface="Arial" panose="020B0604020202020204" pitchFamily="34" charset="0"/>
              <a:buChar char="•"/>
            </a:pPr>
            <a:r>
              <a:rPr kumimoji="1" lang="en-US" altLang="ja-JP" sz="2200" dirty="0">
                <a:solidFill>
                  <a:schemeClr val="bg1"/>
                </a:solidFill>
              </a:rPr>
              <a:t>lock</a:t>
            </a:r>
            <a:r>
              <a:rPr kumimoji="1" lang="ja-JP" altLang="en-US" sz="2200" dirty="0">
                <a:solidFill>
                  <a:schemeClr val="bg1"/>
                </a:solidFill>
              </a:rPr>
              <a:t>は取得できるか？</a:t>
            </a:r>
            <a:endParaRPr kumimoji="1" lang="en-US" altLang="ja-JP" sz="2200" dirty="0">
              <a:solidFill>
                <a:schemeClr val="bg1"/>
              </a:solidFill>
            </a:endParaRPr>
          </a:p>
          <a:p>
            <a:pPr marL="1257300" lvl="2" indent="-342900">
              <a:buFont typeface="Arial" panose="020B0604020202020204" pitchFamily="34" charset="0"/>
              <a:buChar char="•"/>
            </a:pPr>
            <a:r>
              <a:rPr kumimoji="1" lang="ja-JP" altLang="en-US" sz="2200" dirty="0">
                <a:solidFill>
                  <a:schemeClr val="bg1"/>
                </a:solidFill>
              </a:rPr>
              <a:t>できる    ：処理開始</a:t>
            </a:r>
            <a:endParaRPr kumimoji="1" lang="en-US" altLang="ja-JP" sz="2200" dirty="0">
              <a:solidFill>
                <a:schemeClr val="bg1"/>
              </a:solidFill>
            </a:endParaRPr>
          </a:p>
          <a:p>
            <a:pPr marL="1257300" lvl="2" indent="-342900">
              <a:buFont typeface="Arial" panose="020B0604020202020204" pitchFamily="34" charset="0"/>
              <a:buChar char="•"/>
            </a:pPr>
            <a:r>
              <a:rPr kumimoji="1" lang="ja-JP" altLang="en-US" sz="2200" dirty="0">
                <a:solidFill>
                  <a:schemeClr val="bg1"/>
                </a:solidFill>
              </a:rPr>
              <a:t>できない  </a:t>
            </a:r>
            <a:r>
              <a:rPr kumimoji="1" lang="en-US" altLang="ja-JP" sz="2200" dirty="0">
                <a:solidFill>
                  <a:schemeClr val="bg1"/>
                </a:solidFill>
              </a:rPr>
              <a:t>: </a:t>
            </a:r>
            <a:r>
              <a:rPr kumimoji="1" lang="ja-JP" altLang="en-US" sz="2200" dirty="0">
                <a:solidFill>
                  <a:schemeClr val="bg1"/>
                </a:solidFill>
              </a:rPr>
              <a:t>待機状態</a:t>
            </a:r>
            <a:endParaRPr kumimoji="1" lang="en-US" altLang="ja-JP" sz="2200" dirty="0">
              <a:solidFill>
                <a:schemeClr val="bg1"/>
              </a:solidFill>
            </a:endParaRPr>
          </a:p>
        </p:txBody>
      </p:sp>
    </p:spTree>
    <p:extLst>
      <p:ext uri="{BB962C8B-B14F-4D97-AF65-F5344CB8AC3E}">
        <p14:creationId xmlns:p14="http://schemas.microsoft.com/office/powerpoint/2010/main" val="1588097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CD7BC-2F4E-31ED-72D0-61EFF91AD0F3}"/>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73D82639-0971-02B0-4118-E6F46C84968F}"/>
              </a:ext>
            </a:extLst>
          </p:cNvPr>
          <p:cNvSpPr txBox="1"/>
          <p:nvPr/>
        </p:nvSpPr>
        <p:spPr>
          <a:xfrm>
            <a:off x="1073933" y="134308"/>
            <a:ext cx="605337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まとめ</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9" name="テキスト ボックス 8">
            <a:extLst>
              <a:ext uri="{FF2B5EF4-FFF2-40B4-BE49-F238E27FC236}">
                <a16:creationId xmlns:a16="http://schemas.microsoft.com/office/drawing/2014/main" id="{039BD9AB-9001-B99B-28EC-2D59AA6253DF}"/>
              </a:ext>
            </a:extLst>
          </p:cNvPr>
          <p:cNvSpPr txBox="1"/>
          <p:nvPr/>
        </p:nvSpPr>
        <p:spPr>
          <a:xfrm>
            <a:off x="1470554" y="1217603"/>
            <a:ext cx="10721446" cy="5201424"/>
          </a:xfrm>
          <a:prstGeom prst="rect">
            <a:avLst/>
          </a:prstGeom>
          <a:noFill/>
        </p:spPr>
        <p:txBody>
          <a:bodyPr wrap="square">
            <a:spAutoFit/>
          </a:bodyPr>
          <a:lstStyle/>
          <a:p>
            <a:pPr>
              <a:spcAft>
                <a:spcPts val="1200"/>
              </a:spcAft>
            </a:pPr>
            <a:r>
              <a:rPr lang="ja-JP" altLang="en-US" sz="2800" dirty="0">
                <a:solidFill>
                  <a:schemeClr val="bg1"/>
                </a:solidFill>
              </a:rPr>
              <a:t>何か？</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ja-JP" sz="2800" dirty="0">
                <a:solidFill>
                  <a:schemeClr val="bg1"/>
                </a:solidFill>
              </a:rPr>
              <a:t>メソッド全体を「カギのかかった部屋」にできる仕組み</a:t>
            </a:r>
            <a:r>
              <a:rPr lang="ja-JP" altLang="en-US" sz="2800" dirty="0">
                <a:solidFill>
                  <a:schemeClr val="bg1"/>
                </a:solidFill>
              </a:rPr>
              <a:t>である</a:t>
            </a:r>
            <a:endParaRPr lang="en-US" altLang="ja-JP" sz="2800" dirty="0">
              <a:solidFill>
                <a:schemeClr val="bg1"/>
              </a:solidFill>
            </a:endParaRPr>
          </a:p>
          <a:p>
            <a:pPr>
              <a:spcAft>
                <a:spcPts val="1200"/>
              </a:spcAft>
            </a:pPr>
            <a:r>
              <a:rPr lang="ja-JP" altLang="en-US" sz="2800" dirty="0">
                <a:solidFill>
                  <a:schemeClr val="bg1"/>
                </a:solidFill>
              </a:rPr>
              <a:t>仕組み</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en-US" sz="2800" dirty="0">
                <a:solidFill>
                  <a:schemeClr val="bg1"/>
                </a:solidFill>
              </a:rPr>
              <a:t>オブジェクトの鍵（</a:t>
            </a:r>
            <a:r>
              <a:rPr lang="en-US" altLang="ja-JP" sz="2800" dirty="0">
                <a:solidFill>
                  <a:schemeClr val="bg1"/>
                </a:solidFill>
              </a:rPr>
              <a:t>Monitor</a:t>
            </a:r>
            <a:r>
              <a:rPr lang="ja-JP" altLang="en-US" sz="2800" dirty="0">
                <a:solidFill>
                  <a:schemeClr val="bg1"/>
                </a:solidFill>
              </a:rPr>
              <a:t>）を使用している。</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en-US" sz="2800" dirty="0">
                <a:solidFill>
                  <a:schemeClr val="bg1"/>
                </a:solidFill>
              </a:rPr>
              <a:t>それを基準に</a:t>
            </a:r>
            <a:r>
              <a:rPr lang="en-US" altLang="ja-JP" sz="2800" dirty="0">
                <a:solidFill>
                  <a:schemeClr val="bg1"/>
                </a:solidFill>
              </a:rPr>
              <a:t>Synchronized</a:t>
            </a:r>
            <a:r>
              <a:rPr lang="ja-JP" altLang="en-US" sz="2800" dirty="0">
                <a:solidFill>
                  <a:schemeClr val="bg1"/>
                </a:solidFill>
              </a:rPr>
              <a:t>メソッドにて</a:t>
            </a:r>
            <a:endParaRPr lang="en-US" altLang="ja-JP" sz="2800" dirty="0">
              <a:solidFill>
                <a:schemeClr val="bg1"/>
              </a:solidFill>
            </a:endParaRPr>
          </a:p>
          <a:p>
            <a:pPr lvl="1">
              <a:spcAft>
                <a:spcPts val="1200"/>
              </a:spcAft>
            </a:pPr>
            <a:r>
              <a:rPr lang="ja-JP" altLang="en-US" sz="2800" dirty="0">
                <a:solidFill>
                  <a:schemeClr val="bg1"/>
                </a:solidFill>
              </a:rPr>
              <a:t>　　　　　</a:t>
            </a:r>
            <a:r>
              <a:rPr lang="ja-JP" altLang="en-US" sz="2800" b="1" u="sng" dirty="0">
                <a:solidFill>
                  <a:schemeClr val="bg1"/>
                </a:solidFill>
              </a:rPr>
              <a:t>処理を進めるか？</a:t>
            </a:r>
            <a:r>
              <a:rPr lang="ja-JP" altLang="en-US" sz="2800" b="1" dirty="0">
                <a:solidFill>
                  <a:schemeClr val="bg1"/>
                </a:solidFill>
              </a:rPr>
              <a:t>　　　：　　　</a:t>
            </a:r>
            <a:r>
              <a:rPr lang="ja-JP" altLang="en-US" sz="2800" b="1" u="sng" dirty="0">
                <a:solidFill>
                  <a:schemeClr val="bg1"/>
                </a:solidFill>
              </a:rPr>
              <a:t>進めないか？</a:t>
            </a:r>
            <a:endParaRPr lang="en-US" altLang="ja-JP" sz="2800" b="1" u="sng" dirty="0">
              <a:solidFill>
                <a:schemeClr val="bg1"/>
              </a:solidFill>
            </a:endParaRPr>
          </a:p>
          <a:p>
            <a:pPr lvl="1">
              <a:spcAft>
                <a:spcPts val="1200"/>
              </a:spcAft>
            </a:pPr>
            <a:r>
              <a:rPr lang="en-US" altLang="ja-JP" sz="2800" dirty="0">
                <a:solidFill>
                  <a:schemeClr val="bg1"/>
                </a:solidFill>
              </a:rPr>
              <a:t>	</a:t>
            </a:r>
            <a:r>
              <a:rPr lang="ja-JP" altLang="en-US" sz="2800" dirty="0">
                <a:solidFill>
                  <a:schemeClr val="bg1"/>
                </a:solidFill>
              </a:rPr>
              <a:t>を判断している。</a:t>
            </a:r>
            <a:endParaRPr lang="en-US" altLang="ja-JP" sz="2800" dirty="0">
              <a:solidFill>
                <a:schemeClr val="bg1"/>
              </a:solidFill>
            </a:endParaRPr>
          </a:p>
          <a:p>
            <a:pPr marL="914400" lvl="1" indent="-457200">
              <a:spcAft>
                <a:spcPts val="1200"/>
              </a:spcAft>
              <a:buFont typeface="Arial" panose="020B0604020202020204" pitchFamily="34" charset="0"/>
              <a:buChar char="•"/>
            </a:pPr>
            <a:endParaRPr lang="en-US" altLang="ja-JP" sz="2800" dirty="0">
              <a:solidFill>
                <a:schemeClr val="bg1"/>
              </a:solidFill>
            </a:endParaRPr>
          </a:p>
          <a:p>
            <a:pPr marL="914400" lvl="1" indent="-457200">
              <a:spcAft>
                <a:spcPts val="1200"/>
              </a:spcAft>
              <a:buFont typeface="Arial" panose="020B0604020202020204" pitchFamily="34" charset="0"/>
              <a:buChar char="•"/>
            </a:pPr>
            <a:endParaRPr lang="en-US" altLang="ja-JP" sz="2800" dirty="0">
              <a:solidFill>
                <a:schemeClr val="bg1"/>
              </a:solidFill>
            </a:endParaRPr>
          </a:p>
        </p:txBody>
      </p:sp>
    </p:spTree>
    <p:extLst>
      <p:ext uri="{BB962C8B-B14F-4D97-AF65-F5344CB8AC3E}">
        <p14:creationId xmlns:p14="http://schemas.microsoft.com/office/powerpoint/2010/main" val="2162761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B55C7-5435-1427-27D7-634D2DC74391}"/>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1783DD4F-66B4-2D58-D09C-1916BC39FDF5}"/>
              </a:ext>
            </a:extLst>
          </p:cNvPr>
          <p:cNvSpPr txBox="1"/>
          <p:nvPr/>
        </p:nvSpPr>
        <p:spPr>
          <a:xfrm>
            <a:off x="1073932" y="134308"/>
            <a:ext cx="8809103"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余談（興味ない人は寝てていいやつ）</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9" name="テキスト ボックス 8">
            <a:extLst>
              <a:ext uri="{FF2B5EF4-FFF2-40B4-BE49-F238E27FC236}">
                <a16:creationId xmlns:a16="http://schemas.microsoft.com/office/drawing/2014/main" id="{43443E94-354F-FAE4-A9E8-92B4FE4E4E2A}"/>
              </a:ext>
            </a:extLst>
          </p:cNvPr>
          <p:cNvSpPr txBox="1"/>
          <p:nvPr/>
        </p:nvSpPr>
        <p:spPr>
          <a:xfrm>
            <a:off x="1073932" y="3785355"/>
            <a:ext cx="10926002" cy="954107"/>
          </a:xfrm>
          <a:prstGeom prst="rect">
            <a:avLst/>
          </a:prstGeom>
          <a:noFill/>
        </p:spPr>
        <p:txBody>
          <a:bodyPr wrap="square">
            <a:spAutoFit/>
          </a:bodyPr>
          <a:lstStyle/>
          <a:p>
            <a:pPr>
              <a:spcAft>
                <a:spcPts val="1200"/>
              </a:spcAft>
            </a:pPr>
            <a:r>
              <a:rPr lang="ja-JP" altLang="en-US" sz="2800" b="1" dirty="0">
                <a:solidFill>
                  <a:schemeClr val="bg1"/>
                </a:solidFill>
              </a:rPr>
              <a:t>オブジェクト生成　→　</a:t>
            </a:r>
            <a:r>
              <a:rPr lang="en-US" altLang="ja-JP" sz="2800" b="1" dirty="0">
                <a:solidFill>
                  <a:schemeClr val="bg1"/>
                </a:solidFill>
              </a:rPr>
              <a:t>Monitor</a:t>
            </a:r>
            <a:r>
              <a:rPr lang="ja-JP" altLang="en-US" sz="2800" b="1" dirty="0">
                <a:solidFill>
                  <a:schemeClr val="bg1"/>
                </a:solidFill>
              </a:rPr>
              <a:t>（監視者）が一つ関連づけられる。　　→　それをオブジェクトに関連付ける　→　鍵とは</a:t>
            </a:r>
            <a:r>
              <a:rPr lang="en-US" altLang="ja-JP" sz="2800" b="1" dirty="0">
                <a:solidFill>
                  <a:schemeClr val="bg1"/>
                </a:solidFill>
              </a:rPr>
              <a:t>Monitor</a:t>
            </a:r>
            <a:r>
              <a:rPr lang="ja-JP" altLang="en-US" sz="2800" b="1" dirty="0">
                <a:solidFill>
                  <a:schemeClr val="bg1"/>
                </a:solidFill>
              </a:rPr>
              <a:t>の仕組みを指す。</a:t>
            </a:r>
            <a:endParaRPr lang="en-US" altLang="ja-JP" sz="2800" b="1" dirty="0">
              <a:solidFill>
                <a:schemeClr val="bg1"/>
              </a:solidFill>
            </a:endParaRPr>
          </a:p>
        </p:txBody>
      </p:sp>
      <p:pic>
        <p:nvPicPr>
          <p:cNvPr id="3" name="図 2">
            <a:extLst>
              <a:ext uri="{FF2B5EF4-FFF2-40B4-BE49-F238E27FC236}">
                <a16:creationId xmlns:a16="http://schemas.microsoft.com/office/drawing/2014/main" id="{0F7D1674-73E6-A412-6BA6-C61A5435CC95}"/>
              </a:ext>
            </a:extLst>
          </p:cNvPr>
          <p:cNvPicPr>
            <a:picLocks noChangeAspect="1"/>
          </p:cNvPicPr>
          <p:nvPr/>
        </p:nvPicPr>
        <p:blipFill>
          <a:blip r:embed="rId3"/>
          <a:stretch>
            <a:fillRect/>
          </a:stretch>
        </p:blipFill>
        <p:spPr>
          <a:xfrm>
            <a:off x="1142432" y="903749"/>
            <a:ext cx="11049568" cy="2635385"/>
          </a:xfrm>
          <a:prstGeom prst="rect">
            <a:avLst/>
          </a:prstGeom>
        </p:spPr>
      </p:pic>
      <p:pic>
        <p:nvPicPr>
          <p:cNvPr id="6" name="図 5">
            <a:extLst>
              <a:ext uri="{FF2B5EF4-FFF2-40B4-BE49-F238E27FC236}">
                <a16:creationId xmlns:a16="http://schemas.microsoft.com/office/drawing/2014/main" id="{F0DDE505-87D6-EE96-764E-63DEB89D9C94}"/>
              </a:ext>
            </a:extLst>
          </p:cNvPr>
          <p:cNvPicPr>
            <a:picLocks noChangeAspect="1"/>
          </p:cNvPicPr>
          <p:nvPr/>
        </p:nvPicPr>
        <p:blipFill>
          <a:blip r:embed="rId4"/>
          <a:stretch>
            <a:fillRect/>
          </a:stretch>
        </p:blipFill>
        <p:spPr>
          <a:xfrm>
            <a:off x="1142431" y="4988990"/>
            <a:ext cx="5729773" cy="1734702"/>
          </a:xfrm>
          <a:prstGeom prst="rect">
            <a:avLst/>
          </a:prstGeom>
        </p:spPr>
      </p:pic>
      <p:sp>
        <p:nvSpPr>
          <p:cNvPr id="10" name="テキスト ボックス 9">
            <a:extLst>
              <a:ext uri="{FF2B5EF4-FFF2-40B4-BE49-F238E27FC236}">
                <a16:creationId xmlns:a16="http://schemas.microsoft.com/office/drawing/2014/main" id="{6F4C7407-E3EB-6AD7-28D9-D1C4175BF273}"/>
              </a:ext>
            </a:extLst>
          </p:cNvPr>
          <p:cNvSpPr txBox="1"/>
          <p:nvPr/>
        </p:nvSpPr>
        <p:spPr>
          <a:xfrm>
            <a:off x="7440460" y="5312744"/>
            <a:ext cx="4559474" cy="1107996"/>
          </a:xfrm>
          <a:prstGeom prst="rect">
            <a:avLst/>
          </a:prstGeom>
          <a:noFill/>
        </p:spPr>
        <p:txBody>
          <a:bodyPr wrap="square">
            <a:spAutoFit/>
          </a:bodyPr>
          <a:lstStyle/>
          <a:p>
            <a:pPr>
              <a:spcAft>
                <a:spcPts val="1200"/>
              </a:spcAft>
            </a:pPr>
            <a:r>
              <a:rPr lang="ja-JP" altLang="en-US" sz="2800" dirty="0">
                <a:solidFill>
                  <a:schemeClr val="bg1"/>
                </a:solidFill>
              </a:rPr>
              <a:t>←　</a:t>
            </a:r>
            <a:r>
              <a:rPr lang="en-US" altLang="ja-JP" sz="2800" dirty="0">
                <a:solidFill>
                  <a:schemeClr val="bg1"/>
                </a:solidFill>
              </a:rPr>
              <a:t>Monitor</a:t>
            </a:r>
            <a:r>
              <a:rPr lang="ja-JP" altLang="en-US" sz="2800" dirty="0">
                <a:solidFill>
                  <a:schemeClr val="bg1"/>
                </a:solidFill>
              </a:rPr>
              <a:t>という</a:t>
            </a:r>
            <a:r>
              <a:rPr lang="ja-JP" altLang="en-US" sz="2800" b="1" dirty="0">
                <a:solidFill>
                  <a:schemeClr val="bg1"/>
                </a:solidFill>
              </a:rPr>
              <a:t>仕組み</a:t>
            </a:r>
            <a:r>
              <a:rPr lang="ja-JP" altLang="en-US" sz="2800" dirty="0">
                <a:solidFill>
                  <a:schemeClr val="bg1"/>
                </a:solidFill>
              </a:rPr>
              <a:t>は</a:t>
            </a:r>
            <a:endParaRPr lang="en-US" altLang="ja-JP" sz="2800" dirty="0">
              <a:solidFill>
                <a:schemeClr val="bg1"/>
              </a:solidFill>
            </a:endParaRPr>
          </a:p>
          <a:p>
            <a:pPr>
              <a:spcAft>
                <a:spcPts val="1200"/>
              </a:spcAft>
            </a:pPr>
            <a:r>
              <a:rPr lang="ja-JP" altLang="en-US" sz="2800" dirty="0">
                <a:solidFill>
                  <a:schemeClr val="bg1"/>
                </a:solidFill>
              </a:rPr>
              <a:t>主に３つ管理している</a:t>
            </a:r>
            <a:endParaRPr lang="en-US" altLang="ja-JP" sz="2800" dirty="0">
              <a:solidFill>
                <a:schemeClr val="bg1"/>
              </a:solidFill>
            </a:endParaRPr>
          </a:p>
        </p:txBody>
      </p:sp>
    </p:spTree>
    <p:extLst>
      <p:ext uri="{BB962C8B-B14F-4D97-AF65-F5344CB8AC3E}">
        <p14:creationId xmlns:p14="http://schemas.microsoft.com/office/powerpoint/2010/main" val="1160292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474B6-7096-91D4-3D45-C11181D999D0}"/>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3942F3E5-21B9-589C-C3BB-4E3D0463E2E9}"/>
              </a:ext>
            </a:extLst>
          </p:cNvPr>
          <p:cNvSpPr txBox="1"/>
          <p:nvPr/>
        </p:nvSpPr>
        <p:spPr>
          <a:xfrm>
            <a:off x="1073932" y="134308"/>
            <a:ext cx="8809103"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余談（興味ない人は寝てていいやつ）</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7" name="テキスト ボックス 6">
            <a:extLst>
              <a:ext uri="{FF2B5EF4-FFF2-40B4-BE49-F238E27FC236}">
                <a16:creationId xmlns:a16="http://schemas.microsoft.com/office/drawing/2014/main" id="{CE8905DA-3B3D-CC4B-ECF3-C6735189FE19}"/>
              </a:ext>
            </a:extLst>
          </p:cNvPr>
          <p:cNvSpPr txBox="1"/>
          <p:nvPr/>
        </p:nvSpPr>
        <p:spPr>
          <a:xfrm>
            <a:off x="1163976" y="1004577"/>
            <a:ext cx="10610490" cy="5447645"/>
          </a:xfrm>
          <a:prstGeom prst="rect">
            <a:avLst/>
          </a:prstGeom>
          <a:noFill/>
        </p:spPr>
        <p:txBody>
          <a:bodyPr wrap="square">
            <a:spAutoFit/>
          </a:bodyPr>
          <a:lstStyle/>
          <a:p>
            <a:pPr>
              <a:spcAft>
                <a:spcPts val="1200"/>
              </a:spcAft>
            </a:pPr>
            <a:r>
              <a:rPr lang="en-US" altLang="ja-JP" sz="2800" b="1" dirty="0">
                <a:solidFill>
                  <a:schemeClr val="bg1"/>
                </a:solidFill>
              </a:rPr>
              <a:t>Monitor</a:t>
            </a:r>
            <a:r>
              <a:rPr lang="ja-JP" altLang="en-US" sz="2800" b="1" dirty="0">
                <a:solidFill>
                  <a:schemeClr val="bg1"/>
                </a:solidFill>
              </a:rPr>
              <a:t>という仕組み</a:t>
            </a:r>
            <a:endParaRPr lang="en-US" altLang="ja-JP" sz="2800" b="1" dirty="0">
              <a:solidFill>
                <a:schemeClr val="bg1"/>
              </a:solidFill>
            </a:endParaRPr>
          </a:p>
          <a:p>
            <a:pPr>
              <a:spcAft>
                <a:spcPts val="1200"/>
              </a:spcAft>
            </a:pPr>
            <a:r>
              <a:rPr lang="en-US" altLang="ja-JP" sz="2800" b="1" dirty="0">
                <a:solidFill>
                  <a:schemeClr val="bg1"/>
                </a:solidFill>
              </a:rPr>
              <a:t>						</a:t>
            </a:r>
            <a:r>
              <a:rPr lang="ja-JP" altLang="en-US" sz="2800" b="1" dirty="0">
                <a:solidFill>
                  <a:schemeClr val="bg1"/>
                </a:solidFill>
              </a:rPr>
              <a:t>　　実体</a:t>
            </a:r>
            <a:endParaRPr lang="en-US" altLang="ja-JP" sz="2800" b="1" dirty="0">
              <a:solidFill>
                <a:schemeClr val="bg1"/>
              </a:solidFill>
            </a:endParaRPr>
          </a:p>
          <a:p>
            <a:pPr>
              <a:spcAft>
                <a:spcPts val="1200"/>
              </a:spcAft>
            </a:pPr>
            <a:r>
              <a:rPr lang="en-US" altLang="ja-JP" sz="2800" b="1" dirty="0">
                <a:solidFill>
                  <a:schemeClr val="bg1"/>
                </a:solidFill>
              </a:rPr>
              <a:t>							JVM</a:t>
            </a:r>
            <a:r>
              <a:rPr lang="ja-JP" altLang="en-US" sz="2800" b="1" dirty="0">
                <a:solidFill>
                  <a:schemeClr val="bg1"/>
                </a:solidFill>
              </a:rPr>
              <a:t>の内部にある</a:t>
            </a:r>
            <a:endParaRPr lang="en-US" altLang="ja-JP" sz="2800" b="1" dirty="0">
              <a:solidFill>
                <a:schemeClr val="bg1"/>
              </a:solidFill>
            </a:endParaRPr>
          </a:p>
          <a:p>
            <a:pPr>
              <a:spcAft>
                <a:spcPts val="1200"/>
              </a:spcAft>
            </a:pPr>
            <a:r>
              <a:rPr lang="ja-JP" altLang="en-US" sz="2800" b="1" dirty="0">
                <a:solidFill>
                  <a:schemeClr val="bg1"/>
                </a:solidFill>
              </a:rPr>
              <a:t>　　　　　　　　　　　　　　　　　　　　　　　　　　　　　→　直接触れない。</a:t>
            </a:r>
            <a:br>
              <a:rPr lang="en-US" altLang="ja-JP" sz="2800" b="1" dirty="0">
                <a:solidFill>
                  <a:schemeClr val="bg1"/>
                </a:solidFill>
              </a:rPr>
            </a:br>
            <a:r>
              <a:rPr lang="en-US" altLang="ja-JP" sz="2800" b="1" dirty="0">
                <a:solidFill>
                  <a:schemeClr val="bg1"/>
                </a:solidFill>
              </a:rPr>
              <a:t>							</a:t>
            </a:r>
            <a:r>
              <a:rPr lang="en-US" altLang="ja-JP" sz="2400" b="1" dirty="0">
                <a:solidFill>
                  <a:schemeClr val="bg1"/>
                </a:solidFill>
              </a:rPr>
              <a:t>new</a:t>
            </a:r>
            <a:r>
              <a:rPr lang="ja-JP" altLang="en-US" sz="2400" b="1" dirty="0">
                <a:solidFill>
                  <a:schemeClr val="bg1"/>
                </a:solidFill>
              </a:rPr>
              <a:t>　</a:t>
            </a:r>
            <a:r>
              <a:rPr lang="en-US" altLang="ja-JP" sz="2400" b="1" dirty="0">
                <a:solidFill>
                  <a:schemeClr val="bg1"/>
                </a:solidFill>
              </a:rPr>
              <a:t>Thread</a:t>
            </a:r>
            <a:r>
              <a:rPr lang="ja-JP" altLang="en-US" sz="2400" b="1" dirty="0">
                <a:solidFill>
                  <a:schemeClr val="bg1"/>
                </a:solidFill>
              </a:rPr>
              <a:t>にも　　</a:t>
            </a:r>
            <a:r>
              <a:rPr lang="en-US" altLang="ja-JP" sz="2400" b="1" dirty="0">
                <a:solidFill>
                  <a:schemeClr val="bg1"/>
                </a:solidFill>
              </a:rPr>
              <a:t>								Monitor</a:t>
            </a:r>
            <a:r>
              <a:rPr lang="ja-JP" altLang="en-US" sz="2400" b="1" dirty="0">
                <a:solidFill>
                  <a:schemeClr val="bg1"/>
                </a:solidFill>
              </a:rPr>
              <a:t>という仕組みは適用　　　　　　　　　　　　　　　　　　　　　　　　　　　　　　　　</a:t>
            </a:r>
            <a:r>
              <a:rPr lang="en-US" altLang="ja-JP" sz="2400" b="1" dirty="0">
                <a:solidFill>
                  <a:schemeClr val="bg1"/>
                </a:solidFill>
              </a:rPr>
              <a:t>							</a:t>
            </a:r>
            <a:r>
              <a:rPr lang="ja-JP" altLang="en-US" sz="2400" b="1" dirty="0">
                <a:solidFill>
                  <a:schemeClr val="bg1"/>
                </a:solidFill>
              </a:rPr>
              <a:t>される（オブジェクトのため）</a:t>
            </a:r>
            <a:endParaRPr lang="en-US" altLang="ja-JP" sz="2400" b="1" dirty="0">
              <a:solidFill>
                <a:schemeClr val="bg1"/>
              </a:solidFill>
            </a:endParaRPr>
          </a:p>
          <a:p>
            <a:pPr>
              <a:spcAft>
                <a:spcPts val="1200"/>
              </a:spcAft>
            </a:pPr>
            <a:r>
              <a:rPr lang="ja-JP" altLang="en-US" sz="2400" b="1" dirty="0">
                <a:solidFill>
                  <a:schemeClr val="bg1"/>
                </a:solidFill>
              </a:rPr>
              <a:t>　　　　　　　　　　　　　　　　　　　　　　　　　　　　</a:t>
            </a:r>
            <a:endParaRPr lang="en-US" altLang="ja-JP" sz="2400" b="1" dirty="0">
              <a:solidFill>
                <a:schemeClr val="bg1"/>
              </a:solidFill>
            </a:endParaRPr>
          </a:p>
          <a:p>
            <a:pPr>
              <a:spcAft>
                <a:spcPts val="1200"/>
              </a:spcAft>
            </a:pPr>
            <a:r>
              <a:rPr lang="ja-JP" altLang="en-US" sz="2400" b="1" dirty="0">
                <a:solidFill>
                  <a:schemeClr val="bg1"/>
                </a:solidFill>
              </a:rPr>
              <a:t>つまり</a:t>
            </a:r>
            <a:r>
              <a:rPr lang="en-US" altLang="ja-JP" sz="2400" b="1" dirty="0">
                <a:solidFill>
                  <a:schemeClr val="bg1"/>
                </a:solidFill>
              </a:rPr>
              <a:t>.....</a:t>
            </a:r>
          </a:p>
          <a:p>
            <a:pPr>
              <a:spcAft>
                <a:spcPts val="1200"/>
              </a:spcAft>
            </a:pPr>
            <a:r>
              <a:rPr lang="en-US" altLang="ja-JP" sz="2600" b="1" dirty="0">
                <a:solidFill>
                  <a:schemeClr val="bg1"/>
                </a:solidFill>
              </a:rPr>
              <a:t>Thread</a:t>
            </a:r>
            <a:r>
              <a:rPr lang="ja-JP" altLang="en-US" sz="2600" b="1" dirty="0">
                <a:solidFill>
                  <a:schemeClr val="bg1"/>
                </a:solidFill>
              </a:rPr>
              <a:t>間で共有する</a:t>
            </a:r>
            <a:r>
              <a:rPr lang="en-US" altLang="ja-JP" sz="2600" b="1" dirty="0">
                <a:solidFill>
                  <a:schemeClr val="bg1"/>
                </a:solidFill>
              </a:rPr>
              <a:t>Object lock</a:t>
            </a:r>
            <a:r>
              <a:rPr lang="ja-JP" altLang="en-US" sz="2600" b="1" dirty="0">
                <a:solidFill>
                  <a:schemeClr val="bg1"/>
                </a:solidFill>
              </a:rPr>
              <a:t>を一つだけ生成</a:t>
            </a:r>
            <a:r>
              <a:rPr lang="en-US" altLang="ja-JP" sz="2600" b="1" dirty="0">
                <a:solidFill>
                  <a:schemeClr val="bg1"/>
                </a:solidFill>
              </a:rPr>
              <a:t>.</a:t>
            </a:r>
            <a:r>
              <a:rPr lang="ja-JP" altLang="en-US" sz="2600" b="1" dirty="0">
                <a:solidFill>
                  <a:schemeClr val="bg1"/>
                </a:solidFill>
              </a:rPr>
              <a:t>その</a:t>
            </a:r>
            <a:r>
              <a:rPr lang="en-US" altLang="ja-JP" sz="2600" b="1" dirty="0">
                <a:solidFill>
                  <a:schemeClr val="bg1"/>
                </a:solidFill>
              </a:rPr>
              <a:t>lock</a:t>
            </a:r>
            <a:r>
              <a:rPr lang="ja-JP" altLang="en-US" sz="2600" b="1" dirty="0">
                <a:solidFill>
                  <a:schemeClr val="bg1"/>
                </a:solidFill>
              </a:rPr>
              <a:t>に関連付けられた</a:t>
            </a:r>
            <a:r>
              <a:rPr lang="en-US" altLang="ja-JP" sz="2600" b="1" dirty="0">
                <a:solidFill>
                  <a:schemeClr val="bg1"/>
                </a:solidFill>
              </a:rPr>
              <a:t>Monitor</a:t>
            </a:r>
            <a:r>
              <a:rPr lang="ja-JP" altLang="en-US" sz="2600" b="1" dirty="0">
                <a:solidFill>
                  <a:schemeClr val="bg1"/>
                </a:solidFill>
              </a:rPr>
              <a:t>を</a:t>
            </a:r>
            <a:r>
              <a:rPr lang="en-US" altLang="ja-JP" sz="2600" b="1" dirty="0">
                <a:solidFill>
                  <a:schemeClr val="bg1"/>
                </a:solidFill>
              </a:rPr>
              <a:t>Thread</a:t>
            </a:r>
            <a:r>
              <a:rPr lang="ja-JP" altLang="en-US" sz="2600" b="1" dirty="0">
                <a:solidFill>
                  <a:schemeClr val="bg1"/>
                </a:solidFill>
              </a:rPr>
              <a:t>全員で利用しロック取得解放待機を管理している。</a:t>
            </a:r>
            <a:endParaRPr lang="en-US" altLang="ja-JP" sz="2600" b="1" dirty="0">
              <a:solidFill>
                <a:schemeClr val="bg1"/>
              </a:solidFill>
            </a:endParaRPr>
          </a:p>
        </p:txBody>
      </p:sp>
      <p:pic>
        <p:nvPicPr>
          <p:cNvPr id="10" name="図 9">
            <a:extLst>
              <a:ext uri="{FF2B5EF4-FFF2-40B4-BE49-F238E27FC236}">
                <a16:creationId xmlns:a16="http://schemas.microsoft.com/office/drawing/2014/main" id="{A5BEA0B2-747E-CF15-93AC-67D015E20D4C}"/>
              </a:ext>
            </a:extLst>
          </p:cNvPr>
          <p:cNvPicPr>
            <a:picLocks noChangeAspect="1"/>
          </p:cNvPicPr>
          <p:nvPr/>
        </p:nvPicPr>
        <p:blipFill>
          <a:blip r:embed="rId3"/>
          <a:stretch>
            <a:fillRect/>
          </a:stretch>
        </p:blipFill>
        <p:spPr>
          <a:xfrm>
            <a:off x="1365417" y="1570449"/>
            <a:ext cx="5302523" cy="3416476"/>
          </a:xfrm>
          <a:prstGeom prst="rect">
            <a:avLst/>
          </a:prstGeom>
        </p:spPr>
      </p:pic>
    </p:spTree>
    <p:extLst>
      <p:ext uri="{BB962C8B-B14F-4D97-AF65-F5344CB8AC3E}">
        <p14:creationId xmlns:p14="http://schemas.microsoft.com/office/powerpoint/2010/main" val="3814290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64BC9-E082-1498-A0B5-837AF8B30ADE}"/>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A67734A6-ABA1-ADB0-F495-EEAAAD04A2B7}"/>
              </a:ext>
            </a:extLst>
          </p:cNvPr>
          <p:cNvPicPr>
            <a:picLocks noChangeAspect="1"/>
          </p:cNvPicPr>
          <p:nvPr/>
        </p:nvPicPr>
        <p:blipFill>
          <a:blip r:embed="rId3"/>
          <a:stretch>
            <a:fillRect/>
          </a:stretch>
        </p:blipFill>
        <p:spPr>
          <a:xfrm>
            <a:off x="1489853" y="1269572"/>
            <a:ext cx="8611043" cy="4819898"/>
          </a:xfrm>
          <a:prstGeom prst="rect">
            <a:avLst/>
          </a:prstGeom>
        </p:spPr>
      </p:pic>
    </p:spTree>
    <p:extLst>
      <p:ext uri="{BB962C8B-B14F-4D97-AF65-F5344CB8AC3E}">
        <p14:creationId xmlns:p14="http://schemas.microsoft.com/office/powerpoint/2010/main" val="3141296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EEED9-B27B-D573-680F-6FF44349E4BD}"/>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E19A3980-D4B8-0539-E6A8-091DC4DA5DA6}"/>
              </a:ext>
            </a:extLst>
          </p:cNvPr>
          <p:cNvSpPr txBox="1"/>
          <p:nvPr/>
        </p:nvSpPr>
        <p:spPr>
          <a:xfrm>
            <a:off x="1073932" y="134308"/>
            <a:ext cx="8809103" cy="769441"/>
          </a:xfrm>
          <a:prstGeom prst="rect">
            <a:avLst/>
          </a:prstGeom>
          <a:noFill/>
        </p:spPr>
        <p:txBody>
          <a:bodyPr wrap="square">
            <a:spAutoFit/>
          </a:bodyPr>
          <a:lstStyle/>
          <a:p>
            <a:pPr lvl="0">
              <a:defRPr/>
            </a:pPr>
            <a:r>
              <a:rPr kumimoji="1" lang="en-US" altLang="ja-JP" sz="4400" dirty="0">
                <a:solidFill>
                  <a:schemeClr val="bg1"/>
                </a:solidFill>
                <a:latin typeface="Meiryo UI" panose="020B0604030504040204" pitchFamily="50" charset="-128"/>
                <a:ea typeface="Meiryo UI" panose="020B0604030504040204" pitchFamily="50" charset="-128"/>
              </a:rPr>
              <a:t>Synchronized</a:t>
            </a:r>
            <a:r>
              <a:rPr kumimoji="1" lang="ja-JP" altLang="en-US" sz="4400" dirty="0">
                <a:solidFill>
                  <a:schemeClr val="bg1"/>
                </a:solidFill>
                <a:latin typeface="Meiryo UI" panose="020B0604030504040204" pitchFamily="50" charset="-128"/>
                <a:ea typeface="Meiryo UI" panose="020B0604030504040204" pitchFamily="50" charset="-128"/>
              </a:rPr>
              <a:t>と</a:t>
            </a:r>
            <a:r>
              <a:rPr kumimoji="1" lang="en-US" altLang="ja-JP" sz="4400" dirty="0">
                <a:solidFill>
                  <a:schemeClr val="bg1"/>
                </a:solidFill>
                <a:latin typeface="Meiryo UI" panose="020B0604030504040204" pitchFamily="50" charset="-128"/>
                <a:ea typeface="Meiryo UI" panose="020B0604030504040204" pitchFamily="50" charset="-128"/>
              </a:rPr>
              <a:t>Monitor</a:t>
            </a:r>
            <a:r>
              <a:rPr kumimoji="1" lang="ja-JP" altLang="en-US" sz="4400" dirty="0">
                <a:solidFill>
                  <a:schemeClr val="bg1"/>
                </a:solidFill>
                <a:latin typeface="Meiryo UI" panose="020B0604030504040204" pitchFamily="50" charset="-128"/>
                <a:ea typeface="Meiryo UI" panose="020B0604030504040204" pitchFamily="50" charset="-128"/>
              </a:rPr>
              <a:t>の関係性</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4" name="テキスト ボックス 3">
            <a:extLst>
              <a:ext uri="{FF2B5EF4-FFF2-40B4-BE49-F238E27FC236}">
                <a16:creationId xmlns:a16="http://schemas.microsoft.com/office/drawing/2014/main" id="{CC650DF1-8B37-CB5E-8A94-DF52C3CC9070}"/>
              </a:ext>
            </a:extLst>
          </p:cNvPr>
          <p:cNvSpPr txBox="1"/>
          <p:nvPr/>
        </p:nvSpPr>
        <p:spPr>
          <a:xfrm>
            <a:off x="1073931" y="1224072"/>
            <a:ext cx="10186968" cy="2246769"/>
          </a:xfrm>
          <a:prstGeom prst="rect">
            <a:avLst/>
          </a:prstGeom>
          <a:noFill/>
        </p:spPr>
        <p:txBody>
          <a:bodyPr wrap="square">
            <a:spAutoFit/>
          </a:bodyPr>
          <a:lstStyle/>
          <a:p>
            <a:pPr lvl="0">
              <a:defRPr/>
            </a:pPr>
            <a:r>
              <a:rPr lang="en-US" altLang="ja-JP" sz="2800" dirty="0">
                <a:solidFill>
                  <a:schemeClr val="bg1"/>
                </a:solidFill>
              </a:rPr>
              <a:t>Synchronized</a:t>
            </a:r>
            <a:r>
              <a:rPr lang="ja-JP" altLang="en-US" sz="2800" dirty="0">
                <a:solidFill>
                  <a:schemeClr val="bg1"/>
                </a:solidFill>
              </a:rPr>
              <a:t>の実際の処理</a:t>
            </a:r>
            <a:endParaRPr lang="en-US" altLang="ja-JP" sz="2800" dirty="0">
              <a:solidFill>
                <a:schemeClr val="bg1"/>
              </a:solidFill>
            </a:endParaRPr>
          </a:p>
          <a:p>
            <a:pPr lvl="0">
              <a:defRPr/>
            </a:pPr>
            <a:r>
              <a:rPr lang="en-US" altLang="ja-JP" sz="2800" dirty="0">
                <a:solidFill>
                  <a:schemeClr val="bg1"/>
                </a:solidFill>
              </a:rPr>
              <a:t>	Monitor</a:t>
            </a:r>
            <a:r>
              <a:rPr lang="ja-JP" altLang="en-US" sz="2800" dirty="0">
                <a:solidFill>
                  <a:schemeClr val="bg1"/>
                </a:solidFill>
              </a:rPr>
              <a:t>の</a:t>
            </a:r>
            <a:r>
              <a:rPr lang="en-US" altLang="ja-JP" sz="2800" dirty="0">
                <a:solidFill>
                  <a:schemeClr val="bg1"/>
                </a:solidFill>
              </a:rPr>
              <a:t>Owner</a:t>
            </a:r>
            <a:r>
              <a:rPr lang="ja-JP" altLang="en-US" sz="2800" dirty="0">
                <a:solidFill>
                  <a:schemeClr val="bg1"/>
                </a:solidFill>
              </a:rPr>
              <a:t>がいない時、</a:t>
            </a:r>
            <a:r>
              <a:rPr lang="en-US" altLang="ja-JP" sz="2800" dirty="0">
                <a:solidFill>
                  <a:schemeClr val="bg1"/>
                </a:solidFill>
              </a:rPr>
              <a:t>Thread</a:t>
            </a:r>
            <a:r>
              <a:rPr lang="ja-JP" altLang="en-US" sz="2800" dirty="0">
                <a:solidFill>
                  <a:schemeClr val="bg1"/>
                </a:solidFill>
              </a:rPr>
              <a:t>の処理を実行する</a:t>
            </a:r>
            <a:endParaRPr lang="en-US" altLang="ja-JP" sz="2800" dirty="0">
              <a:solidFill>
                <a:schemeClr val="bg1"/>
              </a:solidFill>
            </a:endParaRPr>
          </a:p>
          <a:p>
            <a:pPr lvl="0">
              <a:defRPr/>
            </a:pPr>
            <a:endParaRPr lang="en-US" altLang="ja-JP" sz="2800" dirty="0">
              <a:solidFill>
                <a:schemeClr val="bg1"/>
              </a:solidFill>
            </a:endParaRPr>
          </a:p>
          <a:p>
            <a:pPr lvl="0">
              <a:defRPr/>
            </a:pPr>
            <a:endParaRPr lang="en-US" altLang="ja-JP" sz="2800" dirty="0">
              <a:solidFill>
                <a:schemeClr val="bg1"/>
              </a:solidFill>
            </a:endParaRPr>
          </a:p>
          <a:p>
            <a:pPr lvl="0">
              <a:defRPr/>
            </a:pPr>
            <a:endParaRPr lang="en-US" altLang="ja-JP" sz="2800" dirty="0">
              <a:solidFill>
                <a:schemeClr val="bg1"/>
              </a:solidFill>
            </a:endParaRPr>
          </a:p>
        </p:txBody>
      </p:sp>
      <p:pic>
        <p:nvPicPr>
          <p:cNvPr id="6" name="図 5">
            <a:extLst>
              <a:ext uri="{FF2B5EF4-FFF2-40B4-BE49-F238E27FC236}">
                <a16:creationId xmlns:a16="http://schemas.microsoft.com/office/drawing/2014/main" id="{55B84180-A0F3-7AFE-9A0A-48D2464BC373}"/>
              </a:ext>
            </a:extLst>
          </p:cNvPr>
          <p:cNvPicPr>
            <a:picLocks noChangeAspect="1"/>
          </p:cNvPicPr>
          <p:nvPr/>
        </p:nvPicPr>
        <p:blipFill>
          <a:blip r:embed="rId3"/>
          <a:stretch>
            <a:fillRect/>
          </a:stretch>
        </p:blipFill>
        <p:spPr>
          <a:xfrm>
            <a:off x="1073931" y="2293610"/>
            <a:ext cx="5782734" cy="4430082"/>
          </a:xfrm>
          <a:prstGeom prst="rect">
            <a:avLst/>
          </a:prstGeom>
        </p:spPr>
      </p:pic>
      <p:pic>
        <p:nvPicPr>
          <p:cNvPr id="9" name="図 8">
            <a:extLst>
              <a:ext uri="{FF2B5EF4-FFF2-40B4-BE49-F238E27FC236}">
                <a16:creationId xmlns:a16="http://schemas.microsoft.com/office/drawing/2014/main" id="{F23E98AB-EC15-D325-EFF3-89F88D1E4CF6}"/>
              </a:ext>
            </a:extLst>
          </p:cNvPr>
          <p:cNvPicPr>
            <a:picLocks noChangeAspect="1"/>
          </p:cNvPicPr>
          <p:nvPr/>
        </p:nvPicPr>
        <p:blipFill>
          <a:blip r:embed="rId4"/>
          <a:stretch>
            <a:fillRect/>
          </a:stretch>
        </p:blipFill>
        <p:spPr>
          <a:xfrm>
            <a:off x="7226713" y="2293610"/>
            <a:ext cx="4322284" cy="4434649"/>
          </a:xfrm>
          <a:prstGeom prst="rect">
            <a:avLst/>
          </a:prstGeom>
        </p:spPr>
      </p:pic>
      <p:sp>
        <p:nvSpPr>
          <p:cNvPr id="12" name="テキスト ボックス 11">
            <a:extLst>
              <a:ext uri="{FF2B5EF4-FFF2-40B4-BE49-F238E27FC236}">
                <a16:creationId xmlns:a16="http://schemas.microsoft.com/office/drawing/2014/main" id="{9FD51A7D-F3C5-5FC0-0B8C-AAD3CD808458}"/>
              </a:ext>
            </a:extLst>
          </p:cNvPr>
          <p:cNvSpPr txBox="1"/>
          <p:nvPr/>
        </p:nvSpPr>
        <p:spPr>
          <a:xfrm>
            <a:off x="6096000" y="993239"/>
            <a:ext cx="3751138" cy="461665"/>
          </a:xfrm>
          <a:prstGeom prst="rect">
            <a:avLst/>
          </a:prstGeom>
          <a:noFill/>
        </p:spPr>
        <p:txBody>
          <a:bodyPr wrap="square">
            <a:spAutoFit/>
          </a:bodyPr>
          <a:lstStyle/>
          <a:p>
            <a:pPr lvl="0">
              <a:defRPr/>
            </a:pPr>
            <a:r>
              <a:rPr lang="ja-JP" altLang="ja-JP" sz="2400" b="1" dirty="0">
                <a:solidFill>
                  <a:schemeClr val="bg1">
                    <a:lumMod val="95000"/>
                  </a:schemeClr>
                </a:solidFill>
              </a:rPr>
              <a:t>ロック未取得状態</a:t>
            </a:r>
            <a:r>
              <a:rPr lang="ja-JP" altLang="en-US" sz="2400" b="1" dirty="0">
                <a:solidFill>
                  <a:schemeClr val="bg1">
                    <a:lumMod val="95000"/>
                  </a:schemeClr>
                </a:solidFill>
              </a:rPr>
              <a:t>の時</a:t>
            </a:r>
            <a:endParaRPr lang="en-US" altLang="ja-JP" sz="2400" b="1" dirty="0">
              <a:solidFill>
                <a:schemeClr val="bg1">
                  <a:lumMod val="95000"/>
                </a:schemeClr>
              </a:solidFill>
            </a:endParaRPr>
          </a:p>
        </p:txBody>
      </p:sp>
      <p:cxnSp>
        <p:nvCxnSpPr>
          <p:cNvPr id="14" name="直線矢印コネクタ 13">
            <a:extLst>
              <a:ext uri="{FF2B5EF4-FFF2-40B4-BE49-F238E27FC236}">
                <a16:creationId xmlns:a16="http://schemas.microsoft.com/office/drawing/2014/main" id="{505960BD-6BD8-A7D7-202F-6A8DDE49533B}"/>
              </a:ext>
            </a:extLst>
          </p:cNvPr>
          <p:cNvCxnSpPr>
            <a:cxnSpLocks/>
          </p:cNvCxnSpPr>
          <p:nvPr/>
        </p:nvCxnSpPr>
        <p:spPr>
          <a:xfrm flipH="1">
            <a:off x="5478483" y="1389393"/>
            <a:ext cx="617517" cy="385834"/>
          </a:xfrm>
          <a:prstGeom prst="straightConnector1">
            <a:avLst/>
          </a:prstGeom>
          <a:ln w="76200" cap="flat" cmpd="sng" algn="ctr">
            <a:solidFill>
              <a:srgbClr val="B63F1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68112343"/>
      </p:ext>
    </p:extLst>
  </p:cSld>
  <p:clrMapOvr>
    <a:masterClrMapping/>
  </p:clrMapOvr>
</p:sld>
</file>

<file path=ppt/theme/theme1.xml><?xml version="1.0" encoding="utf-8"?>
<a:theme xmlns:a="http://schemas.openxmlformats.org/drawingml/2006/main" name="ユーザー設定">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Meiryo UI "/>
        <a:ea typeface=""/>
        <a:cs typeface="Meiryo UI "/>
      </a:majorFont>
      <a:minorFont>
        <a:latin typeface="Meiryo UI "/>
        <a:ea typeface=""/>
        <a:cs typeface="Meiryo UI "/>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72938360_TF78544816_Win32" id="{029ED66B-9A8D-46F5-948E-0ADEE2C80AFD}" vid="{66DD23D5-FBAC-432E-A532-9880DE2D209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FDB7358-0BCB-4DEB-B717-C1D7CC555F05}">
  <ds:schemaRefs>
    <ds:schemaRef ds:uri="http://www.w3.org/XML/1998/namespace"/>
    <ds:schemaRef ds:uri="http://purl.org/dc/terms/"/>
    <ds:schemaRef ds:uri="http://schemas.microsoft.com/sharepoint/v3"/>
    <ds:schemaRef ds:uri="http://schemas.microsoft.com/office/infopath/2007/PartnerControls"/>
    <ds:schemaRef ds:uri="http://purl.org/dc/dcmitype/"/>
    <ds:schemaRef ds:uri="http://schemas.openxmlformats.org/package/2006/metadata/core-properties"/>
    <ds:schemaRef ds:uri="230e9df3-be65-4c73-a93b-d1236ebd677e"/>
    <ds:schemaRef ds:uri="http://schemas.microsoft.com/office/2006/documentManagement/types"/>
    <ds:schemaRef ds:uri="16c05727-aa75-4e4a-9b5f-8a80a1165891"/>
    <ds:schemaRef ds:uri="71af3243-3dd4-4a8d-8c0d-dd76da1f02a5"/>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6DE3707C-8CAB-4302-B7E1-D32E1543E05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会議用モダン プレゼンテーション</Template>
  <TotalTime>9444</TotalTime>
  <Words>1052</Words>
  <Application>Microsoft Office PowerPoint</Application>
  <PresentationFormat>ワイド画面</PresentationFormat>
  <Paragraphs>62</Paragraphs>
  <Slides>9</Slides>
  <Notes>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Meiryo UI</vt:lpstr>
      <vt:lpstr>Arial</vt:lpstr>
      <vt:lpstr>ユーザー設定</vt:lpstr>
      <vt:lpstr>Synchronizedメソッドとは何か？</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j22345nk</dc:creator>
  <cp:lastModifiedBy>g26014nk</cp:lastModifiedBy>
  <cp:revision>425</cp:revision>
  <dcterms:created xsi:type="dcterms:W3CDTF">2026-04-22T00:57:43Z</dcterms:created>
  <dcterms:modified xsi:type="dcterms:W3CDTF">2026-06-29T10:29:28Z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