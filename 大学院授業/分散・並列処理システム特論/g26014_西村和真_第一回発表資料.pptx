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60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5070" autoAdjust="0"/>
  </p:normalViewPr>
  <p:slideViewPr>
    <p:cSldViewPr snapToGrid="0">
      <p:cViewPr>
        <p:scale>
          <a:sx n="50" d="100"/>
          <a:sy n="50" d="100"/>
        </p:scale>
        <p:origin x="1284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0E4A26-C3A4-436A-B410-A5D72EA368D1}" type="datetimeFigureOut">
              <a:rPr kumimoji="1" lang="ja-JP" altLang="en-US" smtClean="0"/>
              <a:t>2026/4/16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AFD92D-9017-45E4-B150-7AA4413291B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14822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では私が調べてきた並列処理と分散処理の違いを説明します。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AFD92D-9017-45E4-B150-7AA4413291B9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653603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私はよくカレーを作るので、今回は</a:t>
            </a:r>
            <a:r>
              <a:rPr kumimoji="1" lang="en-US" altLang="ja-JP" dirty="0"/>
              <a:t>3</a:t>
            </a:r>
            <a:r>
              <a:rPr kumimoji="1" lang="ja-JP" altLang="en-US" dirty="0"/>
              <a:t>時間で</a:t>
            </a:r>
            <a:r>
              <a:rPr kumimoji="1" lang="en-US" altLang="ja-JP" dirty="0"/>
              <a:t>3000</a:t>
            </a:r>
            <a:r>
              <a:rPr kumimoji="1" lang="ja-JP" altLang="en-US" dirty="0"/>
              <a:t>人のカレーを作るという</a:t>
            </a:r>
            <a:br>
              <a:rPr kumimoji="1" lang="en-US" altLang="ja-JP" dirty="0"/>
            </a:br>
            <a:r>
              <a:rPr kumimoji="1" lang="ja-JP" altLang="en-US" dirty="0"/>
              <a:t>例えを使って説明しようと思います。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AFD92D-9017-45E4-B150-7AA4413291B9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679761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kumimoji="1" lang="en-US" altLang="ja-JP" dirty="0"/>
            </a:br>
            <a:r>
              <a:rPr kumimoji="1" lang="ja-JP" altLang="en-US" dirty="0"/>
              <a:t>並列処理は、一つの家で複数の人間が一つの仕事を分担しているイメージです。</a:t>
            </a:r>
            <a:br>
              <a:rPr kumimoji="1" lang="en-US" altLang="ja-JP" dirty="0"/>
            </a:br>
            <a:r>
              <a:rPr kumimoji="1" lang="ja-JP" altLang="en-US" dirty="0"/>
              <a:t>カレーで言うならば、一人は野菜を切る人、一人は肉を切る人、一人はご飯を炊く人のように分担し、</a:t>
            </a:r>
            <a:br>
              <a:rPr kumimoji="1" lang="en-US" altLang="ja-JP" dirty="0"/>
            </a:br>
            <a:r>
              <a:rPr kumimoji="1" lang="ja-JP" altLang="en-US" dirty="0"/>
              <a:t>一斉に一つのキッチンで行うようなイメージです。</a:t>
            </a:r>
            <a:br>
              <a:rPr kumimoji="1" lang="en-US" altLang="ja-JP" dirty="0"/>
            </a:br>
            <a:r>
              <a:rPr kumimoji="1" lang="ja-JP" altLang="en-US" dirty="0"/>
              <a:t>この一人一人が、家にある</a:t>
            </a:r>
            <a:r>
              <a:rPr kumimoji="1" lang="en-US" altLang="ja-JP" dirty="0"/>
              <a:t>CPU</a:t>
            </a:r>
            <a:r>
              <a:rPr kumimoji="1" lang="ja-JP" altLang="en-US" dirty="0"/>
              <a:t>コアであり、これが多ければ多いほど、作業効率は各段にあがりカレーを作る</a:t>
            </a:r>
            <a:br>
              <a:rPr kumimoji="1" lang="en-US" altLang="ja-JP" dirty="0"/>
            </a:br>
            <a:r>
              <a:rPr kumimoji="1" lang="ja-JP" altLang="en-US" dirty="0"/>
              <a:t>速度は増します。また、家の中のため連携が密に取れます。</a:t>
            </a:r>
            <a:br>
              <a:rPr kumimoji="1" lang="en-US" altLang="ja-JP" dirty="0"/>
            </a:br>
            <a:r>
              <a:rPr kumimoji="1" lang="ja-JP" altLang="en-US" dirty="0"/>
              <a:t>このように一つの家という</a:t>
            </a:r>
            <a:r>
              <a:rPr kumimoji="1" lang="en-US" altLang="ja-JP" dirty="0"/>
              <a:t>PC</a:t>
            </a:r>
            <a:r>
              <a:rPr kumimoji="1" lang="ja-JP" altLang="en-US" dirty="0"/>
              <a:t>内で、一人という</a:t>
            </a:r>
            <a:r>
              <a:rPr kumimoji="1" lang="en-US" altLang="ja-JP" dirty="0"/>
              <a:t>CPU</a:t>
            </a:r>
            <a:r>
              <a:rPr kumimoji="1" lang="ja-JP" altLang="en-US" dirty="0"/>
              <a:t>コアでカレーを作るのではなく、複数の</a:t>
            </a:r>
            <a:r>
              <a:rPr kumimoji="1" lang="en-US" altLang="ja-JP" dirty="0"/>
              <a:t>CPU</a:t>
            </a:r>
            <a:r>
              <a:rPr kumimoji="1" lang="ja-JP" altLang="en-US" dirty="0"/>
              <a:t>コアで分担してタスクを終わらせる</a:t>
            </a:r>
            <a:br>
              <a:rPr kumimoji="1" lang="en-US" altLang="ja-JP" dirty="0"/>
            </a:br>
            <a:r>
              <a:rPr kumimoji="1" lang="ja-JP" altLang="en-US" dirty="0"/>
              <a:t>のが並列処理です。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AFD92D-9017-45E4-B150-7AA4413291B9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32716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さて、</a:t>
            </a:r>
            <a:r>
              <a:rPr kumimoji="1" lang="en-US" altLang="ja-JP" dirty="0"/>
              <a:t>3000</a:t>
            </a:r>
            <a:r>
              <a:rPr kumimoji="1" lang="ja-JP" altLang="en-US" dirty="0"/>
              <a:t>人分のカレーを作るには、一つの家（</a:t>
            </a:r>
            <a:r>
              <a:rPr kumimoji="1" lang="en-US" altLang="ja-JP" dirty="0"/>
              <a:t>PC</a:t>
            </a:r>
            <a:r>
              <a:rPr kumimoji="1" lang="ja-JP" altLang="en-US" dirty="0"/>
              <a:t>）ではとても追いつけそうになく、人数を増やすにも、家という枠組みでは窮屈です。</a:t>
            </a:r>
            <a:br>
              <a:rPr kumimoji="1" lang="en-US" altLang="ja-JP" dirty="0"/>
            </a:br>
            <a:r>
              <a:rPr kumimoji="1" lang="ja-JP" altLang="en-US" dirty="0"/>
              <a:t>また、一つの家でもし火事が起きてしまったら</a:t>
            </a:r>
            <a:r>
              <a:rPr kumimoji="1" lang="en-US" altLang="ja-JP" dirty="0"/>
              <a:t>3000</a:t>
            </a:r>
            <a:r>
              <a:rPr kumimoji="1" lang="ja-JP" altLang="en-US" dirty="0"/>
              <a:t>人分の損害です。</a:t>
            </a:r>
            <a:br>
              <a:rPr kumimoji="1" lang="en-US" altLang="ja-JP" dirty="0"/>
            </a:br>
            <a:r>
              <a:rPr kumimoji="1" lang="ja-JP" altLang="en-US" dirty="0"/>
              <a:t>そのため、物理的に離れた複数の家でカレーを依頼しましょう。</a:t>
            </a:r>
            <a:br>
              <a:rPr kumimoji="1" lang="en-US" altLang="ja-JP" dirty="0"/>
            </a:br>
            <a:r>
              <a:rPr kumimoji="1" lang="ja-JP" altLang="en-US" dirty="0"/>
              <a:t>このようにすることで一つの家が火事になっていても、他の家がカバーできるため損害が軽減できます。</a:t>
            </a:r>
            <a:br>
              <a:rPr kumimoji="1" lang="en-US" altLang="ja-JP" dirty="0"/>
            </a:br>
            <a:r>
              <a:rPr kumimoji="1" lang="ja-JP" altLang="en-US" dirty="0"/>
              <a:t>緑の点線のように電話という通信する手間はありますが、</a:t>
            </a:r>
            <a:r>
              <a:rPr kumimoji="1" lang="en-US" altLang="ja-JP" dirty="0"/>
              <a:t>1</a:t>
            </a:r>
            <a:r>
              <a:rPr kumimoji="1" lang="ja-JP" altLang="en-US" dirty="0"/>
              <a:t>台の</a:t>
            </a:r>
            <a:r>
              <a:rPr kumimoji="1" lang="en-US" altLang="ja-JP" dirty="0"/>
              <a:t>PC</a:t>
            </a:r>
            <a:r>
              <a:rPr kumimoji="1" lang="ja-JP" altLang="en-US" dirty="0"/>
              <a:t>では不可能な膨大な量をこなせるのが、分散処理です。</a:t>
            </a:r>
            <a:br>
              <a:rPr kumimoji="1" lang="en-US" altLang="ja-JP" dirty="0"/>
            </a:b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AFD92D-9017-45E4-B150-7AA4413291B9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361956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69EC89-56C9-53D0-9757-8D56F6D368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D58C2EE-C882-D3E3-6470-AC4FA0B784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E81337F-1195-5B26-79D4-037542080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527E1-DBE6-4D22-99CF-E7C37F65B7E6}" type="datetimeFigureOut">
              <a:rPr kumimoji="1" lang="ja-JP" altLang="en-US" smtClean="0"/>
              <a:t>2026/4/16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CBEABF7-7395-5222-204A-8CE6C93B3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ECBBFA3-990B-69F0-F97A-57E1D99A3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90E1A-99CA-440E-915D-FEA97C03AE4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7703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2C53DF-996B-69D8-121D-B02086452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74BC904-6A80-A344-EF71-D4397059D9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F411C-C30D-1489-2092-C4C16B46C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527E1-DBE6-4D22-99CF-E7C37F65B7E6}" type="datetimeFigureOut">
              <a:rPr kumimoji="1" lang="ja-JP" altLang="en-US" smtClean="0"/>
              <a:t>2026/4/16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08F03D7-730A-9817-5735-6EEE1BCC6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8954583-8439-E569-C80B-CF75741CE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90E1A-99CA-440E-915D-FEA97C03AE4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06156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783AA7F-500F-8D24-7AC5-E0E722E3A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DA48965-E20D-8266-0990-38C6CF9F67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E0B852F-655F-C565-332D-A86EA8FF4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527E1-DBE6-4D22-99CF-E7C37F65B7E6}" type="datetimeFigureOut">
              <a:rPr kumimoji="1" lang="ja-JP" altLang="en-US" smtClean="0"/>
              <a:t>2026/4/16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B5DF7AA-0657-8C2C-A1BF-E81888EF9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32136D8-36BD-52A5-B747-0BDFA2305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90E1A-99CA-440E-915D-FEA97C03AE4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442350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4794263-6961-44EE-3749-1C4137A36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5DDD9FC-1900-FB37-7CCB-74D75B5E78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CBC5939-BD47-E480-61E5-263FA33CB4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65559B2-1A18-E4F2-926C-2F3628C85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527E1-DBE6-4D22-99CF-E7C37F65B7E6}" type="datetimeFigureOut">
              <a:rPr kumimoji="1" lang="ja-JP" altLang="en-US" smtClean="0"/>
              <a:t>2026/4/16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18CCD6F-724C-2406-9CAD-7262D4846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21C1828-DD25-0572-9567-362900A9E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90E1A-99CA-440E-915D-FEA97C03AE4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797388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607CC3C-16C3-7162-0A24-7D885E424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71CA488-BBD1-9014-4A28-0639FEB132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D09F4FC-5900-46F9-29BC-A29A4EC506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968861A-FAC6-8AC2-B3C1-E82710E74E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E39CB1EC-09C8-DFD8-DC68-784B3CF5F3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AE0A397-ACDD-57E9-0723-74A0AB6F3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527E1-DBE6-4D22-99CF-E7C37F65B7E6}" type="datetimeFigureOut">
              <a:rPr kumimoji="1" lang="ja-JP" altLang="en-US" smtClean="0"/>
              <a:t>2026/4/16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53FC11E-5DFE-40F2-C902-60E68F394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3F709C5B-9636-D75C-333E-BA5BA29C0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90E1A-99CA-440E-915D-FEA97C03AE4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81789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2404DBA-A1AF-F28F-46FA-C541E1A4E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0948486-134B-D0BD-1EBA-C3D975623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527E1-DBE6-4D22-99CF-E7C37F65B7E6}" type="datetimeFigureOut">
              <a:rPr kumimoji="1" lang="ja-JP" altLang="en-US" smtClean="0"/>
              <a:t>2026/4/16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C2497DA3-C191-F4B0-FF67-1DF21438D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837C952-8712-EDEE-66DC-69707F547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90E1A-99CA-440E-915D-FEA97C03AE4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55375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0E9A73FD-EFB6-F0A7-8B70-D5E514807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527E1-DBE6-4D22-99CF-E7C37F65B7E6}" type="datetimeFigureOut">
              <a:rPr kumimoji="1" lang="ja-JP" altLang="en-US" smtClean="0"/>
              <a:t>2026/4/16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E5034AE-7AE0-7DC5-1CA5-E59AF7B89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B90C95A-8D08-F52B-A0F6-9EE94A7D5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90E1A-99CA-440E-915D-FEA97C03AE4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210907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4CF1364-3C06-82E2-F5A4-70DB0FAC6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4A3A874-729E-A166-8F23-F4D7A8D1CF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1753013-CC91-BB73-48D2-62E912D1CF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0CEC8CF-D239-8F27-6BCE-E96AF8A2E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527E1-DBE6-4D22-99CF-E7C37F65B7E6}" type="datetimeFigureOut">
              <a:rPr kumimoji="1" lang="ja-JP" altLang="en-US" smtClean="0"/>
              <a:t>2026/4/16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F152358-F042-C8B7-CCA4-191B3B63E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6D90A53-EE0C-71EA-DDB5-E1F50BE69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90E1A-99CA-440E-915D-FEA97C03AE4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34014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32A0143-0196-C388-D2C5-BACC35DEB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6004B6BC-320C-2B85-F10B-CDF38842D9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7ECD40B-4F0F-2DB9-8435-8CB67D9873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C59284A-D635-9476-8810-8CDDC8390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527E1-DBE6-4D22-99CF-E7C37F65B7E6}" type="datetimeFigureOut">
              <a:rPr kumimoji="1" lang="ja-JP" altLang="en-US" smtClean="0"/>
              <a:t>2026/4/16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4EA97AF-D2EE-BD93-669E-688B5BFC0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1BD755A-4D22-1A1E-2F52-132C96E80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90E1A-99CA-440E-915D-FEA97C03AE4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802981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B98F413-6E7F-6AC6-74AF-1C5351AD0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F793747-0B60-01DD-BC58-DDD0B309DA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05AB85E-3178-9639-7990-A62BFAC2C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527E1-DBE6-4D22-99CF-E7C37F65B7E6}" type="datetimeFigureOut">
              <a:rPr kumimoji="1" lang="ja-JP" altLang="en-US" smtClean="0"/>
              <a:t>2026/4/16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4BC2596-7F2B-7E39-C18C-C8FFD5D65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E433166-9C69-0E30-DF83-7D95146AE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90E1A-99CA-440E-915D-FEA97C03AE4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50887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F568F1F-E622-D99F-8FE4-7B284C0C50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17B15F9-4CBC-4659-46EF-A473AE921E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09E568F-5612-1829-8CF3-1FE14D10B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527E1-DBE6-4D22-99CF-E7C37F65B7E6}" type="datetimeFigureOut">
              <a:rPr kumimoji="1" lang="ja-JP" altLang="en-US" smtClean="0"/>
              <a:t>2026/4/16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DAF40A0-16E2-159D-243F-06D5E98FD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0E2B872-1910-91E2-D1FD-7E673B8ED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890E1A-99CA-440E-915D-FEA97C03AE4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78337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5A13EE02-80E7-1FD7-D1AA-8CF261081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F7D1690-7CE9-ACDE-5858-AD059318A8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C9F3E39-F26E-4506-BFD3-9CB45D3166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C527E1-DBE6-4D22-99CF-E7C37F65B7E6}" type="datetimeFigureOut">
              <a:rPr kumimoji="1" lang="ja-JP" altLang="en-US" smtClean="0"/>
              <a:t>2026/4/16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2929F47-503B-9A3D-3F81-73347557E0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A02BCCB-3859-F2B9-609C-AEF2E8F095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890E1A-99CA-440E-915D-FEA97C03AE4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6900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6B8BF73-BCD2-F167-07BD-FDCA4E5823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/>
              <a:t>並列処理と分散処理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4E4D263-A788-D167-0C76-D4D68451097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ja-JP" dirty="0"/>
              <a:t>M</a:t>
            </a:r>
            <a:r>
              <a:rPr kumimoji="1" lang="ja-JP" altLang="en-US" dirty="0"/>
              <a:t>１</a:t>
            </a:r>
            <a:r>
              <a:rPr kumimoji="1" lang="en-US" altLang="ja-JP" dirty="0"/>
              <a:t> </a:t>
            </a:r>
            <a:r>
              <a:rPr kumimoji="1" lang="ja-JP" altLang="en-US" dirty="0"/>
              <a:t>西村和真</a:t>
            </a:r>
          </a:p>
        </p:txBody>
      </p:sp>
    </p:spTree>
    <p:extLst>
      <p:ext uri="{BB962C8B-B14F-4D97-AF65-F5344CB8AC3E}">
        <p14:creationId xmlns:p14="http://schemas.microsoft.com/office/powerpoint/2010/main" val="28864990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95EC5-4D82-ADAA-54E4-479B76A05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F090FA9-A661-6FAA-4DCC-3EBB8A1DAA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6163" y="1122363"/>
            <a:ext cx="9978656" cy="1961079"/>
          </a:xfrm>
        </p:spPr>
        <p:txBody>
          <a:bodyPr>
            <a:normAutofit/>
          </a:bodyPr>
          <a:lstStyle/>
          <a:p>
            <a:r>
              <a:rPr lang="en-US" altLang="ja-JP" dirty="0"/>
              <a:t>3</a:t>
            </a:r>
            <a:r>
              <a:rPr kumimoji="1" lang="ja-JP" altLang="en-US" dirty="0"/>
              <a:t>時間で</a:t>
            </a:r>
            <a:br>
              <a:rPr kumimoji="1" lang="en-US" altLang="ja-JP" dirty="0"/>
            </a:br>
            <a:r>
              <a:rPr kumimoji="1" lang="en-US" altLang="ja-JP" dirty="0"/>
              <a:t>3000</a:t>
            </a:r>
            <a:r>
              <a:rPr kumimoji="1" lang="ja-JP" altLang="en-US" dirty="0"/>
              <a:t>人分のカレーを作れ</a:t>
            </a:r>
          </a:p>
        </p:txBody>
      </p:sp>
      <p:sp>
        <p:nvSpPr>
          <p:cNvPr id="4" name="タイトル 1">
            <a:extLst>
              <a:ext uri="{FF2B5EF4-FFF2-40B4-BE49-F238E27FC236}">
                <a16:creationId xmlns:a16="http://schemas.microsoft.com/office/drawing/2014/main" id="{9FA6589E-DF97-E3EE-41FB-7C46CACF6CB3}"/>
              </a:ext>
            </a:extLst>
          </p:cNvPr>
          <p:cNvSpPr txBox="1">
            <a:spLocks/>
          </p:cNvSpPr>
          <p:nvPr/>
        </p:nvSpPr>
        <p:spPr>
          <a:xfrm>
            <a:off x="1524000" y="2727879"/>
            <a:ext cx="9144000" cy="318382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512951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6D577B-0632-4603-9525-DD387663B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235A787-AB95-1F18-D929-BCE805B75E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5563" y="165433"/>
            <a:ext cx="3296487" cy="787067"/>
          </a:xfrm>
        </p:spPr>
        <p:txBody>
          <a:bodyPr>
            <a:noAutofit/>
          </a:bodyPr>
          <a:lstStyle/>
          <a:p>
            <a:r>
              <a:rPr kumimoji="1" lang="ja-JP" altLang="en-US" sz="5400" dirty="0"/>
              <a:t>並列処理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A946ED1-54FD-AEB2-A522-61EA66DB41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02050" y="3254744"/>
            <a:ext cx="4016351" cy="910855"/>
          </a:xfrm>
        </p:spPr>
        <p:txBody>
          <a:bodyPr/>
          <a:lstStyle/>
          <a:p>
            <a:endParaRPr kumimoji="1" lang="ja-JP" altLang="en-US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7E8BA1A-6F8E-5695-896F-ECCD20C770F5}"/>
              </a:ext>
            </a:extLst>
          </p:cNvPr>
          <p:cNvSpPr/>
          <p:nvPr/>
        </p:nvSpPr>
        <p:spPr>
          <a:xfrm>
            <a:off x="736600" y="1087276"/>
            <a:ext cx="10718800" cy="524578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4400" dirty="0"/>
              <a:t>家（</a:t>
            </a:r>
            <a:r>
              <a:rPr kumimoji="1" lang="en-US" altLang="ja-JP" sz="4400" dirty="0"/>
              <a:t>PC)</a:t>
            </a:r>
            <a:br>
              <a:rPr kumimoji="1" lang="en-US" altLang="ja-JP" dirty="0"/>
            </a:br>
            <a:br>
              <a:rPr kumimoji="1" lang="en-US" altLang="ja-JP" dirty="0"/>
            </a:br>
            <a:br>
              <a:rPr kumimoji="1" lang="en-US" altLang="ja-JP" dirty="0"/>
            </a:br>
            <a:br>
              <a:rPr kumimoji="1" lang="en-US" altLang="ja-JP" dirty="0"/>
            </a:br>
            <a:br>
              <a:rPr kumimoji="1" lang="en-US" altLang="ja-JP" dirty="0"/>
            </a:br>
            <a:br>
              <a:rPr kumimoji="1" lang="en-US" altLang="ja-JP" dirty="0"/>
            </a:br>
            <a:br>
              <a:rPr kumimoji="1" lang="en-US" altLang="ja-JP" dirty="0"/>
            </a:br>
            <a:br>
              <a:rPr kumimoji="1" lang="en-US" altLang="ja-JP" dirty="0"/>
            </a:br>
            <a:br>
              <a:rPr kumimoji="1" lang="en-US" altLang="ja-JP" dirty="0"/>
            </a:br>
            <a:br>
              <a:rPr kumimoji="1" lang="en-US" altLang="ja-JP" dirty="0"/>
            </a:br>
            <a:br>
              <a:rPr kumimoji="1" lang="en-US" altLang="ja-JP" dirty="0"/>
            </a:br>
            <a:br>
              <a:rPr kumimoji="1" lang="en-US" altLang="ja-JP" dirty="0"/>
            </a:br>
            <a:br>
              <a:rPr kumimoji="1" lang="en-US" altLang="ja-JP" dirty="0"/>
            </a:br>
            <a:br>
              <a:rPr kumimoji="1" lang="en-US" altLang="ja-JP" dirty="0"/>
            </a:br>
            <a:br>
              <a:rPr kumimoji="1" lang="en-US" altLang="ja-JP" dirty="0"/>
            </a:br>
            <a:br>
              <a:rPr kumimoji="1" lang="en-US" altLang="ja-JP" dirty="0"/>
            </a:br>
            <a:endParaRPr kumimoji="1" lang="ja-JP" altLang="en-US" dirty="0"/>
          </a:p>
        </p:txBody>
      </p:sp>
      <p:pic>
        <p:nvPicPr>
          <p:cNvPr id="8" name="グラフィックス 7" descr="男性 枠線">
            <a:extLst>
              <a:ext uri="{FF2B5EF4-FFF2-40B4-BE49-F238E27FC236}">
                <a16:creationId xmlns:a16="http://schemas.microsoft.com/office/drawing/2014/main" id="{6BE3F755-5257-9152-9CC3-C6D21A9D049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3600" y="2253560"/>
            <a:ext cx="914400" cy="914400"/>
          </a:xfrm>
          <a:prstGeom prst="rect">
            <a:avLst/>
          </a:prstGeom>
        </p:spPr>
      </p:pic>
      <p:pic>
        <p:nvPicPr>
          <p:cNvPr id="9" name="グラフィックス 8" descr="男性 枠線">
            <a:extLst>
              <a:ext uri="{FF2B5EF4-FFF2-40B4-BE49-F238E27FC236}">
                <a16:creationId xmlns:a16="http://schemas.microsoft.com/office/drawing/2014/main" id="{D3C7EA4F-3EF2-1786-0631-9148FEDEB3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6667" y="3633971"/>
            <a:ext cx="914400" cy="914400"/>
          </a:xfrm>
          <a:prstGeom prst="rect">
            <a:avLst/>
          </a:prstGeom>
        </p:spPr>
      </p:pic>
      <p:pic>
        <p:nvPicPr>
          <p:cNvPr id="10" name="グラフィックス 9" descr="男性 枠線">
            <a:extLst>
              <a:ext uri="{FF2B5EF4-FFF2-40B4-BE49-F238E27FC236}">
                <a16:creationId xmlns:a16="http://schemas.microsoft.com/office/drawing/2014/main" id="{6548BB1A-153A-3BB8-A812-FE40F77E65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3600" y="5113177"/>
            <a:ext cx="914400" cy="914400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5287D8F4-9FD3-38C8-2155-FCFA38C5E512}"/>
              </a:ext>
            </a:extLst>
          </p:cNvPr>
          <p:cNvSpPr txBox="1"/>
          <p:nvPr/>
        </p:nvSpPr>
        <p:spPr>
          <a:xfrm>
            <a:off x="7884844" y="2253560"/>
            <a:ext cx="1169551" cy="3858288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kumimoji="1" lang="ja-JP" alt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カレーを作るタスク</a:t>
            </a:r>
            <a:br>
              <a:rPr kumimoji="1" lang="en-US" altLang="ja-JP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r>
              <a:rPr lang="en-US" altLang="ja-JP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</a:t>
            </a:r>
            <a:r>
              <a:rPr lang="ja-JP" alt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一つのタスク</a:t>
            </a:r>
            <a:r>
              <a:rPr lang="en-US" altLang="ja-JP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)</a:t>
            </a:r>
            <a:endParaRPr kumimoji="1" lang="ja-JP" altLang="en-US" sz="3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" name="矢印: 右 13">
            <a:extLst>
              <a:ext uri="{FF2B5EF4-FFF2-40B4-BE49-F238E27FC236}">
                <a16:creationId xmlns:a16="http://schemas.microsoft.com/office/drawing/2014/main" id="{244CC74C-8438-4598-D348-B224C704722C}"/>
              </a:ext>
            </a:extLst>
          </p:cNvPr>
          <p:cNvSpPr/>
          <p:nvPr/>
        </p:nvSpPr>
        <p:spPr>
          <a:xfrm>
            <a:off x="2436043" y="2157424"/>
            <a:ext cx="5283200" cy="1106671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野菜を切る</a:t>
            </a:r>
          </a:p>
        </p:txBody>
      </p:sp>
      <p:sp>
        <p:nvSpPr>
          <p:cNvPr id="15" name="矢印: 右 14">
            <a:extLst>
              <a:ext uri="{FF2B5EF4-FFF2-40B4-BE49-F238E27FC236}">
                <a16:creationId xmlns:a16="http://schemas.microsoft.com/office/drawing/2014/main" id="{E41AAFD3-23F6-CAB2-0799-85292F01CD6C}"/>
              </a:ext>
            </a:extLst>
          </p:cNvPr>
          <p:cNvSpPr/>
          <p:nvPr/>
        </p:nvSpPr>
        <p:spPr>
          <a:xfrm>
            <a:off x="2436043" y="3570276"/>
            <a:ext cx="5283200" cy="1106671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肉を切り</a:t>
            </a:r>
          </a:p>
        </p:txBody>
      </p:sp>
      <p:sp>
        <p:nvSpPr>
          <p:cNvPr id="16" name="矢印: 右 15">
            <a:extLst>
              <a:ext uri="{FF2B5EF4-FFF2-40B4-BE49-F238E27FC236}">
                <a16:creationId xmlns:a16="http://schemas.microsoft.com/office/drawing/2014/main" id="{5B715656-66CB-4262-3397-A325B6C5537B}"/>
              </a:ext>
            </a:extLst>
          </p:cNvPr>
          <p:cNvSpPr/>
          <p:nvPr/>
        </p:nvSpPr>
        <p:spPr>
          <a:xfrm>
            <a:off x="2436043" y="4889617"/>
            <a:ext cx="5283200" cy="1106671"/>
          </a:xfrm>
          <a:prstGeom prst="righ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ご飯を作る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667CC47A-2B24-E9B1-C767-724305201F5C}"/>
              </a:ext>
            </a:extLst>
          </p:cNvPr>
          <p:cNvSpPr/>
          <p:nvPr/>
        </p:nvSpPr>
        <p:spPr>
          <a:xfrm>
            <a:off x="863600" y="5442953"/>
            <a:ext cx="1155700" cy="462547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CPU</a:t>
            </a:r>
            <a:r>
              <a:rPr kumimoji="1" lang="ja-JP" altLang="en-US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コア</a:t>
            </a:r>
            <a:endParaRPr kumimoji="1" lang="ja-JP" altLang="en-US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A6625C92-9B1E-2A29-9584-FF1FEE4E00AF}"/>
              </a:ext>
            </a:extLst>
          </p:cNvPr>
          <p:cNvSpPr/>
          <p:nvPr/>
        </p:nvSpPr>
        <p:spPr>
          <a:xfrm>
            <a:off x="808567" y="2463671"/>
            <a:ext cx="1155700" cy="462547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CPU</a:t>
            </a:r>
            <a:r>
              <a:rPr kumimoji="1" lang="ja-JP" altLang="en-US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コア</a:t>
            </a:r>
            <a:endParaRPr kumimoji="1" lang="ja-JP" altLang="en-US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4DF6FB5B-D2FD-3823-BDB6-B97D19AD300A}"/>
              </a:ext>
            </a:extLst>
          </p:cNvPr>
          <p:cNvSpPr/>
          <p:nvPr/>
        </p:nvSpPr>
        <p:spPr>
          <a:xfrm>
            <a:off x="846667" y="3915589"/>
            <a:ext cx="1155700" cy="462547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CPU</a:t>
            </a:r>
            <a:r>
              <a:rPr kumimoji="1" lang="ja-JP" altLang="en-US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コア</a:t>
            </a:r>
            <a:endParaRPr kumimoji="1" lang="ja-JP" altLang="en-US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98388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D56DB-75EC-9740-DC37-F359B9017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1">
            <a:extLst>
              <a:ext uri="{FF2B5EF4-FFF2-40B4-BE49-F238E27FC236}">
                <a16:creationId xmlns:a16="http://schemas.microsoft.com/office/drawing/2014/main" id="{9F8C13FA-AE4E-B54F-883A-1EF77AC81215}"/>
              </a:ext>
            </a:extLst>
          </p:cNvPr>
          <p:cNvSpPr txBox="1">
            <a:spLocks/>
          </p:cNvSpPr>
          <p:nvPr/>
        </p:nvSpPr>
        <p:spPr>
          <a:xfrm>
            <a:off x="205563" y="165433"/>
            <a:ext cx="3185337" cy="787067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5400" dirty="0"/>
              <a:t>分散処理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E9523947-A187-97EF-75C8-72A69B294FDD}"/>
              </a:ext>
            </a:extLst>
          </p:cNvPr>
          <p:cNvSpPr/>
          <p:nvPr/>
        </p:nvSpPr>
        <p:spPr>
          <a:xfrm>
            <a:off x="1460500" y="1087278"/>
            <a:ext cx="2654300" cy="105124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4000" dirty="0"/>
              <a:t>家１（</a:t>
            </a:r>
            <a:r>
              <a:rPr kumimoji="1" lang="en-US" altLang="ja-JP" sz="4000" dirty="0"/>
              <a:t>PC)</a:t>
            </a:r>
            <a:endParaRPr kumimoji="1" lang="ja-JP" altLang="en-US" sz="4000" dirty="0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A828BF8A-0C69-40E8-FD67-A59DA5A07022}"/>
              </a:ext>
            </a:extLst>
          </p:cNvPr>
          <p:cNvSpPr/>
          <p:nvPr/>
        </p:nvSpPr>
        <p:spPr>
          <a:xfrm>
            <a:off x="7863664" y="1087324"/>
            <a:ext cx="2653200" cy="10512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4000" dirty="0"/>
              <a:t>家２（</a:t>
            </a:r>
            <a:r>
              <a:rPr kumimoji="1" lang="en-US" altLang="ja-JP" sz="4000" dirty="0"/>
              <a:t>PC)</a:t>
            </a:r>
            <a:endParaRPr kumimoji="1" lang="ja-JP" altLang="en-US" sz="4000" dirty="0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17897083-98AE-FBA1-8EC9-D4798A7920DF}"/>
              </a:ext>
            </a:extLst>
          </p:cNvPr>
          <p:cNvSpPr/>
          <p:nvPr/>
        </p:nvSpPr>
        <p:spPr>
          <a:xfrm>
            <a:off x="1460500" y="2893532"/>
            <a:ext cx="2654300" cy="92424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4000" dirty="0"/>
              <a:t>家３（</a:t>
            </a:r>
            <a:r>
              <a:rPr kumimoji="1" lang="en-US" altLang="ja-JP" sz="4000" dirty="0"/>
              <a:t>PC)</a:t>
            </a:r>
            <a:endParaRPr kumimoji="1" lang="ja-JP" altLang="en-US" sz="4000" dirty="0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A3F79D15-1716-2CA1-B05C-880A104AD7A7}"/>
              </a:ext>
            </a:extLst>
          </p:cNvPr>
          <p:cNvSpPr/>
          <p:nvPr/>
        </p:nvSpPr>
        <p:spPr>
          <a:xfrm>
            <a:off x="7863664" y="2766577"/>
            <a:ext cx="2653200" cy="10512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4000" dirty="0"/>
              <a:t>家４（</a:t>
            </a:r>
            <a:r>
              <a:rPr kumimoji="1" lang="en-US" altLang="ja-JP" sz="4000" dirty="0"/>
              <a:t>PC)</a:t>
            </a:r>
            <a:endParaRPr kumimoji="1" lang="ja-JP" altLang="en-US" sz="4000" dirty="0"/>
          </a:p>
        </p:txBody>
      </p:sp>
      <p:sp>
        <p:nvSpPr>
          <p:cNvPr id="13" name="フローチャート: 結合子 12">
            <a:extLst>
              <a:ext uri="{FF2B5EF4-FFF2-40B4-BE49-F238E27FC236}">
                <a16:creationId xmlns:a16="http://schemas.microsoft.com/office/drawing/2014/main" id="{AB397B52-BD02-6521-4875-C4FA5AA8E459}"/>
              </a:ext>
            </a:extLst>
          </p:cNvPr>
          <p:cNvSpPr/>
          <p:nvPr/>
        </p:nvSpPr>
        <p:spPr>
          <a:xfrm>
            <a:off x="5638800" y="4686300"/>
            <a:ext cx="266700" cy="29210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フローチャート: 結合子 15">
            <a:extLst>
              <a:ext uri="{FF2B5EF4-FFF2-40B4-BE49-F238E27FC236}">
                <a16:creationId xmlns:a16="http://schemas.microsoft.com/office/drawing/2014/main" id="{E689A09D-71E2-2A4B-1B05-2F2AEF05FD63}"/>
              </a:ext>
            </a:extLst>
          </p:cNvPr>
          <p:cNvSpPr/>
          <p:nvPr/>
        </p:nvSpPr>
        <p:spPr>
          <a:xfrm>
            <a:off x="5638800" y="5222875"/>
            <a:ext cx="266700" cy="29210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フローチャート: 結合子 16">
            <a:extLst>
              <a:ext uri="{FF2B5EF4-FFF2-40B4-BE49-F238E27FC236}">
                <a16:creationId xmlns:a16="http://schemas.microsoft.com/office/drawing/2014/main" id="{26A1661D-9786-8E23-72A5-BF17C3FA3ED6}"/>
              </a:ext>
            </a:extLst>
          </p:cNvPr>
          <p:cNvSpPr/>
          <p:nvPr/>
        </p:nvSpPr>
        <p:spPr>
          <a:xfrm>
            <a:off x="5638800" y="5759450"/>
            <a:ext cx="266700" cy="29210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フローチャート: 結合子 17">
            <a:extLst>
              <a:ext uri="{FF2B5EF4-FFF2-40B4-BE49-F238E27FC236}">
                <a16:creationId xmlns:a16="http://schemas.microsoft.com/office/drawing/2014/main" id="{9C0A933A-255B-3D8C-206F-4DB1B7F2842B}"/>
              </a:ext>
            </a:extLst>
          </p:cNvPr>
          <p:cNvSpPr/>
          <p:nvPr/>
        </p:nvSpPr>
        <p:spPr>
          <a:xfrm>
            <a:off x="5638800" y="4149725"/>
            <a:ext cx="266700" cy="29210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フローチャート: 結合子 18">
            <a:extLst>
              <a:ext uri="{FF2B5EF4-FFF2-40B4-BE49-F238E27FC236}">
                <a16:creationId xmlns:a16="http://schemas.microsoft.com/office/drawing/2014/main" id="{0F92F2BC-9ED4-BF61-F8D4-3CECEBF06B19}"/>
              </a:ext>
            </a:extLst>
          </p:cNvPr>
          <p:cNvSpPr/>
          <p:nvPr/>
        </p:nvSpPr>
        <p:spPr>
          <a:xfrm>
            <a:off x="5638800" y="6296025"/>
            <a:ext cx="266700" cy="29210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21608B69-82A2-6287-EFA9-E39DC6ECD609}"/>
              </a:ext>
            </a:extLst>
          </p:cNvPr>
          <p:cNvSpPr txBox="1"/>
          <p:nvPr/>
        </p:nvSpPr>
        <p:spPr>
          <a:xfrm>
            <a:off x="6477000" y="5105400"/>
            <a:ext cx="1549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4000" dirty="0"/>
              <a:t>×100</a:t>
            </a:r>
            <a:endParaRPr kumimoji="1" lang="ja-JP" altLang="en-US" sz="4000" dirty="0"/>
          </a:p>
        </p:txBody>
      </p: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DD04DA94-D238-729A-101E-0DF28A2D38AE}"/>
              </a:ext>
            </a:extLst>
          </p:cNvPr>
          <p:cNvCxnSpPr>
            <a:cxnSpLocks/>
          </p:cNvCxnSpPr>
          <p:nvPr/>
        </p:nvCxnSpPr>
        <p:spPr>
          <a:xfrm>
            <a:off x="1193800" y="952500"/>
            <a:ext cx="3334932" cy="149123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75F75F19-5346-8565-6489-C1828902C75C}"/>
              </a:ext>
            </a:extLst>
          </p:cNvPr>
          <p:cNvCxnSpPr>
            <a:cxnSpLocks/>
          </p:cNvCxnSpPr>
          <p:nvPr/>
        </p:nvCxnSpPr>
        <p:spPr>
          <a:xfrm flipH="1">
            <a:off x="1120850" y="952500"/>
            <a:ext cx="3333600" cy="1490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楕円 27">
            <a:extLst>
              <a:ext uri="{FF2B5EF4-FFF2-40B4-BE49-F238E27FC236}">
                <a16:creationId xmlns:a16="http://schemas.microsoft.com/office/drawing/2014/main" id="{8B149620-0CFC-6B62-04A0-0FCEAAF1BB7B}"/>
              </a:ext>
            </a:extLst>
          </p:cNvPr>
          <p:cNvSpPr/>
          <p:nvPr/>
        </p:nvSpPr>
        <p:spPr>
          <a:xfrm>
            <a:off x="7403225" y="558966"/>
            <a:ext cx="3679750" cy="205723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楕円 28">
            <a:extLst>
              <a:ext uri="{FF2B5EF4-FFF2-40B4-BE49-F238E27FC236}">
                <a16:creationId xmlns:a16="http://schemas.microsoft.com/office/drawing/2014/main" id="{EF763882-9606-F22A-EFDB-630DC7DAE136}"/>
              </a:ext>
            </a:extLst>
          </p:cNvPr>
          <p:cNvSpPr/>
          <p:nvPr/>
        </p:nvSpPr>
        <p:spPr>
          <a:xfrm>
            <a:off x="7403225" y="2238541"/>
            <a:ext cx="3679750" cy="205723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楕円 29">
            <a:extLst>
              <a:ext uri="{FF2B5EF4-FFF2-40B4-BE49-F238E27FC236}">
                <a16:creationId xmlns:a16="http://schemas.microsoft.com/office/drawing/2014/main" id="{0E627365-F98A-3A55-C385-E600C2DC0F00}"/>
              </a:ext>
            </a:extLst>
          </p:cNvPr>
          <p:cNvSpPr/>
          <p:nvPr/>
        </p:nvSpPr>
        <p:spPr>
          <a:xfrm>
            <a:off x="1021391" y="2327037"/>
            <a:ext cx="3679750" cy="205723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8" name="直線コネクタ 37">
            <a:extLst>
              <a:ext uri="{FF2B5EF4-FFF2-40B4-BE49-F238E27FC236}">
                <a16:creationId xmlns:a16="http://schemas.microsoft.com/office/drawing/2014/main" id="{943562CD-EA32-8E89-32F3-5D342DC2DCBC}"/>
              </a:ext>
            </a:extLst>
          </p:cNvPr>
          <p:cNvCxnSpPr>
            <a:cxnSpLocks/>
          </p:cNvCxnSpPr>
          <p:nvPr/>
        </p:nvCxnSpPr>
        <p:spPr>
          <a:xfrm>
            <a:off x="4788776" y="3515921"/>
            <a:ext cx="2567325" cy="41898"/>
          </a:xfrm>
          <a:prstGeom prst="line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直線コネクタ 39">
            <a:extLst>
              <a:ext uri="{FF2B5EF4-FFF2-40B4-BE49-F238E27FC236}">
                <a16:creationId xmlns:a16="http://schemas.microsoft.com/office/drawing/2014/main" id="{13E915EC-48EE-EE57-F276-30C33537E608}"/>
              </a:ext>
            </a:extLst>
          </p:cNvPr>
          <p:cNvCxnSpPr>
            <a:cxnSpLocks/>
          </p:cNvCxnSpPr>
          <p:nvPr/>
        </p:nvCxnSpPr>
        <p:spPr>
          <a:xfrm>
            <a:off x="4788776" y="1736268"/>
            <a:ext cx="2455394" cy="1527480"/>
          </a:xfrm>
          <a:prstGeom prst="line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EEB92F2B-1F76-6CC8-0159-A79314AD17C2}"/>
              </a:ext>
            </a:extLst>
          </p:cNvPr>
          <p:cNvCxnSpPr>
            <a:cxnSpLocks/>
          </p:cNvCxnSpPr>
          <p:nvPr/>
        </p:nvCxnSpPr>
        <p:spPr>
          <a:xfrm>
            <a:off x="4649680" y="1357848"/>
            <a:ext cx="2603063" cy="26788"/>
          </a:xfrm>
          <a:prstGeom prst="line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6" name="直線コネクタ 45">
            <a:extLst>
              <a:ext uri="{FF2B5EF4-FFF2-40B4-BE49-F238E27FC236}">
                <a16:creationId xmlns:a16="http://schemas.microsoft.com/office/drawing/2014/main" id="{D6EF91CE-11B2-AFC7-5468-7E60D155ED7A}"/>
              </a:ext>
            </a:extLst>
          </p:cNvPr>
          <p:cNvCxnSpPr>
            <a:cxnSpLocks/>
          </p:cNvCxnSpPr>
          <p:nvPr/>
        </p:nvCxnSpPr>
        <p:spPr>
          <a:xfrm flipH="1">
            <a:off x="4788776" y="1816890"/>
            <a:ext cx="2455200" cy="1446858"/>
          </a:xfrm>
          <a:prstGeom prst="line">
            <a:avLst/>
          </a:prstGeom>
          <a:ln w="1905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9569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  <p:bldP spid="3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3A918-AA25-1D33-0D8F-0CC293C80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4938A8D-E46E-EC52-49AD-95BA1CA5A6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4000" y="195263"/>
            <a:ext cx="2540000" cy="973137"/>
          </a:xfrm>
        </p:spPr>
        <p:txBody>
          <a:bodyPr/>
          <a:lstStyle/>
          <a:p>
            <a:r>
              <a:rPr kumimoji="1" lang="ja-JP" altLang="en-US" dirty="0"/>
              <a:t>まとめ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BC6AFAB-7EBF-10A8-DFB2-5E2CF689DC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300" y="1168400"/>
            <a:ext cx="10096500" cy="4813300"/>
          </a:xfrm>
        </p:spPr>
        <p:txBody>
          <a:bodyPr>
            <a:normAutofit/>
          </a:bodyPr>
          <a:lstStyle/>
          <a:p>
            <a:pPr algn="l"/>
            <a:r>
              <a:rPr kumimoji="1" lang="ja-JP" altLang="en-US" sz="4500" dirty="0"/>
              <a:t>並列処理</a:t>
            </a:r>
            <a:br>
              <a:rPr kumimoji="1" lang="en-US" altLang="ja-JP" sz="5000" dirty="0"/>
            </a:br>
            <a:r>
              <a:rPr kumimoji="1" lang="ja-JP" altLang="en-US" sz="5000" dirty="0"/>
              <a:t>　</a:t>
            </a:r>
            <a:r>
              <a:rPr kumimoji="1" lang="ja-JP" altLang="en-US" sz="4500" dirty="0"/>
              <a:t>・</a:t>
            </a:r>
            <a:r>
              <a:rPr lang="ja-JP" altLang="en-US" sz="4500" dirty="0"/>
              <a:t>単体の</a:t>
            </a:r>
            <a:r>
              <a:rPr lang="en-US" altLang="ja-JP" sz="4500" dirty="0"/>
              <a:t>PC</a:t>
            </a:r>
            <a:r>
              <a:rPr lang="ja-JP" altLang="en-US" sz="4500" dirty="0"/>
              <a:t>の性能を向上させる。</a:t>
            </a:r>
            <a:br>
              <a:rPr kumimoji="1" lang="en-US" altLang="ja-JP" sz="5000" dirty="0"/>
            </a:br>
            <a:r>
              <a:rPr kumimoji="1" lang="ja-JP" altLang="en-US" sz="4500" dirty="0"/>
              <a:t>分散処理</a:t>
            </a:r>
            <a:br>
              <a:rPr kumimoji="1" lang="en-US" altLang="ja-JP" sz="4500" dirty="0"/>
            </a:br>
            <a:r>
              <a:rPr lang="ja-JP" altLang="en-US" sz="4500" dirty="0"/>
              <a:t>　・複数の</a:t>
            </a:r>
            <a:r>
              <a:rPr lang="en-US" altLang="ja-JP" sz="4500" dirty="0"/>
              <a:t>PC</a:t>
            </a:r>
            <a:r>
              <a:rPr lang="ja-JP" altLang="en-US" sz="4500" dirty="0"/>
              <a:t>を組み合わせて膨大な</a:t>
            </a:r>
            <a:br>
              <a:rPr lang="en-US" altLang="ja-JP" sz="4500" dirty="0"/>
            </a:br>
            <a:r>
              <a:rPr lang="ja-JP" altLang="en-US" sz="4500" dirty="0"/>
              <a:t>　　タスクを処理できる。</a:t>
            </a:r>
            <a:endParaRPr lang="en-US" altLang="ja-JP" sz="4500" dirty="0"/>
          </a:p>
        </p:txBody>
      </p:sp>
    </p:spTree>
    <p:extLst>
      <p:ext uri="{BB962C8B-B14F-4D97-AF65-F5344CB8AC3E}">
        <p14:creationId xmlns:p14="http://schemas.microsoft.com/office/powerpoint/2010/main" val="9479377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1773</TotalTime>
  <Words>470</Words>
  <Application>Microsoft Office PowerPoint</Application>
  <PresentationFormat>ワイド画面</PresentationFormat>
  <Paragraphs>28</Paragraphs>
  <Slides>5</Slides>
  <Notes>4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9" baseType="lpstr">
      <vt:lpstr>游ゴシック</vt:lpstr>
      <vt:lpstr>游ゴシック Light</vt:lpstr>
      <vt:lpstr>Arial</vt:lpstr>
      <vt:lpstr>Office テーマ</vt:lpstr>
      <vt:lpstr>並列処理と分散処理</vt:lpstr>
      <vt:lpstr>3時間で 3000人分のカレーを作れ</vt:lpstr>
      <vt:lpstr>並列処理</vt:lpstr>
      <vt:lpstr>PowerPoint プレゼンテーション</vt:lpstr>
      <vt:lpstr>まとめ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j22345nk</dc:creator>
  <cp:lastModifiedBy>j22345nk</cp:lastModifiedBy>
  <cp:revision>28</cp:revision>
  <dcterms:created xsi:type="dcterms:W3CDTF">2026-04-16T01:39:39Z</dcterms:created>
  <dcterms:modified xsi:type="dcterms:W3CDTF">2026-04-17T07:12:56Z</dcterms:modified>
</cp:coreProperties>
</file>