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handoutMasterIdLst>
    <p:handoutMasterId r:id="rId12"/>
  </p:handoutMasterIdLst>
  <p:sldIdLst>
    <p:sldId id="322" r:id="rId5"/>
    <p:sldId id="329" r:id="rId6"/>
    <p:sldId id="330" r:id="rId7"/>
    <p:sldId id="338" r:id="rId8"/>
    <p:sldId id="337" r:id="rId9"/>
    <p:sldId id="331" r:id="rId10"/>
  </p:sldIdLst>
  <p:sldSz cx="12192000" cy="6858000"/>
  <p:notesSz cx="6858000" cy="9144000"/>
  <p:defaultTextStyle>
    <a:defPPr rtl="0">
      <a:defRPr lang="ja-JP"/>
    </a:defPPr>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3F10"/>
    <a:srgbClr val="58696B"/>
    <a:srgbClr val="95B8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513" autoAdjust="0"/>
  </p:normalViewPr>
  <p:slideViewPr>
    <p:cSldViewPr snapToGrid="0">
      <p:cViewPr varScale="1">
        <p:scale>
          <a:sx n="60" d="100"/>
          <a:sy n="60" d="100"/>
        </p:scale>
        <p:origin x="92" y="52"/>
      </p:cViewPr>
      <p:guideLst/>
    </p:cSldViewPr>
  </p:slideViewPr>
  <p:outlineViewPr>
    <p:cViewPr>
      <p:scale>
        <a:sx n="33" d="100"/>
        <a:sy n="33" d="100"/>
      </p:scale>
      <p:origin x="0" y="-7776"/>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p:scale>
          <a:sx n="80" d="100"/>
          <a:sy n="80" d="100"/>
        </p:scale>
        <p:origin x="4002" y="15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ja-JP" sz="1200"/>
            </a:lvl1pPr>
          </a:lstStyle>
          <a:p>
            <a:pPr rtl="0"/>
            <a:fld id="{3D428F60-EEB6-4235-8F32-A11CE9C14B93}" type="datetime1">
              <a:rPr lang="ja-JP" altLang="en-US" smtClean="0">
                <a:latin typeface="Meiryo UI" panose="020B0604030504040204" pitchFamily="50" charset="-128"/>
                <a:ea typeface="Meiryo UI" panose="020B0604030504040204" pitchFamily="50" charset="-128"/>
              </a:rPr>
              <a:t>2026/7/6</a:t>
            </a:fld>
            <a:endParaRPr lang="ja-JP" dirty="0">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ja-JP" sz="1200"/>
            </a:lvl1pPr>
          </a:lstStyle>
          <a:p>
            <a:pPr rtl="0"/>
            <a:fld id="{00AC623C-86E0-4A85-83FB-F4A716956FD4}" type="slidenum">
              <a:rPr lang="ja-JP" smtClean="0">
                <a:latin typeface="Meiryo UI" panose="020B0604030504040204" pitchFamily="50" charset="-128"/>
                <a:ea typeface="Meiryo UI" panose="020B0604030504040204" pitchFamily="50" charset="-128"/>
              </a:rPr>
              <a:t>‹#›</a:t>
            </a:fld>
            <a:endParaRPr 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ja-JP" sz="1200">
                <a:latin typeface="Meiryo UI" panose="020B0604030504040204" pitchFamily="50" charset="-128"/>
                <a:ea typeface="Meiryo UI" panose="020B0604030504040204" pitchFamily="50" charset="-128"/>
              </a:defRPr>
            </a:lvl1pPr>
          </a:lstStyle>
          <a:p>
            <a:fld id="{D2E69705-234C-4F4E-8785-2C3496ACDA1A}" type="datetime1">
              <a:rPr lang="en-US" altLang="ja-JP" smtClean="0"/>
              <a:pPr/>
              <a:t>7/6/2026</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ja-JP"/>
            </a:defPPr>
          </a:lstStyle>
          <a:p>
            <a:pPr rtl="0"/>
            <a:endParaRPr lang="ja-JP"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ja-JP" sz="1200">
                <a:latin typeface="Meiryo UI" panose="020B0604030504040204" pitchFamily="50" charset="-128"/>
                <a:ea typeface="Meiryo UI" panose="020B0604030504040204" pitchFamily="50" charset="-128"/>
              </a:defRPr>
            </a:lvl1pPr>
          </a:lstStyle>
          <a:p>
            <a:fld id="{C37D7554-D10C-4E29-B8E6-BB7111FA614F}"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lang="ja-JP" sz="1200" kern="1200">
        <a:solidFill>
          <a:schemeClr val="tx1"/>
        </a:solidFill>
        <a:latin typeface="+mn-cs"/>
        <a:ea typeface="+mn-ea"/>
        <a:cs typeface="+mn-cs"/>
      </a:defRPr>
    </a:lvl6pPr>
    <a:lvl7pPr marL="2743200" algn="l" defTabSz="914400" rtl="0" eaLnBrk="1" latinLnBrk="0" hangingPunct="1">
      <a:defRPr lang="ja-JP" sz="1200" kern="1200">
        <a:solidFill>
          <a:schemeClr val="tx1"/>
        </a:solidFill>
        <a:latin typeface="+mn-cs"/>
        <a:ea typeface="+mn-ea"/>
        <a:cs typeface="+mn-cs"/>
      </a:defRPr>
    </a:lvl7pPr>
    <a:lvl8pPr marL="3200400" algn="l" defTabSz="914400" rtl="0" eaLnBrk="1" latinLnBrk="0" hangingPunct="1">
      <a:defRPr lang="ja-JP" sz="1200" kern="1200">
        <a:solidFill>
          <a:schemeClr val="tx1"/>
        </a:solidFill>
        <a:latin typeface="+mn-cs"/>
        <a:ea typeface="+mn-ea"/>
        <a:cs typeface="+mn-cs"/>
      </a:defRPr>
    </a:lvl8pPr>
    <a:lvl9pPr marL="3657600" algn="l" defTabSz="914400" rtl="0" eaLnBrk="1" latinLnBrk="0" hangingPunct="1">
      <a:defRPr lang="ja-JP" sz="1200" kern="1200">
        <a:solidFill>
          <a:schemeClr val="tx1"/>
        </a:solidFill>
        <a:latin typeface="+mn-cs"/>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endParaRPr lang="ja-JP" dirty="0"/>
          </a:p>
        </p:txBody>
      </p:sp>
      <p:sp>
        <p:nvSpPr>
          <p:cNvPr id="4" name="スライド番号プレースホルダー 3"/>
          <p:cNvSpPr>
            <a:spLocks noGrp="1"/>
          </p:cNvSpPr>
          <p:nvPr>
            <p:ph type="sldNum" sz="quarter" idx="5"/>
          </p:nvPr>
        </p:nvSpPr>
        <p:spPr/>
        <p:txBody>
          <a:bodyPr rtlCol="0"/>
          <a:lstStyle>
            <a:defPPr>
              <a:defRPr lang="ja-JP"/>
            </a:defPPr>
          </a:lstStyle>
          <a:p>
            <a:pPr rtl="0"/>
            <a:fld id="{C37D7554-D10C-4E29-B8E6-BB7111FA614F}" type="slidenum">
              <a:rPr lang="ja-JP" smtClean="0"/>
              <a:t>1</a:t>
            </a:fld>
            <a:endParaRPr lang="ja-JP" dirty="0"/>
          </a:p>
        </p:txBody>
      </p:sp>
    </p:spTree>
    <p:extLst>
      <p:ext uri="{BB962C8B-B14F-4D97-AF65-F5344CB8AC3E}">
        <p14:creationId xmlns:p14="http://schemas.microsoft.com/office/powerpoint/2010/main" val="121234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1952-E6F8-74B7-14C1-E4AF4CEDA9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BC4B99-6EC4-C6F9-C60F-DEE61634B5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CCE373-C572-E3E4-B21F-8FDA41875766}"/>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200" dirty="0">
                <a:solidFill>
                  <a:schemeClr val="bg1"/>
                </a:solidFill>
              </a:rPr>
              <a:t>Volatile</a:t>
            </a:r>
            <a:r>
              <a:rPr lang="ja-JP" altLang="en-US" sz="1200" dirty="0">
                <a:solidFill>
                  <a:schemeClr val="bg1"/>
                </a:solidFill>
              </a:rPr>
              <a:t>とは、</a:t>
            </a:r>
            <a:r>
              <a:rPr lang="ja-JP" altLang="ja-JP" dirty="0"/>
              <a:t>変数の値の可視性を保証するためのものです</a:t>
            </a:r>
            <a:r>
              <a:rPr lang="ja-JP" altLang="en-US" dirty="0"/>
              <a:t>。具体的には</a:t>
            </a:r>
            <a:r>
              <a:rPr lang="ja-JP" altLang="ja-JP" sz="1200" dirty="0">
                <a:solidFill>
                  <a:schemeClr val="bg1"/>
                </a:solidFill>
              </a:rPr>
              <a:t>変数に対して「キャッシュを使わず、必ずメインメモリから直接読み書きしろ」と強制する</a:t>
            </a:r>
            <a:r>
              <a:rPr lang="ja-JP" altLang="en-US" sz="1200" dirty="0">
                <a:solidFill>
                  <a:schemeClr val="bg1"/>
                </a:solidFill>
              </a:rPr>
              <a:t>ことをしています。</a:t>
            </a:r>
            <a:br>
              <a:rPr lang="en-US" altLang="ja-JP" sz="1200" dirty="0">
                <a:solidFill>
                  <a:schemeClr val="bg1"/>
                </a:solidFill>
              </a:rPr>
            </a:br>
            <a:r>
              <a:rPr lang="ja-JP" altLang="en-US" sz="1200" dirty="0">
                <a:solidFill>
                  <a:schemeClr val="bg1"/>
                </a:solidFill>
              </a:rPr>
              <a:t>保障されるのは、変数の可視性です。つまりあるスレッドが値を変更してもその最新の値がすぐに他のスレッドで反映されて見えることです。</a:t>
            </a:r>
            <a:r>
              <a:rPr lang="en-US" altLang="ja-JP" sz="1200" dirty="0">
                <a:solidFill>
                  <a:schemeClr val="bg1"/>
                </a:solidFill>
              </a:rPr>
              <a:t>(Enter)</a:t>
            </a:r>
            <a:r>
              <a:rPr lang="ja-JP" altLang="en-US" sz="1200" dirty="0">
                <a:solidFill>
                  <a:schemeClr val="bg1"/>
                </a:solidFill>
              </a:rPr>
              <a:t>まぁつまりキャッシュを使用しないで大元のメインメモリを見に行ってねってことをしています。</a:t>
            </a:r>
            <a:endParaRPr lang="en-US" altLang="ja-JP" sz="1200" dirty="0">
              <a:solidFill>
                <a:schemeClr val="bg1"/>
              </a:solidFill>
            </a:endParaRPr>
          </a:p>
        </p:txBody>
      </p:sp>
      <p:sp>
        <p:nvSpPr>
          <p:cNvPr id="4" name="スライド番号プレースホルダー 3">
            <a:extLst>
              <a:ext uri="{FF2B5EF4-FFF2-40B4-BE49-F238E27FC236}">
                <a16:creationId xmlns:a16="http://schemas.microsoft.com/office/drawing/2014/main" id="{6ECBA889-9CDE-BC64-BE33-A106ACE73EF7}"/>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2</a:t>
            </a:fld>
            <a:endParaRPr lang="ja-JP" dirty="0"/>
          </a:p>
        </p:txBody>
      </p:sp>
    </p:spTree>
    <p:extLst>
      <p:ext uri="{BB962C8B-B14F-4D97-AF65-F5344CB8AC3E}">
        <p14:creationId xmlns:p14="http://schemas.microsoft.com/office/powerpoint/2010/main" val="4118898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D98AB-F835-5E14-8AF1-E0D0131E4D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8EFDF5-4A1D-770F-CD2C-25BFFBCCF52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265E8C4-8A20-719B-8B2C-A0088BB8059A}"/>
              </a:ext>
            </a:extLst>
          </p:cNvPr>
          <p:cNvSpPr>
            <a:spLocks noGrp="1"/>
          </p:cNvSpPr>
          <p:nvPr>
            <p:ph type="body" idx="1"/>
          </p:nvPr>
        </p:nvSpPr>
        <p:spPr/>
        <p:txBody>
          <a:bodyPr rtlCol="0"/>
          <a:lstStyle>
            <a:defPPr>
              <a:defRPr lang="ja-JP"/>
            </a:defPPr>
          </a:lstStyle>
          <a:p>
            <a:pPr marL="0" lvl="0" indent="0">
              <a:buFont typeface="Arial" panose="020B0604020202020204" pitchFamily="34" charset="0"/>
              <a:buNone/>
              <a:defRPr/>
            </a:pPr>
            <a:r>
              <a:rPr kumimoji="1" lang="ja-JP" altLang="en-US" b="0" dirty="0"/>
              <a:t>なぜ必要か。</a:t>
            </a:r>
            <a:r>
              <a:rPr kumimoji="1" lang="en-US" altLang="ja-JP" b="0" dirty="0"/>
              <a:t>CPU</a:t>
            </a:r>
            <a:r>
              <a:rPr kumimoji="1" lang="ja-JP" altLang="en-US" b="0" dirty="0"/>
              <a:t>は処理を高速化するために、</a:t>
            </a:r>
            <a:r>
              <a:rPr kumimoji="1" lang="en-US" altLang="ja-JP" b="0" dirty="0"/>
              <a:t>CPU</a:t>
            </a:r>
            <a:r>
              <a:rPr kumimoji="1" lang="ja-JP" altLang="en-US" b="0" dirty="0"/>
              <a:t>のキャッシュを使い回す性質があるためです。</a:t>
            </a:r>
            <a:r>
              <a:rPr lang="ja-JP" altLang="ja-JP" dirty="0"/>
              <a:t>大元の Main Memory から手元の CPUキャッシュ にデータを移し、そこからさらに『レジスタ』と呼ばれるCPU内の作業台に</a:t>
            </a:r>
            <a:r>
              <a:rPr lang="ja-JP" altLang="ja-JP" b="1" dirty="0"/>
              <a:t>データを読み込んで、実際の計算を行っています。</a:t>
            </a:r>
            <a:r>
              <a:rPr kumimoji="1" lang="ja-JP" altLang="en-US" b="0" dirty="0"/>
              <a:t>この時スレッド</a:t>
            </a:r>
            <a:r>
              <a:rPr kumimoji="1" lang="en-US" altLang="ja-JP" b="0" dirty="0"/>
              <a:t>A,</a:t>
            </a:r>
            <a:r>
              <a:rPr kumimoji="1" lang="ja-JP" altLang="en-US" b="0" dirty="0"/>
              <a:t>スレッド</a:t>
            </a:r>
            <a:r>
              <a:rPr kumimoji="1" lang="en-US" altLang="ja-JP" b="0" dirty="0"/>
              <a:t>B</a:t>
            </a:r>
            <a:r>
              <a:rPr kumimoji="1" lang="ja-JP" altLang="en-US" b="0" dirty="0"/>
              <a:t>の動きとして</a:t>
            </a:r>
            <a:r>
              <a:rPr kumimoji="1" lang="en-US" altLang="ja-JP" b="0" dirty="0"/>
              <a:t>A</a:t>
            </a:r>
            <a:r>
              <a:rPr kumimoji="1" lang="ja-JP" altLang="en-US" b="0" dirty="0"/>
              <a:t>が</a:t>
            </a:r>
            <a:r>
              <a:rPr kumimoji="1" lang="en-US" altLang="ja-JP" b="0" dirty="0"/>
              <a:t>Main Memory </a:t>
            </a:r>
            <a:r>
              <a:rPr kumimoji="1" lang="ja-JP" altLang="en-US" b="0" dirty="0"/>
              <a:t>を更新した際に、スレッド</a:t>
            </a:r>
            <a:r>
              <a:rPr kumimoji="1" lang="en-US" altLang="ja-JP" b="0" dirty="0"/>
              <a:t>B</a:t>
            </a:r>
            <a:r>
              <a:rPr kumimoji="1" lang="ja-JP" altLang="en-US" b="0" dirty="0"/>
              <a:t>は</a:t>
            </a:r>
            <a:r>
              <a:rPr kumimoji="1" lang="en-US" altLang="ja-JP" b="0" dirty="0"/>
              <a:t>CPU</a:t>
            </a:r>
            <a:r>
              <a:rPr kumimoji="1" lang="ja-JP" altLang="en-US" b="0" dirty="0"/>
              <a:t>キャッシュの古い変数</a:t>
            </a:r>
            <a:r>
              <a:rPr kumimoji="1" lang="en-US" altLang="ja-JP" b="0" dirty="0"/>
              <a:t>A</a:t>
            </a:r>
            <a:r>
              <a:rPr kumimoji="1" lang="ja-JP" altLang="en-US" b="0" dirty="0"/>
              <a:t>を見てしまい、齟齬が起きる可能性があります。そのため変数に</a:t>
            </a:r>
            <a:r>
              <a:rPr kumimoji="1" lang="en-US" altLang="ja-JP" b="0" dirty="0"/>
              <a:t>volatile</a:t>
            </a:r>
            <a:r>
              <a:rPr kumimoji="1" lang="ja-JP" altLang="en-US" b="0" dirty="0"/>
              <a:t>とつけることにより毎度</a:t>
            </a:r>
            <a:r>
              <a:rPr kumimoji="1" lang="en-US" altLang="ja-JP" b="0" dirty="0"/>
              <a:t>Main Memory </a:t>
            </a:r>
            <a:r>
              <a:rPr kumimoji="1" lang="ja-JP" altLang="en-US" b="0" dirty="0"/>
              <a:t>を見に行き齟齬をなくす感じですね。</a:t>
            </a:r>
          </a:p>
        </p:txBody>
      </p:sp>
      <p:sp>
        <p:nvSpPr>
          <p:cNvPr id="4" name="スライド番号プレースホルダー 3">
            <a:extLst>
              <a:ext uri="{FF2B5EF4-FFF2-40B4-BE49-F238E27FC236}">
                <a16:creationId xmlns:a16="http://schemas.microsoft.com/office/drawing/2014/main" id="{859084B1-6886-E496-F1E2-4056D3B807C8}"/>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3</a:t>
            </a:fld>
            <a:endParaRPr lang="ja-JP" dirty="0"/>
          </a:p>
        </p:txBody>
      </p:sp>
    </p:spTree>
    <p:extLst>
      <p:ext uri="{BB962C8B-B14F-4D97-AF65-F5344CB8AC3E}">
        <p14:creationId xmlns:p14="http://schemas.microsoft.com/office/powerpoint/2010/main" val="4280416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1D391-B215-C5E7-BF00-31F1C6D67D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5344E1-EAFB-2C0C-3430-9C560DD3CE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95D011-2CE5-CEB5-395D-C33F40EA395D}"/>
              </a:ext>
            </a:extLst>
          </p:cNvPr>
          <p:cNvSpPr>
            <a:spLocks noGrp="1"/>
          </p:cNvSpPr>
          <p:nvPr>
            <p:ph type="body" idx="1"/>
          </p:nvPr>
        </p:nvSpPr>
        <p:spPr/>
        <p:txBody>
          <a:bodyPr rtlCol="0"/>
          <a:lstStyle>
            <a:defPPr>
              <a:defRPr lang="ja-JP"/>
            </a:defPPr>
          </a:lstStyle>
          <a:p>
            <a:pPr marL="0" lvl="0" indent="0">
              <a:buFont typeface="Arial" panose="020B0604020202020204" pitchFamily="34" charset="0"/>
              <a:buNone/>
              <a:defRPr/>
            </a:pPr>
            <a:r>
              <a:rPr kumimoji="1" lang="ja-JP" altLang="en-US" b="0" dirty="0"/>
              <a:t>補足、組み込み系で無限ループになるってことについて。例ですが、センサーの反応を待つループ処理があるとします。①コンパイラは無限ループ内、</a:t>
            </a:r>
            <a:r>
              <a:rPr kumimoji="1" lang="en-US" altLang="ja-JP" b="0" dirty="0"/>
              <a:t>while</a:t>
            </a:r>
            <a:r>
              <a:rPr kumimoji="1" lang="ja-JP" altLang="en-US" b="0" dirty="0"/>
              <a:t>内にて、</a:t>
            </a:r>
            <a:r>
              <a:rPr kumimoji="1" lang="en-US" altLang="ja-JP" b="0" dirty="0" err="1"/>
              <a:t>sensor_flag</a:t>
            </a:r>
            <a:r>
              <a:rPr kumimoji="1" lang="ja-JP" altLang="en-US" b="0" dirty="0"/>
              <a:t>の変数が変わる処理がないとメモリに毎回確認しなくていいとなります。そしてコンパイラが勝手に常に</a:t>
            </a:r>
            <a:r>
              <a:rPr kumimoji="1" lang="en-US" altLang="ja-JP" b="0" dirty="0"/>
              <a:t>true</a:t>
            </a:r>
            <a:r>
              <a:rPr kumimoji="1" lang="ja-JP" altLang="en-US" b="0" dirty="0"/>
              <a:t>の無限ループに変える、そして結果フリーズとなります。下記の図のように、</a:t>
            </a:r>
            <a:r>
              <a:rPr kumimoji="1" lang="en-US" altLang="ja-JP" b="0" dirty="0"/>
              <a:t>0</a:t>
            </a:r>
            <a:r>
              <a:rPr kumimoji="1" lang="ja-JP" altLang="en-US" b="0" dirty="0"/>
              <a:t>はもともと</a:t>
            </a:r>
            <a:r>
              <a:rPr kumimoji="1" lang="en-US" altLang="ja-JP" b="0" dirty="0" err="1"/>
              <a:t>sensor_flag</a:t>
            </a:r>
            <a:r>
              <a:rPr kumimoji="1" lang="ja-JP" altLang="en-US" b="0" dirty="0"/>
              <a:t>という変数だったのになぜか</a:t>
            </a:r>
            <a:r>
              <a:rPr kumimoji="1" lang="en-US" altLang="ja-JP" b="0" dirty="0"/>
              <a:t>0==0</a:t>
            </a:r>
            <a:r>
              <a:rPr kumimoji="1" lang="ja-JP" altLang="en-US" b="0" dirty="0"/>
              <a:t>と勝手に変えられてしまうって感じです。</a:t>
            </a:r>
            <a:endParaRPr kumimoji="1" lang="en-US" altLang="ja-JP" b="0" dirty="0"/>
          </a:p>
        </p:txBody>
      </p:sp>
      <p:sp>
        <p:nvSpPr>
          <p:cNvPr id="4" name="スライド番号プレースホルダー 3">
            <a:extLst>
              <a:ext uri="{FF2B5EF4-FFF2-40B4-BE49-F238E27FC236}">
                <a16:creationId xmlns:a16="http://schemas.microsoft.com/office/drawing/2014/main" id="{F69D1FD2-4926-4372-06FD-C4BF703ADDC8}"/>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4</a:t>
            </a:fld>
            <a:endParaRPr lang="ja-JP" dirty="0"/>
          </a:p>
        </p:txBody>
      </p:sp>
    </p:spTree>
    <p:extLst>
      <p:ext uri="{BB962C8B-B14F-4D97-AF65-F5344CB8AC3E}">
        <p14:creationId xmlns:p14="http://schemas.microsoft.com/office/powerpoint/2010/main" val="3133090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92279-594D-24EB-2089-75F2A5F5B9E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70C64FE-26E2-09BC-2BEA-8535732000A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CAB704D-1019-07ED-E4B9-49F2D39F8C9E}"/>
              </a:ext>
            </a:extLst>
          </p:cNvPr>
          <p:cNvSpPr>
            <a:spLocks noGrp="1"/>
          </p:cNvSpPr>
          <p:nvPr>
            <p:ph type="body" idx="1"/>
          </p:nvPr>
        </p:nvSpPr>
        <p:spPr/>
        <p:txBody>
          <a:bodyPr rtlCol="0"/>
          <a:lstStyle>
            <a:defPPr>
              <a:defRPr lang="ja-JP"/>
            </a:defPPr>
          </a:lstStyle>
          <a:p>
            <a:pPr marL="0" lvl="0" indent="0">
              <a:buFont typeface="Arial" panose="020B0604020202020204" pitchFamily="34" charset="0"/>
              <a:buNone/>
              <a:defRPr/>
            </a:pPr>
            <a:r>
              <a:rPr kumimoji="1" lang="ja-JP" altLang="en-US" b="0" dirty="0"/>
              <a:t>次に限界について。</a:t>
            </a:r>
            <a:r>
              <a:rPr kumimoji="1" lang="en-US" altLang="ja-JP" b="0" dirty="0"/>
              <a:t>Volatile</a:t>
            </a:r>
            <a:r>
              <a:rPr kumimoji="1" lang="ja-JP" altLang="en-US" b="0" dirty="0"/>
              <a:t>は排他制御の代わりにはなれないということです。スレッド間にて、スレッドが同時に最新の値を読み取ってしまうと、値が上書きされてしまう現象が起こるといったことが起こります。一連の処理である読み取り、計算、書き込みが必要な場合は向いていません。そのため使い時として、停止フラグなどの結果に影響しないときが挙げられます。右の図の</a:t>
            </a:r>
            <a:r>
              <a:rPr kumimoji="1" lang="en-US" altLang="ja-JP" b="0" dirty="0"/>
              <a:t>while</a:t>
            </a:r>
            <a:r>
              <a:rPr kumimoji="1" lang="ja-JP" altLang="en-US" b="0" dirty="0"/>
              <a:t>の中身は、</a:t>
            </a:r>
            <a:r>
              <a:rPr lang="ja-JP" altLang="ja-JP" dirty="0"/>
              <a:t>重いファイルのダウンロードや、時間のかかるデータ処理などをしていると想定してください。</a:t>
            </a:r>
            <a:r>
              <a:rPr lang="ja-JP" altLang="en-US" dirty="0"/>
              <a:t>どっかのスレッドが処理停止の</a:t>
            </a:r>
            <a:r>
              <a:rPr lang="en-US" altLang="ja-JP" dirty="0"/>
              <a:t>false</a:t>
            </a:r>
            <a:r>
              <a:rPr lang="ja-JP" altLang="en-US" dirty="0"/>
              <a:t>に値を書き換えたときに、変数</a:t>
            </a:r>
            <a:r>
              <a:rPr lang="en-US" altLang="ja-JP" dirty="0"/>
              <a:t>running</a:t>
            </a:r>
            <a:r>
              <a:rPr lang="ja-JP" altLang="en-US" dirty="0"/>
              <a:t>はキャッシュでなくメインメモリ見て値を更新するって感じです。</a:t>
            </a:r>
            <a:endParaRPr kumimoji="1" lang="ja-JP" altLang="en-US" b="0" dirty="0"/>
          </a:p>
        </p:txBody>
      </p:sp>
      <p:sp>
        <p:nvSpPr>
          <p:cNvPr id="4" name="スライド番号プレースホルダー 3">
            <a:extLst>
              <a:ext uri="{FF2B5EF4-FFF2-40B4-BE49-F238E27FC236}">
                <a16:creationId xmlns:a16="http://schemas.microsoft.com/office/drawing/2014/main" id="{A96C628B-AF35-1389-0B36-FBDD7296D992}"/>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5</a:t>
            </a:fld>
            <a:endParaRPr lang="ja-JP" dirty="0"/>
          </a:p>
        </p:txBody>
      </p:sp>
    </p:spTree>
    <p:extLst>
      <p:ext uri="{BB962C8B-B14F-4D97-AF65-F5344CB8AC3E}">
        <p14:creationId xmlns:p14="http://schemas.microsoft.com/office/powerpoint/2010/main" val="1788442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47FCA-283D-3B2E-4600-07B6D95631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57CCDC-E65C-94F6-756D-40579775268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995BAC8-33C7-44E1-13F5-817B39D0FA37}"/>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200" dirty="0">
                <a:solidFill>
                  <a:schemeClr val="bg1"/>
                </a:solidFill>
              </a:rPr>
              <a:t>まとめです。</a:t>
            </a:r>
            <a:r>
              <a:rPr lang="en-US" altLang="ja-JP" dirty="0"/>
              <a:t>V</a:t>
            </a:r>
            <a:r>
              <a:rPr lang="ja-JP" altLang="ja-JP" dirty="0"/>
              <a:t>olatile</a:t>
            </a:r>
            <a:r>
              <a:rPr lang="ja-JP" altLang="en-US" dirty="0"/>
              <a:t>とは変数の値の可視性を保証するものです。仕組みとしてキャッシュを使用しないで大元のメインメモリを見に行っています。限界は排他制御ができるわけではないことです。以上ですご清聴ありがとうございました</a:t>
            </a:r>
            <a:endParaRPr lang="en-US" altLang="ja-JP" sz="1200" dirty="0">
              <a:solidFill>
                <a:schemeClr val="bg1"/>
              </a:solidFill>
            </a:endParaRPr>
          </a:p>
        </p:txBody>
      </p:sp>
      <p:sp>
        <p:nvSpPr>
          <p:cNvPr id="4" name="スライド番号プレースホルダー 3">
            <a:extLst>
              <a:ext uri="{FF2B5EF4-FFF2-40B4-BE49-F238E27FC236}">
                <a16:creationId xmlns:a16="http://schemas.microsoft.com/office/drawing/2014/main" id="{1E6C013A-ECE1-9CF0-10F1-92B81A8DD82C}"/>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6</a:t>
            </a:fld>
            <a:endParaRPr lang="ja-JP" dirty="0"/>
          </a:p>
        </p:txBody>
      </p:sp>
    </p:spTree>
    <p:extLst>
      <p:ext uri="{BB962C8B-B14F-4D97-AF65-F5344CB8AC3E}">
        <p14:creationId xmlns:p14="http://schemas.microsoft.com/office/powerpoint/2010/main" val="1954604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議題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ltLang="en-US" noProof="0" dirty="0"/>
              <a:t>クリックしてコンテンツを追加</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画像">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6642169" y="-1"/>
            <a:ext cx="4635426" cy="6857999"/>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サブタイトル">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915600" y="0"/>
            <a:ext cx="10361995" cy="3429000"/>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ja-JP" sz="2000" spc="0" baseline="0">
                <a:solidFill>
                  <a:schemeClr val="tx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のタイトル">
    <p:bg>
      <p:bgPr>
        <a:solidFill>
          <a:schemeClr val="accent6"/>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ja-JP">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5" name="長方形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6" name="長方形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テキスト プレースホルダー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ja-JP" sz="2000" spc="0" baseline="0">
                <a:solidFill>
                  <a:schemeClr val="bg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4" name="コンテンツ プレースホルダー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ja-JP" sz="2000">
                <a:latin typeface="Meiryo UI" panose="020B0604030504040204" pitchFamily="50" charset="-128"/>
                <a:ea typeface="Meiryo UI" panose="020B0604030504040204" pitchFamily="50" charset="-128"/>
              </a:defRPr>
            </a:lvl1pPr>
            <a:lvl2pPr marL="457200" indent="-320040">
              <a:lnSpc>
                <a:spcPct val="100000"/>
              </a:lnSpc>
              <a:spcBef>
                <a:spcPts val="1000"/>
              </a:spcBef>
              <a:spcAft>
                <a:spcPts val="1200"/>
              </a:spcAft>
              <a:buFont typeface="+mj-lt"/>
              <a:buAutoNum type="alphaLcPeriod"/>
              <a:defRPr lang="ja-JP" sz="2000">
                <a:latin typeface="Meiryo UI" panose="020B0604030504040204" pitchFamily="50" charset="-128"/>
                <a:ea typeface="Meiryo UI" panose="020B0604030504040204" pitchFamily="50" charset="-128"/>
              </a:defRPr>
            </a:lvl2pPr>
            <a:lvl3pPr marL="914400" indent="-320040">
              <a:spcBef>
                <a:spcPts val="1000"/>
              </a:spcBef>
              <a:spcAft>
                <a:spcPts val="1200"/>
              </a:spcAft>
              <a:buFont typeface="+mj-lt"/>
              <a:buAutoNum type="arabicParenR"/>
              <a:defRPr lang="ja-JP" sz="2000">
                <a:latin typeface="Meiryo UI" panose="020B0604030504040204" pitchFamily="50" charset="-128"/>
                <a:ea typeface="Meiryo UI" panose="020B0604030504040204" pitchFamily="50" charset="-128"/>
              </a:defRPr>
            </a:lvl3pPr>
            <a:lvl4pPr marL="1371600" indent="-320040">
              <a:spcBef>
                <a:spcPts val="1000"/>
              </a:spcBef>
              <a:spcAft>
                <a:spcPts val="1200"/>
              </a:spcAft>
              <a:buFont typeface="+mj-lt"/>
              <a:buAutoNum type="alphaLcParenR"/>
              <a:defRPr lang="ja-JP" sz="2000">
                <a:latin typeface="Meiryo UI" panose="020B0604030504040204" pitchFamily="50" charset="-128"/>
                <a:ea typeface="Meiryo UI" panose="020B0604030504040204" pitchFamily="50" charset="-128"/>
              </a:defRPr>
            </a:lvl4pPr>
            <a:lvl5pPr marL="1828800" indent="-320040">
              <a:spcBef>
                <a:spcPts val="1000"/>
              </a:spcBef>
              <a:spcAft>
                <a:spcPts val="1200"/>
              </a:spcAft>
              <a:buFont typeface="+mj-lt"/>
              <a:buAutoNum type="romanLcPeriod"/>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画像とコンテンツ">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図プレースホルダー 7">
            <a:extLst>
              <a:ext uri="{FF2B5EF4-FFF2-40B4-BE49-F238E27FC236}">
                <a16:creationId xmlns:a16="http://schemas.microsoft.com/office/drawing/2014/main" id="{357912CB-B8F8-1E65-094F-AD3220E6C79C}"/>
              </a:ext>
            </a:extLst>
          </p:cNvPr>
          <p:cNvSpPr>
            <a:spLocks noGrp="1"/>
          </p:cNvSpPr>
          <p:nvPr>
            <p:ph type="pic" sz="quarter" idx="12" hasCustomPrompt="1"/>
          </p:nvPr>
        </p:nvSpPr>
        <p:spPr>
          <a:xfrm>
            <a:off x="1503363" y="2061969"/>
            <a:ext cx="4592637" cy="4805362"/>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コンテンツ、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4" name="表プレースホルダー 13">
            <a:extLst>
              <a:ext uri="{FF2B5EF4-FFF2-40B4-BE49-F238E27FC236}">
                <a16:creationId xmlns:a16="http://schemas.microsoft.com/office/drawing/2014/main" id="{EA708189-1532-1BDD-104F-4D8556146CEE}"/>
              </a:ext>
            </a:extLst>
          </p:cNvPr>
          <p:cNvSpPr>
            <a:spLocks noGrp="1"/>
          </p:cNvSpPr>
          <p:nvPr>
            <p:ph type="tbl" sz="quarter" idx="12" hasCustomPrompt="1"/>
          </p:nvPr>
        </p:nvSpPr>
        <p:spPr>
          <a:xfrm>
            <a:off x="5097463" y="2051976"/>
            <a:ext cx="6180137" cy="3867538"/>
          </a:xfrm>
        </p:spPr>
        <p:txBody>
          <a:bodyPr rtlCol="0">
            <a:normAutofit/>
          </a:bodyPr>
          <a:lstStyle>
            <a:lvl1pPr>
              <a:defRPr lang="ja-JP" sz="2000">
                <a:latin typeface="Meiryo UI" panose="020B0604030504040204" pitchFamily="50" charset="-128"/>
                <a:ea typeface="Meiryo UI" panose="020B0604030504040204" pitchFamily="50" charset="-128"/>
              </a:defRPr>
            </a:lvl1pPr>
          </a:lstStyle>
          <a:p>
            <a:pPr rtl="0"/>
            <a:r>
              <a:rPr lang="ja-JP"/>
              <a:t>アイコンをクリックして表を追加</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スライド番号プレースホルダー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コンテンツ プレースホルダー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ja-JP" sz="2000">
                <a:latin typeface="Meiryo UI" panose="020B0604030504040204" pitchFamily="50" charset="-128"/>
                <a:ea typeface="Meiryo UI" panose="020B0604030504040204" pitchFamily="50" charset="-128"/>
              </a:defRPr>
            </a:lvl1pPr>
            <a:lvl2pPr>
              <a:lnSpc>
                <a:spcPct val="100000"/>
              </a:lnSpc>
              <a:spcAft>
                <a:spcPts val="600"/>
              </a:spcAft>
              <a:defRPr lang="ja-JP" sz="2000">
                <a:latin typeface="Meiryo UI" panose="020B0604030504040204" pitchFamily="50" charset="-128"/>
                <a:ea typeface="Meiryo UI" panose="020B0604030504040204" pitchFamily="50" charset="-128"/>
              </a:defRPr>
            </a:lvl2pPr>
            <a:lvl3pPr>
              <a:lnSpc>
                <a:spcPct val="100000"/>
              </a:lnSpc>
              <a:spcBef>
                <a:spcPts val="1000"/>
              </a:spcBef>
              <a:spcAft>
                <a:spcPts val="600"/>
              </a:spcAft>
              <a:defRPr lang="ja-JP" sz="2000">
                <a:latin typeface="Meiryo UI" panose="020B0604030504040204" pitchFamily="50" charset="-128"/>
                <a:ea typeface="Meiryo UI" panose="020B0604030504040204" pitchFamily="50" charset="-128"/>
              </a:defRPr>
            </a:lvl3pPr>
            <a:lvl4pPr>
              <a:lnSpc>
                <a:spcPct val="100000"/>
              </a:lnSpc>
              <a:spcAft>
                <a:spcPts val="1200"/>
              </a:spcAft>
              <a:defRPr lang="ja-JP" sz="2000">
                <a:latin typeface="Meiryo UI" panose="020B0604030504040204" pitchFamily="50" charset="-128"/>
                <a:ea typeface="Meiryo UI" panose="020B0604030504040204" pitchFamily="50" charset="-128"/>
              </a:defRPr>
            </a:lvl4pPr>
            <a:lvl5pP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1" name="コンテンツ プレースホルダー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Aft>
                <a:spcPts val="6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トルと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9" name="表プレースホルダー 8">
            <a:extLst>
              <a:ext uri="{FF2B5EF4-FFF2-40B4-BE49-F238E27FC236}">
                <a16:creationId xmlns:a16="http://schemas.microsoft.com/office/drawing/2014/main" id="{CB43608F-0A38-CF4A-4B3B-F1212E786FDE}"/>
              </a:ext>
            </a:extLst>
          </p:cNvPr>
          <p:cNvSpPr>
            <a:spLocks noGrp="1"/>
          </p:cNvSpPr>
          <p:nvPr>
            <p:ph type="tbl" sz="quarter" idx="10" hasCustomPrompt="1"/>
          </p:nvPr>
        </p:nvSpPr>
        <p:spPr>
          <a:xfrm>
            <a:off x="1487488" y="2057400"/>
            <a:ext cx="9790112" cy="3886200"/>
          </a:xfrm>
        </p:spPr>
        <p:txBody>
          <a:bodyPr rtlCol="0">
            <a:normAutofit/>
          </a:bodyPr>
          <a:lstStyle>
            <a:lvl1pPr>
              <a:defRPr lang="ja-JP" sz="2400">
                <a:latin typeface="Meiryo UI" panose="020B0604030504040204" pitchFamily="50" charset="-128"/>
                <a:ea typeface="Meiryo UI" panose="020B0604030504040204" pitchFamily="50" charset="-128"/>
              </a:defRPr>
            </a:lvl1pPr>
          </a:lstStyle>
          <a:p>
            <a:pPr rtl="0"/>
            <a:r>
              <a:rPr lang="ja-JP" altLang="en-US" noProof="0" dirty="0"/>
              <a:t>アイコンをクリックして表を追加</a:t>
            </a:r>
          </a:p>
        </p:txBody>
      </p:sp>
      <p:sp>
        <p:nvSpPr>
          <p:cNvPr id="2" name="スライド番号プレースホルダー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ありがとうございます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0" name="コンテンツ プレースホルダー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ja-JP" sz="2000">
                <a:solidFill>
                  <a:schemeClr val="bg1"/>
                </a:solidFill>
                <a:latin typeface="Meiryo UI" panose="020B0604030504040204" pitchFamily="50" charset="-128"/>
                <a:ea typeface="Meiryo UI" panose="020B0604030504040204" pitchFamily="50" charset="-128"/>
              </a:defRPr>
            </a:lvl1pPr>
            <a:lvl2pPr marL="742950" indent="-285750">
              <a:lnSpc>
                <a:spcPct val="100000"/>
              </a:lnSpc>
              <a:spcBef>
                <a:spcPts val="0"/>
              </a:spcBef>
              <a:spcAft>
                <a:spcPts val="1200"/>
              </a:spcAft>
              <a:buFont typeface="Arial" panose="020B0604020202020204" pitchFamily="34" charset="0"/>
              <a:buChar char="•"/>
              <a:defRPr lang="ja-JP" sz="1800">
                <a:solidFill>
                  <a:schemeClr val="bg1"/>
                </a:solidFill>
                <a:latin typeface="Meiryo UI" panose="020B0604030504040204" pitchFamily="50" charset="-128"/>
                <a:ea typeface="Meiryo UI" panose="020B0604030504040204" pitchFamily="50" charset="-128"/>
              </a:defRPr>
            </a:lvl2pPr>
            <a:lvl3pPr marL="1200150" indent="-285750">
              <a:lnSpc>
                <a:spcPct val="100000"/>
              </a:lnSpc>
              <a:spcBef>
                <a:spcPts val="0"/>
              </a:spcBef>
              <a:spcAft>
                <a:spcPts val="1200"/>
              </a:spcAft>
              <a:buFont typeface="Arial" panose="020B0604020202020204" pitchFamily="34" charset="0"/>
              <a:buChar char="•"/>
              <a:defRPr lang="ja-JP" sz="1600">
                <a:solidFill>
                  <a:schemeClr val="bg1"/>
                </a:solidFill>
                <a:latin typeface="Meiryo UI" panose="020B0604030504040204" pitchFamily="50" charset="-128"/>
                <a:ea typeface="Meiryo UI" panose="020B0604030504040204" pitchFamily="50" charset="-128"/>
              </a:defRPr>
            </a:lvl3pPr>
            <a:lvl4pPr marL="16573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4pPr>
            <a:lvl5pPr marL="21145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ja-JP"/>
            </a:defPPr>
          </a:lstStyle>
          <a:p>
            <a:pPr rtl="0"/>
            <a:r>
              <a:rPr lang="ja-JP" dirty="0"/>
              <a:t>マスター タイトルの書式設定</a:t>
            </a:r>
          </a:p>
        </p:txBody>
      </p:sp>
      <p:sp>
        <p:nvSpPr>
          <p:cNvPr id="3" name="テキスト プレースホルダー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4" name="日付プレースホルダー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5" name="フッター プレースホルダー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ja-JP" sz="1200" b="1" spc="150" baseline="0">
                <a:solidFill>
                  <a:schemeClr val="tx1"/>
                </a:solidFill>
                <a:latin typeface="Meiryo UI" panose="020B0604030504040204" pitchFamily="50" charset="-128"/>
                <a:ea typeface="Meiryo UI" panose="020B0604030504040204" pitchFamily="50" charset="-128"/>
                <a:cs typeface="+mn-cs"/>
              </a:defRPr>
            </a:lvl1pPr>
          </a:lstStyle>
          <a:p>
            <a:fld id="{18D65601-5AE2-46FC-B138-694DDD2B510D}"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kumimoji="1" lang="ja-JP"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lang="ja-JP"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lang="ja-JP"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lang="ja-JP"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9pPr>
    </p:bodyStyle>
    <p:otherStyle>
      <a:defPPr>
        <a:defRPr lang="ja-JP"/>
      </a:defPPr>
      <a:lvl1pPr marL="0" algn="l" defTabSz="914400" rtl="0" eaLnBrk="1" latinLnBrk="0" hangingPunct="1">
        <a:defRPr kumimoji="1" lang="ja-JP" sz="1800" kern="1200">
          <a:solidFill>
            <a:schemeClr val="tx1"/>
          </a:solidFill>
          <a:latin typeface="+mn-cs"/>
          <a:ea typeface="+mn-ea"/>
          <a:cs typeface="+mn-cs"/>
        </a:defRPr>
      </a:lvl1pPr>
      <a:lvl2pPr marL="457200" algn="l" defTabSz="914400" rtl="0" eaLnBrk="1" latinLnBrk="0" hangingPunct="1">
        <a:defRPr kumimoji="1" lang="ja-JP" sz="1800" kern="1200">
          <a:solidFill>
            <a:schemeClr val="tx1"/>
          </a:solidFill>
          <a:latin typeface="+mn-cs"/>
          <a:ea typeface="+mn-ea"/>
          <a:cs typeface="+mn-cs"/>
        </a:defRPr>
      </a:lvl2pPr>
      <a:lvl3pPr marL="914400" algn="l" defTabSz="914400" rtl="0" eaLnBrk="1" latinLnBrk="0" hangingPunct="1">
        <a:defRPr kumimoji="1" lang="ja-JP" sz="1800" kern="1200">
          <a:solidFill>
            <a:schemeClr val="tx1"/>
          </a:solidFill>
          <a:latin typeface="+mn-cs"/>
          <a:ea typeface="+mn-ea"/>
          <a:cs typeface="+mn-cs"/>
        </a:defRPr>
      </a:lvl3pPr>
      <a:lvl4pPr marL="1371600" algn="l" defTabSz="914400" rtl="0" eaLnBrk="1" latinLnBrk="0" hangingPunct="1">
        <a:defRPr kumimoji="1" lang="ja-JP" sz="1800" kern="1200">
          <a:solidFill>
            <a:schemeClr val="tx1"/>
          </a:solidFill>
          <a:latin typeface="+mn-cs"/>
          <a:ea typeface="+mn-ea"/>
          <a:cs typeface="+mn-cs"/>
        </a:defRPr>
      </a:lvl4pPr>
      <a:lvl5pPr marL="1828800" algn="l" defTabSz="914400" rtl="0" eaLnBrk="1" latinLnBrk="0" hangingPunct="1">
        <a:defRPr kumimoji="1" lang="ja-JP" sz="1800" kern="1200">
          <a:solidFill>
            <a:schemeClr val="tx1"/>
          </a:solidFill>
          <a:latin typeface="+mn-cs"/>
          <a:ea typeface="+mn-ea"/>
          <a:cs typeface="+mn-cs"/>
        </a:defRPr>
      </a:lvl5pPr>
      <a:lvl6pPr marL="2286000" algn="l" defTabSz="914400" rtl="0" eaLnBrk="1" latinLnBrk="0" hangingPunct="1">
        <a:defRPr kumimoji="1" lang="ja-JP" sz="1800" kern="1200">
          <a:solidFill>
            <a:schemeClr val="tx1"/>
          </a:solidFill>
          <a:latin typeface="+mn-cs"/>
          <a:ea typeface="+mn-ea"/>
          <a:cs typeface="+mn-cs"/>
        </a:defRPr>
      </a:lvl6pPr>
      <a:lvl7pPr marL="2743200" algn="l" defTabSz="914400" rtl="0" eaLnBrk="1" latinLnBrk="0" hangingPunct="1">
        <a:defRPr kumimoji="1" lang="ja-JP" sz="1800" kern="1200">
          <a:solidFill>
            <a:schemeClr val="tx1"/>
          </a:solidFill>
          <a:latin typeface="+mn-cs"/>
          <a:ea typeface="+mn-ea"/>
          <a:cs typeface="+mn-cs"/>
        </a:defRPr>
      </a:lvl7pPr>
      <a:lvl8pPr marL="3200400" algn="l" defTabSz="914400" rtl="0" eaLnBrk="1" latinLnBrk="0" hangingPunct="1">
        <a:defRPr kumimoji="1" lang="ja-JP" sz="1800" kern="1200">
          <a:solidFill>
            <a:schemeClr val="tx1"/>
          </a:solidFill>
          <a:latin typeface="+mn-cs"/>
          <a:ea typeface="+mn-ea"/>
          <a:cs typeface="+mn-cs"/>
        </a:defRPr>
      </a:lvl8pPr>
      <a:lvl9pPr marL="3657600" algn="l" defTabSz="914400" rtl="0" eaLnBrk="1" latinLnBrk="0" hangingPunct="1">
        <a:defRPr kumimoji="1" lang="ja-JP" sz="1800"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454C9E-20FB-B999-9303-C71D1334BAD7}"/>
              </a:ext>
            </a:extLst>
          </p:cNvPr>
          <p:cNvSpPr>
            <a:spLocks noGrp="1"/>
          </p:cNvSpPr>
          <p:nvPr>
            <p:ph type="title"/>
          </p:nvPr>
        </p:nvSpPr>
        <p:spPr>
          <a:xfrm>
            <a:off x="1285717" y="1179609"/>
            <a:ext cx="10449083" cy="1339702"/>
          </a:xfrm>
        </p:spPr>
        <p:txBody>
          <a:bodyPr rtlCol="0">
            <a:normAutofit/>
          </a:bodyPr>
          <a:lstStyle>
            <a:defPPr>
              <a:defRPr lang="ja-JP"/>
            </a:defPPr>
          </a:lstStyle>
          <a:p>
            <a:r>
              <a:rPr lang="ja-JP" altLang="ja-JP" dirty="0"/>
              <a:t>volatile</a:t>
            </a:r>
            <a:r>
              <a:rPr lang="ja-JP" altLang="en-US" sz="5400" dirty="0"/>
              <a:t>とは何か？</a:t>
            </a:r>
            <a:endParaRPr lang="ja-JP" sz="5400" dirty="0"/>
          </a:p>
        </p:txBody>
      </p:sp>
      <p:sp>
        <p:nvSpPr>
          <p:cNvPr id="3" name="タイトル 1">
            <a:extLst>
              <a:ext uri="{FF2B5EF4-FFF2-40B4-BE49-F238E27FC236}">
                <a16:creationId xmlns:a16="http://schemas.microsoft.com/office/drawing/2014/main" id="{A6933A07-0890-16F1-638A-FE224068FDC5}"/>
              </a:ext>
            </a:extLst>
          </p:cNvPr>
          <p:cNvSpPr txBox="1">
            <a:spLocks/>
          </p:cNvSpPr>
          <p:nvPr/>
        </p:nvSpPr>
        <p:spPr>
          <a:xfrm>
            <a:off x="1285717" y="4646428"/>
            <a:ext cx="10186813" cy="1339701"/>
          </a:xfrm>
          <a:prstGeom prst="rect">
            <a:avLst/>
          </a:prstGeom>
        </p:spPr>
        <p:txBody>
          <a:bodyPr vert="horz" lIns="91440" tIns="45720" rIns="91440" bIns="45720" rtlCol="0" anchor="b">
            <a:normAutofit fontScale="97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gn="r"/>
            <a:r>
              <a:rPr lang="ja-JP" altLang="en-US" sz="3200" dirty="0"/>
              <a:t>博士前期課程</a:t>
            </a:r>
            <a:br>
              <a:rPr lang="en-US" altLang="ja-JP" sz="3200" dirty="0"/>
            </a:br>
            <a:r>
              <a:rPr lang="ja-JP" altLang="en-US" sz="3200" dirty="0"/>
              <a:t>　大学院</a:t>
            </a:r>
            <a:r>
              <a:rPr lang="en-US" altLang="ja-JP" sz="3200" dirty="0"/>
              <a:t>1</a:t>
            </a:r>
            <a:r>
              <a:rPr lang="ja-JP" altLang="en-US" sz="3200" dirty="0"/>
              <a:t>年 　西村和真</a:t>
            </a:r>
          </a:p>
          <a:p>
            <a:pPr algn="r"/>
            <a:endParaRPr lang="ja-JP" altLang="en-US" sz="3200"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3473-7A3B-FD72-B3D9-1D89822015B9}"/>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64B93643-D887-149C-E846-401055890879}"/>
              </a:ext>
            </a:extLst>
          </p:cNvPr>
          <p:cNvSpPr txBox="1"/>
          <p:nvPr/>
        </p:nvSpPr>
        <p:spPr>
          <a:xfrm>
            <a:off x="1073933" y="134308"/>
            <a:ext cx="6391579" cy="769441"/>
          </a:xfrm>
          <a:prstGeom prst="rect">
            <a:avLst/>
          </a:prstGeom>
          <a:noFill/>
        </p:spPr>
        <p:txBody>
          <a:bodyPr wrap="square">
            <a:spAutoFit/>
          </a:bodyPr>
          <a:lstStyle/>
          <a:p>
            <a:pPr lvl="0">
              <a:defRPr/>
            </a:pPr>
            <a:r>
              <a:rPr kumimoji="1" lang="en-US" altLang="ja-JP" sz="4400" dirty="0">
                <a:solidFill>
                  <a:schemeClr val="bg1"/>
                </a:solidFill>
                <a:latin typeface="Meiryo UI" panose="020B0604030504040204" pitchFamily="50" charset="-128"/>
                <a:ea typeface="Meiryo UI" panose="020B0604030504040204" pitchFamily="50" charset="-128"/>
                <a:cs typeface="+mj-cs"/>
              </a:rPr>
              <a:t>volatile</a:t>
            </a:r>
            <a:r>
              <a:rPr kumimoji="1" lang="ja-JP" altLang="en-US" sz="4400" dirty="0">
                <a:solidFill>
                  <a:schemeClr val="bg1"/>
                </a:solidFill>
                <a:latin typeface="Meiryo UI" panose="020B0604030504040204" pitchFamily="50" charset="-128"/>
                <a:ea typeface="Meiryo UI" panose="020B0604030504040204" pitchFamily="50" charset="-128"/>
                <a:cs typeface="+mj-cs"/>
              </a:rPr>
              <a:t>とは</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2" name="テキスト ボックス 1">
            <a:extLst>
              <a:ext uri="{FF2B5EF4-FFF2-40B4-BE49-F238E27FC236}">
                <a16:creationId xmlns:a16="http://schemas.microsoft.com/office/drawing/2014/main" id="{011F558D-50A9-61F0-F408-8CD15787565E}"/>
              </a:ext>
            </a:extLst>
          </p:cNvPr>
          <p:cNvSpPr txBox="1"/>
          <p:nvPr/>
        </p:nvSpPr>
        <p:spPr>
          <a:xfrm>
            <a:off x="1370346" y="1580858"/>
            <a:ext cx="10253807" cy="4308872"/>
          </a:xfrm>
          <a:prstGeom prst="rect">
            <a:avLst/>
          </a:prstGeom>
          <a:noFill/>
        </p:spPr>
        <p:txBody>
          <a:bodyPr wrap="square">
            <a:spAutoFit/>
          </a:bodyPr>
          <a:lstStyle/>
          <a:p>
            <a:pPr>
              <a:spcAft>
                <a:spcPts val="1200"/>
              </a:spcAft>
            </a:pPr>
            <a:r>
              <a:rPr lang="ja-JP" altLang="en-US" sz="2800" dirty="0">
                <a:solidFill>
                  <a:schemeClr val="bg1"/>
                </a:solidFill>
              </a:rPr>
              <a:t>何か？</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ja-JP" sz="2800" b="1" dirty="0">
                <a:solidFill>
                  <a:schemeClr val="bg1"/>
                </a:solidFill>
              </a:rPr>
              <a:t>変数の値の可視性を保証する</a:t>
            </a:r>
            <a:r>
              <a:rPr lang="ja-JP" altLang="en-US" sz="2800" dirty="0">
                <a:solidFill>
                  <a:schemeClr val="bg1"/>
                </a:solidFill>
              </a:rPr>
              <a:t>。</a:t>
            </a:r>
            <a:endParaRPr lang="en-US" altLang="ja-JP" sz="2800" dirty="0">
              <a:solidFill>
                <a:schemeClr val="bg1"/>
              </a:solidFill>
            </a:endParaRPr>
          </a:p>
          <a:p>
            <a:pPr lvl="1">
              <a:spcAft>
                <a:spcPts val="1200"/>
              </a:spcAft>
            </a:pPr>
            <a:r>
              <a:rPr lang="ja-JP" altLang="en-US" sz="2800" dirty="0">
                <a:solidFill>
                  <a:schemeClr val="bg1"/>
                </a:solidFill>
              </a:rPr>
              <a:t>→　</a:t>
            </a:r>
            <a:r>
              <a:rPr lang="ja-JP" altLang="ja-JP" sz="2800" dirty="0">
                <a:solidFill>
                  <a:schemeClr val="bg1"/>
                </a:solidFill>
              </a:rPr>
              <a:t>変数に対して「</a:t>
            </a:r>
            <a:r>
              <a:rPr lang="ja-JP" altLang="ja-JP" sz="2800" b="1" dirty="0">
                <a:solidFill>
                  <a:schemeClr val="bg1"/>
                </a:solidFill>
              </a:rPr>
              <a:t>キャッシュを使わず</a:t>
            </a:r>
            <a:r>
              <a:rPr lang="ja-JP" altLang="ja-JP" sz="2800" dirty="0">
                <a:solidFill>
                  <a:schemeClr val="bg1"/>
                </a:solidFill>
              </a:rPr>
              <a:t>、必ずメインメモリから直接</a:t>
            </a:r>
            <a:br>
              <a:rPr lang="en-US" altLang="ja-JP" sz="2800" dirty="0">
                <a:solidFill>
                  <a:schemeClr val="bg1"/>
                </a:solidFill>
              </a:rPr>
            </a:br>
            <a:r>
              <a:rPr lang="ja-JP" altLang="en-US" sz="2800" dirty="0">
                <a:solidFill>
                  <a:schemeClr val="bg1"/>
                </a:solidFill>
              </a:rPr>
              <a:t>　　 </a:t>
            </a:r>
            <a:r>
              <a:rPr lang="ja-JP" altLang="ja-JP" sz="2800" dirty="0">
                <a:solidFill>
                  <a:schemeClr val="bg1"/>
                </a:solidFill>
              </a:rPr>
              <a:t>読み書きしろ」と強制する。</a:t>
            </a:r>
            <a:endParaRPr lang="en-US" altLang="ja-JP" sz="2800" dirty="0">
              <a:solidFill>
                <a:schemeClr val="bg1"/>
              </a:solidFill>
            </a:endParaRPr>
          </a:p>
          <a:p>
            <a:pPr>
              <a:spcAft>
                <a:spcPts val="1200"/>
              </a:spcAft>
            </a:pPr>
            <a:r>
              <a:rPr lang="ja-JP" altLang="en-US" sz="2800" dirty="0">
                <a:solidFill>
                  <a:schemeClr val="bg1"/>
                </a:solidFill>
              </a:rPr>
              <a:t>保証</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en-US" sz="2800" dirty="0">
                <a:solidFill>
                  <a:schemeClr val="bg1"/>
                </a:solidFill>
              </a:rPr>
              <a:t>可視性が保証される。</a:t>
            </a:r>
            <a:endParaRPr lang="en-US" altLang="ja-JP" sz="2800" dirty="0">
              <a:solidFill>
                <a:schemeClr val="bg1"/>
              </a:solidFill>
            </a:endParaRPr>
          </a:p>
          <a:p>
            <a:pPr lvl="1">
              <a:spcAft>
                <a:spcPts val="1200"/>
              </a:spcAft>
            </a:pPr>
            <a:r>
              <a:rPr lang="ja-JP" altLang="en-US" sz="2800" dirty="0">
                <a:solidFill>
                  <a:schemeClr val="bg1"/>
                </a:solidFill>
              </a:rPr>
              <a:t>　　→つまりスレッドが値を変更してもその最新の値がすぐに他の</a:t>
            </a:r>
            <a:br>
              <a:rPr lang="en-US" altLang="ja-JP" sz="2800" dirty="0">
                <a:solidFill>
                  <a:schemeClr val="bg1"/>
                </a:solidFill>
              </a:rPr>
            </a:br>
            <a:r>
              <a:rPr lang="ja-JP" altLang="en-US" sz="2800" dirty="0">
                <a:solidFill>
                  <a:schemeClr val="bg1"/>
                </a:solidFill>
              </a:rPr>
              <a:t>　　　 スレッドで反映されて見えること。</a:t>
            </a:r>
            <a:endParaRPr lang="en-US" altLang="ja-JP" sz="2800" dirty="0">
              <a:solidFill>
                <a:schemeClr val="bg1"/>
              </a:solidFill>
            </a:endParaRPr>
          </a:p>
        </p:txBody>
      </p:sp>
      <p:sp>
        <p:nvSpPr>
          <p:cNvPr id="3" name="テキスト ボックス 2">
            <a:extLst>
              <a:ext uri="{FF2B5EF4-FFF2-40B4-BE49-F238E27FC236}">
                <a16:creationId xmlns:a16="http://schemas.microsoft.com/office/drawing/2014/main" id="{FC4B2E86-CE3D-2FFE-45B8-69FAE56FEB8E}"/>
              </a:ext>
            </a:extLst>
          </p:cNvPr>
          <p:cNvSpPr txBox="1"/>
          <p:nvPr/>
        </p:nvSpPr>
        <p:spPr>
          <a:xfrm>
            <a:off x="2081692" y="3073574"/>
            <a:ext cx="8739962" cy="1323439"/>
          </a:xfrm>
          <a:prstGeom prst="rect">
            <a:avLst/>
          </a:prstGeom>
          <a:solidFill>
            <a:schemeClr val="accent3">
              <a:lumMod val="75000"/>
            </a:schemeClr>
          </a:solidFill>
        </p:spPr>
        <p:txBody>
          <a:bodyPr wrap="square" rtlCol="0">
            <a:spAutoFit/>
          </a:bodyPr>
          <a:lstStyle/>
          <a:p>
            <a:r>
              <a:rPr lang="ja-JP" altLang="en-US" sz="4000" dirty="0">
                <a:solidFill>
                  <a:schemeClr val="tx1">
                    <a:lumMod val="95000"/>
                    <a:lumOff val="5000"/>
                  </a:schemeClr>
                </a:solidFill>
              </a:rPr>
              <a:t>キャッシュを使用しないで大元のメインメモリを見に行けってこと。</a:t>
            </a:r>
            <a:endParaRPr kumimoji="1" lang="ja-JP" altLang="en-US" sz="4000" dirty="0">
              <a:solidFill>
                <a:schemeClr val="tx1">
                  <a:lumMod val="95000"/>
                  <a:lumOff val="5000"/>
                </a:schemeClr>
              </a:solidFill>
            </a:endParaRPr>
          </a:p>
        </p:txBody>
      </p:sp>
    </p:spTree>
    <p:extLst>
      <p:ext uri="{BB962C8B-B14F-4D97-AF65-F5344CB8AC3E}">
        <p14:creationId xmlns:p14="http://schemas.microsoft.com/office/powerpoint/2010/main" val="3274850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E9D22-AA88-C120-184B-97E88A4DF540}"/>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0236E5C5-D4B5-46BD-7EB7-E40C7B731B8C}"/>
              </a:ext>
            </a:extLst>
          </p:cNvPr>
          <p:cNvSpPr txBox="1"/>
          <p:nvPr/>
        </p:nvSpPr>
        <p:spPr>
          <a:xfrm>
            <a:off x="1073933" y="134308"/>
            <a:ext cx="800743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なぜ必要か？</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3" name="テキスト ボックス 2">
            <a:extLst>
              <a:ext uri="{FF2B5EF4-FFF2-40B4-BE49-F238E27FC236}">
                <a16:creationId xmlns:a16="http://schemas.microsoft.com/office/drawing/2014/main" id="{FBBDBD85-2692-4115-E051-1FB6EEDE4223}"/>
              </a:ext>
            </a:extLst>
          </p:cNvPr>
          <p:cNvSpPr txBox="1"/>
          <p:nvPr/>
        </p:nvSpPr>
        <p:spPr>
          <a:xfrm>
            <a:off x="1390389" y="1127342"/>
            <a:ext cx="10346499" cy="523220"/>
          </a:xfrm>
          <a:prstGeom prst="rect">
            <a:avLst/>
          </a:prstGeom>
          <a:noFill/>
        </p:spPr>
        <p:txBody>
          <a:bodyPr wrap="square" rtlCol="0">
            <a:spAutoFit/>
          </a:bodyPr>
          <a:lstStyle/>
          <a:p>
            <a:pPr>
              <a:spcAft>
                <a:spcPts val="1200"/>
              </a:spcAft>
            </a:pPr>
            <a:r>
              <a:rPr lang="ja-JP" altLang="en-US" sz="2800" b="1" dirty="0">
                <a:solidFill>
                  <a:schemeClr val="bg1"/>
                </a:solidFill>
              </a:rPr>
              <a:t>処理を高速化するために、</a:t>
            </a:r>
            <a:r>
              <a:rPr lang="en-US" altLang="ja-JP" sz="2800" b="1" dirty="0">
                <a:solidFill>
                  <a:schemeClr val="bg1"/>
                </a:solidFill>
              </a:rPr>
              <a:t>CPU</a:t>
            </a:r>
            <a:r>
              <a:rPr lang="ja-JP" altLang="en-US" sz="2800" b="1" dirty="0">
                <a:solidFill>
                  <a:schemeClr val="bg1"/>
                </a:solidFill>
              </a:rPr>
              <a:t>キャッシュを使い回す性質があるため</a:t>
            </a:r>
          </a:p>
        </p:txBody>
      </p:sp>
      <p:sp>
        <p:nvSpPr>
          <p:cNvPr id="2" name="テキスト ボックス 1">
            <a:extLst>
              <a:ext uri="{FF2B5EF4-FFF2-40B4-BE49-F238E27FC236}">
                <a16:creationId xmlns:a16="http://schemas.microsoft.com/office/drawing/2014/main" id="{013BA3CF-612D-0532-71AD-25AAA8AFC6F8}"/>
              </a:ext>
            </a:extLst>
          </p:cNvPr>
          <p:cNvSpPr txBox="1"/>
          <p:nvPr/>
        </p:nvSpPr>
        <p:spPr>
          <a:xfrm>
            <a:off x="1634938" y="2332309"/>
            <a:ext cx="10346499" cy="954107"/>
          </a:xfrm>
          <a:prstGeom prst="rect">
            <a:avLst/>
          </a:prstGeom>
          <a:noFill/>
        </p:spPr>
        <p:txBody>
          <a:bodyPr wrap="square" rtlCol="0">
            <a:spAutoFit/>
          </a:bodyPr>
          <a:lstStyle/>
          <a:p>
            <a:pPr>
              <a:spcAft>
                <a:spcPts val="1200"/>
              </a:spcAft>
            </a:pPr>
            <a:r>
              <a:rPr kumimoji="1" lang="ja-JP" altLang="en-US" sz="2800" b="1" dirty="0">
                <a:solidFill>
                  <a:schemeClr val="bg1"/>
                </a:solidFill>
              </a:rPr>
              <a:t>処理高速　</a:t>
            </a:r>
            <a:r>
              <a:rPr kumimoji="1" lang="en-US" altLang="ja-JP" sz="2800" b="1" dirty="0">
                <a:solidFill>
                  <a:schemeClr val="bg1"/>
                </a:solidFill>
              </a:rPr>
              <a:t>Main Memory </a:t>
            </a:r>
            <a:r>
              <a:rPr kumimoji="1" lang="ja-JP" altLang="en-US" sz="2800" b="1" dirty="0">
                <a:solidFill>
                  <a:schemeClr val="bg1"/>
                </a:solidFill>
              </a:rPr>
              <a:t>→ </a:t>
            </a:r>
            <a:r>
              <a:rPr kumimoji="1" lang="en-US" altLang="ja-JP" sz="2800" b="1" dirty="0">
                <a:solidFill>
                  <a:schemeClr val="bg1"/>
                </a:solidFill>
              </a:rPr>
              <a:t>CPU </a:t>
            </a:r>
            <a:r>
              <a:rPr kumimoji="1" lang="ja-JP" altLang="en-US" sz="2800" b="1" dirty="0">
                <a:solidFill>
                  <a:schemeClr val="bg1"/>
                </a:solidFill>
              </a:rPr>
              <a:t>キャッシュ　→　レジスタ</a:t>
            </a:r>
            <a:br>
              <a:rPr kumimoji="1" lang="en-US" altLang="ja-JP" sz="2800" b="1" dirty="0">
                <a:solidFill>
                  <a:schemeClr val="bg1"/>
                </a:solidFill>
              </a:rPr>
            </a:br>
            <a:r>
              <a:rPr kumimoji="1" lang="ja-JP" altLang="en-US" sz="2800" b="1" dirty="0">
                <a:solidFill>
                  <a:schemeClr val="bg1"/>
                </a:solidFill>
              </a:rPr>
              <a:t>　　　　　　　　　</a:t>
            </a:r>
            <a:r>
              <a:rPr kumimoji="1" lang="ja-JP" altLang="en-US" sz="2400" b="1" dirty="0">
                <a:solidFill>
                  <a:schemeClr val="bg1"/>
                </a:solidFill>
              </a:rPr>
              <a:t>変数</a:t>
            </a:r>
            <a:r>
              <a:rPr kumimoji="1" lang="en-US" altLang="ja-JP" sz="2400" b="1" dirty="0">
                <a:solidFill>
                  <a:schemeClr val="bg1"/>
                </a:solidFill>
              </a:rPr>
              <a:t>A</a:t>
            </a:r>
            <a:r>
              <a:rPr kumimoji="1" lang="ja-JP" altLang="en-US" sz="2400" b="1" dirty="0">
                <a:solidFill>
                  <a:schemeClr val="bg1"/>
                </a:solidFill>
              </a:rPr>
              <a:t>（更新）</a:t>
            </a:r>
            <a:r>
              <a:rPr kumimoji="1" lang="ja-JP" altLang="en-US" sz="2800" b="1" dirty="0">
                <a:solidFill>
                  <a:schemeClr val="bg1"/>
                </a:solidFill>
              </a:rPr>
              <a:t>　　　</a:t>
            </a:r>
            <a:r>
              <a:rPr kumimoji="1" lang="ja-JP" altLang="en-US" sz="2400" b="1" dirty="0">
                <a:solidFill>
                  <a:schemeClr val="bg1"/>
                </a:solidFill>
              </a:rPr>
              <a:t>古い変数</a:t>
            </a:r>
            <a:r>
              <a:rPr kumimoji="1" lang="en-US" altLang="ja-JP" sz="2400" b="1" dirty="0">
                <a:solidFill>
                  <a:schemeClr val="bg1"/>
                </a:solidFill>
              </a:rPr>
              <a:t>A</a:t>
            </a:r>
          </a:p>
        </p:txBody>
      </p:sp>
      <p:sp>
        <p:nvSpPr>
          <p:cNvPr id="5" name="テキスト ボックス 4">
            <a:extLst>
              <a:ext uri="{FF2B5EF4-FFF2-40B4-BE49-F238E27FC236}">
                <a16:creationId xmlns:a16="http://schemas.microsoft.com/office/drawing/2014/main" id="{DBE90012-59EA-E633-E9A1-16D608D4C3B3}"/>
              </a:ext>
            </a:extLst>
          </p:cNvPr>
          <p:cNvSpPr txBox="1"/>
          <p:nvPr/>
        </p:nvSpPr>
        <p:spPr>
          <a:xfrm>
            <a:off x="1390389" y="3871206"/>
            <a:ext cx="10346499" cy="954107"/>
          </a:xfrm>
          <a:prstGeom prst="rect">
            <a:avLst/>
          </a:prstGeom>
          <a:noFill/>
        </p:spPr>
        <p:txBody>
          <a:bodyPr wrap="square" rtlCol="0">
            <a:spAutoFit/>
          </a:bodyPr>
          <a:lstStyle/>
          <a:p>
            <a:pPr>
              <a:spcAft>
                <a:spcPts val="1200"/>
              </a:spcAft>
            </a:pPr>
            <a:r>
              <a:rPr kumimoji="1" lang="ja-JP" altLang="en-US" sz="2800" b="1" dirty="0">
                <a:solidFill>
                  <a:schemeClr val="bg1"/>
                </a:solidFill>
              </a:rPr>
              <a:t>スレッド</a:t>
            </a:r>
            <a:r>
              <a:rPr kumimoji="1" lang="en-US" altLang="ja-JP" sz="2800" b="1" dirty="0">
                <a:solidFill>
                  <a:schemeClr val="bg1"/>
                </a:solidFill>
              </a:rPr>
              <a:t>A </a:t>
            </a:r>
            <a:br>
              <a:rPr kumimoji="1" lang="en-US" altLang="ja-JP" sz="2800" b="1" dirty="0">
                <a:solidFill>
                  <a:schemeClr val="bg1"/>
                </a:solidFill>
              </a:rPr>
            </a:br>
            <a:r>
              <a:rPr kumimoji="1" lang="ja-JP" altLang="en-US" sz="2800" b="1" dirty="0">
                <a:solidFill>
                  <a:schemeClr val="bg1"/>
                </a:solidFill>
              </a:rPr>
              <a:t>　「</a:t>
            </a:r>
            <a:r>
              <a:rPr kumimoji="1" lang="en-US" altLang="ja-JP" sz="2800" b="1" dirty="0">
                <a:solidFill>
                  <a:schemeClr val="bg1"/>
                </a:solidFill>
              </a:rPr>
              <a:t>Main</a:t>
            </a:r>
            <a:r>
              <a:rPr kumimoji="1" lang="ja-JP" altLang="en-US" sz="2800" b="1" dirty="0">
                <a:solidFill>
                  <a:schemeClr val="bg1"/>
                </a:solidFill>
              </a:rPr>
              <a:t>　</a:t>
            </a:r>
            <a:r>
              <a:rPr kumimoji="1" lang="en-US" altLang="ja-JP" sz="2800" b="1" dirty="0">
                <a:solidFill>
                  <a:schemeClr val="bg1"/>
                </a:solidFill>
              </a:rPr>
              <a:t>Memory</a:t>
            </a:r>
            <a:r>
              <a:rPr kumimoji="1" lang="ja-JP" altLang="en-US" sz="2800" b="1" dirty="0">
                <a:solidFill>
                  <a:schemeClr val="bg1"/>
                </a:solidFill>
              </a:rPr>
              <a:t>」をまず更新する</a:t>
            </a:r>
            <a:endParaRPr kumimoji="1" lang="en-US" altLang="ja-JP" sz="2800" b="1" dirty="0">
              <a:solidFill>
                <a:schemeClr val="bg1"/>
              </a:solidFill>
            </a:endParaRPr>
          </a:p>
        </p:txBody>
      </p:sp>
      <p:sp>
        <p:nvSpPr>
          <p:cNvPr id="4" name="テキスト ボックス 3">
            <a:extLst>
              <a:ext uri="{FF2B5EF4-FFF2-40B4-BE49-F238E27FC236}">
                <a16:creationId xmlns:a16="http://schemas.microsoft.com/office/drawing/2014/main" id="{6E4AE294-54DC-48C9-D911-995B708A8D84}"/>
              </a:ext>
            </a:extLst>
          </p:cNvPr>
          <p:cNvSpPr txBox="1"/>
          <p:nvPr/>
        </p:nvSpPr>
        <p:spPr>
          <a:xfrm>
            <a:off x="1390389" y="5040787"/>
            <a:ext cx="10346499" cy="954107"/>
          </a:xfrm>
          <a:prstGeom prst="rect">
            <a:avLst/>
          </a:prstGeom>
          <a:noFill/>
        </p:spPr>
        <p:txBody>
          <a:bodyPr wrap="square" rtlCol="0">
            <a:spAutoFit/>
          </a:bodyPr>
          <a:lstStyle/>
          <a:p>
            <a:pPr>
              <a:spcAft>
                <a:spcPts val="1200"/>
              </a:spcAft>
            </a:pPr>
            <a:r>
              <a:rPr kumimoji="1" lang="ja-JP" altLang="en-US" sz="2800" b="1" dirty="0">
                <a:solidFill>
                  <a:schemeClr val="bg1"/>
                </a:solidFill>
              </a:rPr>
              <a:t>スレッド</a:t>
            </a:r>
            <a:r>
              <a:rPr kumimoji="1" lang="en-US" altLang="ja-JP" sz="2800" b="1" dirty="0">
                <a:solidFill>
                  <a:schemeClr val="bg1"/>
                </a:solidFill>
              </a:rPr>
              <a:t>B </a:t>
            </a:r>
            <a:br>
              <a:rPr kumimoji="1" lang="en-US" altLang="ja-JP" sz="2800" b="1" dirty="0">
                <a:solidFill>
                  <a:schemeClr val="bg1"/>
                </a:solidFill>
              </a:rPr>
            </a:br>
            <a:r>
              <a:rPr kumimoji="1" lang="ja-JP" altLang="en-US" sz="2800" b="1" dirty="0">
                <a:solidFill>
                  <a:schemeClr val="bg1"/>
                </a:solidFill>
              </a:rPr>
              <a:t>　「</a:t>
            </a:r>
            <a:r>
              <a:rPr kumimoji="1" lang="en-US" altLang="ja-JP" sz="2800" b="1" dirty="0">
                <a:solidFill>
                  <a:schemeClr val="bg1"/>
                </a:solidFill>
              </a:rPr>
              <a:t>CPU</a:t>
            </a:r>
            <a:r>
              <a:rPr kumimoji="1" lang="ja-JP" altLang="en-US" sz="2800" b="1" dirty="0">
                <a:solidFill>
                  <a:schemeClr val="bg1"/>
                </a:solidFill>
              </a:rPr>
              <a:t>　キャッシュ」の古い変数</a:t>
            </a:r>
            <a:r>
              <a:rPr kumimoji="1" lang="en-US" altLang="ja-JP" sz="2800" b="1" dirty="0">
                <a:solidFill>
                  <a:schemeClr val="bg1"/>
                </a:solidFill>
              </a:rPr>
              <a:t>A</a:t>
            </a:r>
            <a:r>
              <a:rPr kumimoji="1" lang="ja-JP" altLang="en-US" sz="2800" b="1" dirty="0">
                <a:solidFill>
                  <a:schemeClr val="bg1"/>
                </a:solidFill>
              </a:rPr>
              <a:t>を見てしまう。</a:t>
            </a:r>
            <a:endParaRPr kumimoji="1" lang="en-US" altLang="ja-JP" sz="2800" b="1" dirty="0">
              <a:solidFill>
                <a:schemeClr val="bg1"/>
              </a:solidFill>
            </a:endParaRPr>
          </a:p>
        </p:txBody>
      </p:sp>
      <p:cxnSp>
        <p:nvCxnSpPr>
          <p:cNvPr id="9" name="直線矢印コネクタ 8">
            <a:extLst>
              <a:ext uri="{FF2B5EF4-FFF2-40B4-BE49-F238E27FC236}">
                <a16:creationId xmlns:a16="http://schemas.microsoft.com/office/drawing/2014/main" id="{B984A4F4-4A9E-5806-E889-ED958CD87404}"/>
              </a:ext>
            </a:extLst>
          </p:cNvPr>
          <p:cNvCxnSpPr>
            <a:cxnSpLocks/>
          </p:cNvCxnSpPr>
          <p:nvPr/>
        </p:nvCxnSpPr>
        <p:spPr>
          <a:xfrm flipV="1">
            <a:off x="7612912" y="3286416"/>
            <a:ext cx="0" cy="2040496"/>
          </a:xfrm>
          <a:prstGeom prst="straightConnector1">
            <a:avLst/>
          </a:prstGeom>
          <a:ln w="38100">
            <a:solidFill>
              <a:srgbClr val="B63F1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F177BD66-ACE4-1306-8F26-3153D34F4251}"/>
              </a:ext>
            </a:extLst>
          </p:cNvPr>
          <p:cNvCxnSpPr>
            <a:cxnSpLocks/>
          </p:cNvCxnSpPr>
          <p:nvPr/>
        </p:nvCxnSpPr>
        <p:spPr>
          <a:xfrm flipV="1">
            <a:off x="4756298" y="3286416"/>
            <a:ext cx="0" cy="1061843"/>
          </a:xfrm>
          <a:prstGeom prst="straightConnector1">
            <a:avLst/>
          </a:prstGeom>
          <a:ln w="38100">
            <a:solidFill>
              <a:srgbClr val="B63F1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0194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CFED6-B08A-7E23-F939-4ACCB5B42B82}"/>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8437E2D1-A5EA-75D6-F1A4-75A2C879934E}"/>
              </a:ext>
            </a:extLst>
          </p:cNvPr>
          <p:cNvSpPr txBox="1"/>
          <p:nvPr/>
        </p:nvSpPr>
        <p:spPr>
          <a:xfrm>
            <a:off x="1073933" y="134308"/>
            <a:ext cx="800743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補足</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3" name="テキスト ボックス 2">
            <a:extLst>
              <a:ext uri="{FF2B5EF4-FFF2-40B4-BE49-F238E27FC236}">
                <a16:creationId xmlns:a16="http://schemas.microsoft.com/office/drawing/2014/main" id="{56B78A4D-CFDE-4EB0-F1B7-1A28AF904CBF}"/>
              </a:ext>
            </a:extLst>
          </p:cNvPr>
          <p:cNvSpPr txBox="1"/>
          <p:nvPr/>
        </p:nvSpPr>
        <p:spPr>
          <a:xfrm>
            <a:off x="1390389" y="1127342"/>
            <a:ext cx="10346499" cy="523220"/>
          </a:xfrm>
          <a:prstGeom prst="rect">
            <a:avLst/>
          </a:prstGeom>
          <a:noFill/>
        </p:spPr>
        <p:txBody>
          <a:bodyPr wrap="square" rtlCol="0">
            <a:spAutoFit/>
          </a:bodyPr>
          <a:lstStyle/>
          <a:p>
            <a:pPr>
              <a:spcAft>
                <a:spcPts val="1200"/>
              </a:spcAft>
            </a:pPr>
            <a:r>
              <a:rPr lang="ja-JP" altLang="en-US" sz="2800" b="1" dirty="0">
                <a:solidFill>
                  <a:schemeClr val="bg1"/>
                </a:solidFill>
              </a:rPr>
              <a:t>組み込み系での無限ループ</a:t>
            </a:r>
          </a:p>
        </p:txBody>
      </p:sp>
      <p:sp>
        <p:nvSpPr>
          <p:cNvPr id="2" name="テキスト ボックス 1">
            <a:extLst>
              <a:ext uri="{FF2B5EF4-FFF2-40B4-BE49-F238E27FC236}">
                <a16:creationId xmlns:a16="http://schemas.microsoft.com/office/drawing/2014/main" id="{A11B7B2B-9C37-2628-B12F-8532F3D72023}"/>
              </a:ext>
            </a:extLst>
          </p:cNvPr>
          <p:cNvSpPr txBox="1"/>
          <p:nvPr/>
        </p:nvSpPr>
        <p:spPr>
          <a:xfrm>
            <a:off x="1666835" y="1779416"/>
            <a:ext cx="10346499" cy="1508105"/>
          </a:xfrm>
          <a:prstGeom prst="rect">
            <a:avLst/>
          </a:prstGeom>
          <a:noFill/>
        </p:spPr>
        <p:txBody>
          <a:bodyPr wrap="square" rtlCol="0">
            <a:spAutoFit/>
          </a:bodyPr>
          <a:lstStyle/>
          <a:p>
            <a:pPr>
              <a:spcAft>
                <a:spcPts val="1200"/>
              </a:spcAft>
            </a:pPr>
            <a:r>
              <a:rPr kumimoji="1" lang="ja-JP" altLang="en-US" sz="2400" b="1" dirty="0">
                <a:solidFill>
                  <a:schemeClr val="bg1"/>
                </a:solidFill>
              </a:rPr>
              <a:t>例：センサーの反応を待つループ処理</a:t>
            </a:r>
            <a:endParaRPr kumimoji="1" lang="en-US" altLang="ja-JP" sz="2400" b="1" dirty="0">
              <a:solidFill>
                <a:schemeClr val="bg1"/>
              </a:solidFill>
            </a:endParaRPr>
          </a:p>
          <a:p>
            <a:pPr lvl="1">
              <a:spcAft>
                <a:spcPts val="1200"/>
              </a:spcAft>
            </a:pPr>
            <a:r>
              <a:rPr kumimoji="1" lang="ja-JP" altLang="en-US" sz="2400" b="1" dirty="0">
                <a:solidFill>
                  <a:schemeClr val="bg1"/>
                </a:solidFill>
              </a:rPr>
              <a:t>①コンパイラ：ループ内で</a:t>
            </a:r>
            <a:r>
              <a:rPr kumimoji="1" lang="en-US" altLang="ja-JP" sz="2400" b="1" dirty="0">
                <a:solidFill>
                  <a:schemeClr val="bg1"/>
                </a:solidFill>
              </a:rPr>
              <a:t>flag</a:t>
            </a:r>
            <a:r>
              <a:rPr kumimoji="1" lang="ja-JP" altLang="en-US" sz="2400" b="1" dirty="0">
                <a:solidFill>
                  <a:schemeClr val="bg1"/>
                </a:solidFill>
              </a:rPr>
              <a:t>変数書き換えないから毎回確認しなくていいや</a:t>
            </a:r>
            <a:endParaRPr kumimoji="1" lang="en-US" altLang="ja-JP" sz="2400" b="1" dirty="0">
              <a:solidFill>
                <a:schemeClr val="bg1"/>
              </a:solidFill>
            </a:endParaRPr>
          </a:p>
          <a:p>
            <a:pPr lvl="1">
              <a:spcAft>
                <a:spcPts val="1200"/>
              </a:spcAft>
            </a:pPr>
            <a:r>
              <a:rPr kumimoji="1" lang="ja-JP" altLang="en-US" sz="2400" b="1" dirty="0">
                <a:solidFill>
                  <a:schemeClr val="bg1"/>
                </a:solidFill>
              </a:rPr>
              <a:t>②　コンパイラが勝手に常に</a:t>
            </a:r>
            <a:r>
              <a:rPr kumimoji="1" lang="en-US" altLang="ja-JP" sz="2400" b="1" dirty="0">
                <a:solidFill>
                  <a:schemeClr val="bg1"/>
                </a:solidFill>
              </a:rPr>
              <a:t>true</a:t>
            </a:r>
            <a:r>
              <a:rPr kumimoji="1" lang="ja-JP" altLang="en-US" sz="2400" b="1" dirty="0">
                <a:solidFill>
                  <a:schemeClr val="bg1"/>
                </a:solidFill>
              </a:rPr>
              <a:t>の無限ループに変える　→　結果フリーズ</a:t>
            </a:r>
            <a:endParaRPr kumimoji="1" lang="en-US" altLang="ja-JP" sz="2400" b="1" dirty="0">
              <a:solidFill>
                <a:schemeClr val="bg1"/>
              </a:solidFill>
            </a:endParaRPr>
          </a:p>
        </p:txBody>
      </p:sp>
      <p:pic>
        <p:nvPicPr>
          <p:cNvPr id="7" name="図 6">
            <a:extLst>
              <a:ext uri="{FF2B5EF4-FFF2-40B4-BE49-F238E27FC236}">
                <a16:creationId xmlns:a16="http://schemas.microsoft.com/office/drawing/2014/main" id="{27ED4FA4-7614-BDCF-E9B6-034D3D205062}"/>
              </a:ext>
            </a:extLst>
          </p:cNvPr>
          <p:cNvPicPr>
            <a:picLocks noChangeAspect="1"/>
          </p:cNvPicPr>
          <p:nvPr/>
        </p:nvPicPr>
        <p:blipFill>
          <a:blip r:embed="rId3"/>
          <a:stretch>
            <a:fillRect/>
          </a:stretch>
        </p:blipFill>
        <p:spPr>
          <a:xfrm>
            <a:off x="2860158" y="3570480"/>
            <a:ext cx="7051953" cy="3025086"/>
          </a:xfrm>
          <a:prstGeom prst="rect">
            <a:avLst/>
          </a:prstGeom>
        </p:spPr>
      </p:pic>
    </p:spTree>
    <p:extLst>
      <p:ext uri="{BB962C8B-B14F-4D97-AF65-F5344CB8AC3E}">
        <p14:creationId xmlns:p14="http://schemas.microsoft.com/office/powerpoint/2010/main" val="92007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5FA96-E5F6-F8BA-090C-6B81323C1FB2}"/>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D3FB4A46-1C3C-4FD2-E5B0-1DCDEAEC3142}"/>
              </a:ext>
            </a:extLst>
          </p:cNvPr>
          <p:cNvSpPr txBox="1"/>
          <p:nvPr/>
        </p:nvSpPr>
        <p:spPr>
          <a:xfrm>
            <a:off x="1073933" y="134308"/>
            <a:ext cx="800743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限界</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3" name="テキスト ボックス 2">
            <a:extLst>
              <a:ext uri="{FF2B5EF4-FFF2-40B4-BE49-F238E27FC236}">
                <a16:creationId xmlns:a16="http://schemas.microsoft.com/office/drawing/2014/main" id="{932A78C0-5A7A-4889-1B31-B71002994291}"/>
              </a:ext>
            </a:extLst>
          </p:cNvPr>
          <p:cNvSpPr txBox="1"/>
          <p:nvPr/>
        </p:nvSpPr>
        <p:spPr>
          <a:xfrm>
            <a:off x="1390389" y="1127342"/>
            <a:ext cx="10346499" cy="523220"/>
          </a:xfrm>
          <a:prstGeom prst="rect">
            <a:avLst/>
          </a:prstGeom>
          <a:noFill/>
        </p:spPr>
        <p:txBody>
          <a:bodyPr wrap="square" rtlCol="0">
            <a:spAutoFit/>
          </a:bodyPr>
          <a:lstStyle/>
          <a:p>
            <a:pPr>
              <a:spcAft>
                <a:spcPts val="1200"/>
              </a:spcAft>
            </a:pPr>
            <a:r>
              <a:rPr lang="ja-JP" altLang="en-US" sz="2800" b="1" dirty="0">
                <a:solidFill>
                  <a:schemeClr val="bg1"/>
                </a:solidFill>
              </a:rPr>
              <a:t>・排他制御ができるわけではない。</a:t>
            </a:r>
          </a:p>
        </p:txBody>
      </p:sp>
      <p:sp>
        <p:nvSpPr>
          <p:cNvPr id="2" name="テキスト ボックス 1">
            <a:extLst>
              <a:ext uri="{FF2B5EF4-FFF2-40B4-BE49-F238E27FC236}">
                <a16:creationId xmlns:a16="http://schemas.microsoft.com/office/drawing/2014/main" id="{BF67DB0D-6A5E-367D-8C3F-CEEB18F106B9}"/>
              </a:ext>
            </a:extLst>
          </p:cNvPr>
          <p:cNvSpPr txBox="1"/>
          <p:nvPr/>
        </p:nvSpPr>
        <p:spPr>
          <a:xfrm>
            <a:off x="2198463" y="1874155"/>
            <a:ext cx="10346499" cy="1508105"/>
          </a:xfrm>
          <a:prstGeom prst="rect">
            <a:avLst/>
          </a:prstGeom>
          <a:noFill/>
        </p:spPr>
        <p:txBody>
          <a:bodyPr wrap="square" rtlCol="0">
            <a:spAutoFit/>
          </a:bodyPr>
          <a:lstStyle/>
          <a:p>
            <a:pPr>
              <a:spcAft>
                <a:spcPts val="1200"/>
              </a:spcAft>
            </a:pPr>
            <a:r>
              <a:rPr kumimoji="1" lang="ja-JP" altLang="en-US" sz="2400" b="1" dirty="0">
                <a:solidFill>
                  <a:schemeClr val="bg1"/>
                </a:solidFill>
              </a:rPr>
              <a:t>スレッド間にて、スレッドが同時に最新の値を読み取ってしまう</a:t>
            </a:r>
            <a:endParaRPr kumimoji="1" lang="en-US" altLang="ja-JP" sz="2400" b="1" dirty="0">
              <a:solidFill>
                <a:schemeClr val="bg1"/>
              </a:solidFill>
            </a:endParaRPr>
          </a:p>
          <a:p>
            <a:pPr>
              <a:spcAft>
                <a:spcPts val="1200"/>
              </a:spcAft>
            </a:pPr>
            <a:r>
              <a:rPr kumimoji="1" lang="en-US" altLang="ja-JP" sz="2400" b="1" dirty="0">
                <a:solidFill>
                  <a:schemeClr val="bg1"/>
                </a:solidFill>
              </a:rPr>
              <a:t>	</a:t>
            </a:r>
            <a:r>
              <a:rPr kumimoji="1" lang="ja-JP" altLang="en-US" sz="2400" b="1" dirty="0">
                <a:solidFill>
                  <a:schemeClr val="bg1"/>
                </a:solidFill>
              </a:rPr>
              <a:t>→　値が上書きされしまう現象が起こる。</a:t>
            </a:r>
            <a:endParaRPr kumimoji="1" lang="en-US" altLang="ja-JP" sz="2400" b="1" dirty="0">
              <a:solidFill>
                <a:schemeClr val="bg1"/>
              </a:solidFill>
            </a:endParaRPr>
          </a:p>
          <a:p>
            <a:pPr>
              <a:spcAft>
                <a:spcPts val="1200"/>
              </a:spcAft>
            </a:pPr>
            <a:r>
              <a:rPr kumimoji="1" lang="ja-JP" altLang="ja-JP" sz="2400" b="1" dirty="0">
                <a:solidFill>
                  <a:schemeClr val="bg1"/>
                </a:solidFill>
              </a:rPr>
              <a:t>一連の処理（読み取り→計算→書き込み）が必要な場合</a:t>
            </a:r>
            <a:r>
              <a:rPr kumimoji="1" lang="ja-JP" altLang="en-US" sz="2400" b="1" dirty="0">
                <a:solidFill>
                  <a:schemeClr val="bg1"/>
                </a:solidFill>
              </a:rPr>
              <a:t>は向いていない。</a:t>
            </a:r>
            <a:endParaRPr kumimoji="1" lang="en-US" altLang="ja-JP" sz="2400" b="1" dirty="0">
              <a:solidFill>
                <a:schemeClr val="bg1"/>
              </a:solidFill>
            </a:endParaRPr>
          </a:p>
        </p:txBody>
      </p:sp>
      <p:sp>
        <p:nvSpPr>
          <p:cNvPr id="6" name="テキスト ボックス 5">
            <a:extLst>
              <a:ext uri="{FF2B5EF4-FFF2-40B4-BE49-F238E27FC236}">
                <a16:creationId xmlns:a16="http://schemas.microsoft.com/office/drawing/2014/main" id="{E4274D5C-6E68-EEFD-4E89-505D1A92A3FE}"/>
              </a:ext>
            </a:extLst>
          </p:cNvPr>
          <p:cNvSpPr txBox="1"/>
          <p:nvPr/>
        </p:nvSpPr>
        <p:spPr>
          <a:xfrm>
            <a:off x="1390388" y="4222553"/>
            <a:ext cx="10346499" cy="984885"/>
          </a:xfrm>
          <a:prstGeom prst="rect">
            <a:avLst/>
          </a:prstGeom>
          <a:noFill/>
        </p:spPr>
        <p:txBody>
          <a:bodyPr wrap="square" rtlCol="0">
            <a:spAutoFit/>
          </a:bodyPr>
          <a:lstStyle/>
          <a:p>
            <a:pPr>
              <a:spcAft>
                <a:spcPts val="1200"/>
              </a:spcAft>
            </a:pPr>
            <a:r>
              <a:rPr kumimoji="1" lang="ja-JP" altLang="en-US" sz="2400" b="1" dirty="0">
                <a:solidFill>
                  <a:schemeClr val="bg1"/>
                </a:solidFill>
              </a:rPr>
              <a:t>使い時</a:t>
            </a:r>
            <a:endParaRPr kumimoji="1" lang="en-US" altLang="ja-JP" sz="2400" b="1" dirty="0">
              <a:solidFill>
                <a:schemeClr val="bg1"/>
              </a:solidFill>
            </a:endParaRPr>
          </a:p>
          <a:p>
            <a:pPr marL="800100" lvl="1" indent="-342900">
              <a:spcAft>
                <a:spcPts val="1200"/>
              </a:spcAft>
              <a:buFont typeface="Arial" panose="020B0604020202020204" pitchFamily="34" charset="0"/>
              <a:buChar char="•"/>
            </a:pPr>
            <a:r>
              <a:rPr kumimoji="1" lang="ja-JP" altLang="en-US" sz="2400" b="1" dirty="0">
                <a:solidFill>
                  <a:schemeClr val="bg1"/>
                </a:solidFill>
              </a:rPr>
              <a:t>停止フラグなどの結果に影響しないとき。　</a:t>
            </a:r>
            <a:endParaRPr kumimoji="1" lang="en-US" altLang="ja-JP" sz="2400" b="1" dirty="0">
              <a:solidFill>
                <a:schemeClr val="bg1"/>
              </a:solidFill>
            </a:endParaRPr>
          </a:p>
        </p:txBody>
      </p:sp>
      <p:pic>
        <p:nvPicPr>
          <p:cNvPr id="8" name="図 7">
            <a:extLst>
              <a:ext uri="{FF2B5EF4-FFF2-40B4-BE49-F238E27FC236}">
                <a16:creationId xmlns:a16="http://schemas.microsoft.com/office/drawing/2014/main" id="{2409BCB5-8516-0411-5804-28959E364414}"/>
              </a:ext>
            </a:extLst>
          </p:cNvPr>
          <p:cNvPicPr>
            <a:picLocks noChangeAspect="1"/>
          </p:cNvPicPr>
          <p:nvPr/>
        </p:nvPicPr>
        <p:blipFill>
          <a:blip r:embed="rId3"/>
          <a:stretch>
            <a:fillRect/>
          </a:stretch>
        </p:blipFill>
        <p:spPr>
          <a:xfrm>
            <a:off x="7709526" y="3878746"/>
            <a:ext cx="4407126" cy="2844946"/>
          </a:xfrm>
          <a:prstGeom prst="rect">
            <a:avLst/>
          </a:prstGeom>
        </p:spPr>
      </p:pic>
    </p:spTree>
    <p:extLst>
      <p:ext uri="{BB962C8B-B14F-4D97-AF65-F5344CB8AC3E}">
        <p14:creationId xmlns:p14="http://schemas.microsoft.com/office/powerpoint/2010/main" val="1919649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CD7BC-2F4E-31ED-72D0-61EFF91AD0F3}"/>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73D82639-0971-02B0-4118-E6F46C84968F}"/>
              </a:ext>
            </a:extLst>
          </p:cNvPr>
          <p:cNvSpPr txBox="1"/>
          <p:nvPr/>
        </p:nvSpPr>
        <p:spPr>
          <a:xfrm>
            <a:off x="1073933" y="134308"/>
            <a:ext cx="6053377" cy="769441"/>
          </a:xfrm>
          <a:prstGeom prst="rect">
            <a:avLst/>
          </a:prstGeom>
          <a:noFill/>
        </p:spPr>
        <p:txBody>
          <a:bodyPr wrap="square">
            <a:spAutoFit/>
          </a:bodyPr>
          <a:lstStyle/>
          <a:p>
            <a:pPr lvl="0">
              <a:defRPr/>
            </a:pPr>
            <a:r>
              <a:rPr kumimoji="1" lang="ja-JP" altLang="en-US" sz="4400" dirty="0">
                <a:solidFill>
                  <a:schemeClr val="bg1"/>
                </a:solidFill>
                <a:latin typeface="Meiryo UI" panose="020B0604030504040204" pitchFamily="50" charset="-128"/>
                <a:ea typeface="Meiryo UI" panose="020B0604030504040204" pitchFamily="50" charset="-128"/>
                <a:cs typeface="+mj-cs"/>
              </a:rPr>
              <a:t>まとめ</a:t>
            </a:r>
            <a:endParaRPr kumimoji="1" lang="en-US" altLang="ja-JP" sz="4400" dirty="0">
              <a:solidFill>
                <a:schemeClr val="bg1"/>
              </a:solidFill>
              <a:latin typeface="Meiryo UI" panose="020B0604030504040204" pitchFamily="50" charset="-128"/>
              <a:ea typeface="Meiryo UI" panose="020B0604030504040204" pitchFamily="50" charset="-128"/>
              <a:cs typeface="+mj-cs"/>
            </a:endParaRPr>
          </a:p>
        </p:txBody>
      </p:sp>
      <p:sp>
        <p:nvSpPr>
          <p:cNvPr id="9" name="テキスト ボックス 8">
            <a:extLst>
              <a:ext uri="{FF2B5EF4-FFF2-40B4-BE49-F238E27FC236}">
                <a16:creationId xmlns:a16="http://schemas.microsoft.com/office/drawing/2014/main" id="{039BD9AB-9001-B99B-28EC-2D59AA6253DF}"/>
              </a:ext>
            </a:extLst>
          </p:cNvPr>
          <p:cNvSpPr txBox="1"/>
          <p:nvPr/>
        </p:nvSpPr>
        <p:spPr>
          <a:xfrm>
            <a:off x="1470554" y="1217603"/>
            <a:ext cx="10721446" cy="3447098"/>
          </a:xfrm>
          <a:prstGeom prst="rect">
            <a:avLst/>
          </a:prstGeom>
          <a:noFill/>
        </p:spPr>
        <p:txBody>
          <a:bodyPr wrap="square">
            <a:spAutoFit/>
          </a:bodyPr>
          <a:lstStyle/>
          <a:p>
            <a:pPr>
              <a:spcAft>
                <a:spcPts val="1200"/>
              </a:spcAft>
            </a:pPr>
            <a:r>
              <a:rPr lang="ja-JP" altLang="en-US" sz="2800" dirty="0">
                <a:solidFill>
                  <a:schemeClr val="bg1"/>
                </a:solidFill>
              </a:rPr>
              <a:t>何か？</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ja-JP" sz="2800" dirty="0">
                <a:solidFill>
                  <a:schemeClr val="bg1"/>
                </a:solidFill>
              </a:rPr>
              <a:t>変数の値の可視性を保証</a:t>
            </a:r>
            <a:r>
              <a:rPr lang="ja-JP" altLang="en-US" sz="2800" dirty="0">
                <a:solidFill>
                  <a:schemeClr val="bg1"/>
                </a:solidFill>
              </a:rPr>
              <a:t>するもの。</a:t>
            </a:r>
            <a:endParaRPr lang="en-US" altLang="ja-JP" sz="2800" dirty="0">
              <a:solidFill>
                <a:schemeClr val="bg1"/>
              </a:solidFill>
            </a:endParaRPr>
          </a:p>
          <a:p>
            <a:pPr>
              <a:spcAft>
                <a:spcPts val="1200"/>
              </a:spcAft>
            </a:pPr>
            <a:r>
              <a:rPr lang="ja-JP" altLang="en-US" sz="2800" dirty="0">
                <a:solidFill>
                  <a:schemeClr val="bg1"/>
                </a:solidFill>
              </a:rPr>
              <a:t>仕組み</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en-US" sz="2800" dirty="0">
                <a:solidFill>
                  <a:schemeClr val="bg1"/>
                </a:solidFill>
              </a:rPr>
              <a:t>キャッシュを使用しないで大元のメインメモリを見に行っている。</a:t>
            </a:r>
            <a:endParaRPr lang="en-US" altLang="ja-JP" sz="2800" dirty="0">
              <a:solidFill>
                <a:schemeClr val="bg1"/>
              </a:solidFill>
            </a:endParaRPr>
          </a:p>
          <a:p>
            <a:pPr>
              <a:spcAft>
                <a:spcPts val="1200"/>
              </a:spcAft>
            </a:pPr>
            <a:r>
              <a:rPr lang="ja-JP" altLang="en-US" sz="2800" dirty="0">
                <a:solidFill>
                  <a:schemeClr val="bg1"/>
                </a:solidFill>
              </a:rPr>
              <a:t>限界</a:t>
            </a:r>
            <a:endParaRPr lang="en-US" altLang="ja-JP" sz="2800" dirty="0">
              <a:solidFill>
                <a:schemeClr val="bg1"/>
              </a:solidFill>
            </a:endParaRPr>
          </a:p>
          <a:p>
            <a:pPr marL="914400" lvl="1" indent="-457200">
              <a:spcAft>
                <a:spcPts val="1200"/>
              </a:spcAft>
              <a:buFont typeface="Arial" panose="020B0604020202020204" pitchFamily="34" charset="0"/>
              <a:buChar char="•"/>
            </a:pPr>
            <a:r>
              <a:rPr lang="ja-JP" altLang="en-US" sz="2800" dirty="0">
                <a:solidFill>
                  <a:schemeClr val="bg1"/>
                </a:solidFill>
              </a:rPr>
              <a:t>排他制御ができるわけではない。</a:t>
            </a:r>
            <a:endParaRPr lang="en-US" altLang="ja-JP" sz="2800" dirty="0">
              <a:solidFill>
                <a:schemeClr val="bg1"/>
              </a:solidFill>
            </a:endParaRPr>
          </a:p>
        </p:txBody>
      </p:sp>
    </p:spTree>
    <p:extLst>
      <p:ext uri="{BB962C8B-B14F-4D97-AF65-F5344CB8AC3E}">
        <p14:creationId xmlns:p14="http://schemas.microsoft.com/office/powerpoint/2010/main" val="2162761959"/>
      </p:ext>
    </p:extLst>
  </p:cSld>
  <p:clrMapOvr>
    <a:masterClrMapping/>
  </p:clrMapOvr>
</p:sld>
</file>

<file path=ppt/theme/theme1.xml><?xml version="1.0" encoding="utf-8"?>
<a:theme xmlns:a="http://schemas.openxmlformats.org/drawingml/2006/main" name="ユーザー設定">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Meiryo UI "/>
        <a:ea typeface=""/>
        <a:cs typeface="Meiryo UI "/>
      </a:majorFont>
      <a:minorFont>
        <a:latin typeface="Meiryo UI "/>
        <a:ea typeface=""/>
        <a:cs typeface="Meiryo UI "/>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72938360_TF78544816_Win32" id="{029ED66B-9A8D-46F5-948E-0ADEE2C80AFD}" vid="{66DD23D5-FBAC-432E-A532-9880DE2D209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FDB7358-0BCB-4DEB-B717-C1D7CC555F05}">
  <ds:schemaRefs>
    <ds:schemaRef ds:uri="http://www.w3.org/XML/1998/namespace"/>
    <ds:schemaRef ds:uri="http://purl.org/dc/terms/"/>
    <ds:schemaRef ds:uri="http://schemas.microsoft.com/sharepoint/v3"/>
    <ds:schemaRef ds:uri="http://schemas.microsoft.com/office/infopath/2007/PartnerControls"/>
    <ds:schemaRef ds:uri="http://purl.org/dc/dcmitype/"/>
    <ds:schemaRef ds:uri="http://schemas.openxmlformats.org/package/2006/metadata/core-properties"/>
    <ds:schemaRef ds:uri="230e9df3-be65-4c73-a93b-d1236ebd677e"/>
    <ds:schemaRef ds:uri="http://schemas.microsoft.com/office/2006/documentManagement/types"/>
    <ds:schemaRef ds:uri="16c05727-aa75-4e4a-9b5f-8a80a1165891"/>
    <ds:schemaRef ds:uri="71af3243-3dd4-4a8d-8c0d-dd76da1f02a5"/>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6DE3707C-8CAB-4302-B7E1-D32E1543E05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会議用モダン プレゼンテーション</Template>
  <TotalTime>9771</TotalTime>
  <Words>856</Words>
  <Application>Microsoft Office PowerPoint</Application>
  <PresentationFormat>ワイド画面</PresentationFormat>
  <Paragraphs>45</Paragraphs>
  <Slides>6</Slides>
  <Notes>6</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6</vt:i4>
      </vt:variant>
    </vt:vector>
  </HeadingPairs>
  <TitlesOfParts>
    <vt:vector size="9" baseType="lpstr">
      <vt:lpstr>Meiryo UI</vt:lpstr>
      <vt:lpstr>Arial</vt:lpstr>
      <vt:lpstr>ユーザー設定</vt:lpstr>
      <vt:lpstr>volatileとは何か？</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j22345nk</dc:creator>
  <cp:lastModifiedBy>g26014nk</cp:lastModifiedBy>
  <cp:revision>446</cp:revision>
  <dcterms:created xsi:type="dcterms:W3CDTF">2026-04-22T00:57:43Z</dcterms:created>
  <dcterms:modified xsi:type="dcterms:W3CDTF">2026-07-06T10:15:59Z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