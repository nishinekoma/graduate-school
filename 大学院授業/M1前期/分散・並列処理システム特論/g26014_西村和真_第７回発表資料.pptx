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22" r:id="rId5"/>
    <p:sldId id="349" r:id="rId6"/>
    <p:sldId id="347" r:id="rId7"/>
    <p:sldId id="329" r:id="rId8"/>
    <p:sldId id="348" r:id="rId9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513" autoAdjust="0"/>
  </p:normalViewPr>
  <p:slideViewPr>
    <p:cSldViewPr snapToGrid="0">
      <p:cViewPr varScale="1">
        <p:scale>
          <a:sx n="52" d="100"/>
          <a:sy n="52" d="100"/>
        </p:scale>
        <p:origin x="1228" y="56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4002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3D428F60-EEB6-4235-8F32-A11CE9C14B93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2026/6/8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00AC623C-86E0-4A85-83FB-F4A716956FD4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2E69705-234C-4F4E-8785-2C3496ACDA1A}" type="datetime1">
              <a:rPr lang="en-US" altLang="ja-JP" smtClean="0"/>
              <a:pPr/>
              <a:t>6/8/2026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37D7554-D10C-4E29-B8E6-BB7111FA614F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秋山・斎藤ゼミ 西村です。</a:t>
            </a:r>
            <a:endParaRPr lang="en-US" altLang="ja-JP" dirty="0"/>
          </a:p>
          <a:p>
            <a:r>
              <a:rPr lang="en-US" altLang="ja-JP" dirty="0"/>
              <a:t>Runnable</a:t>
            </a:r>
            <a:r>
              <a:rPr lang="ja-JP" altLang="en-US" dirty="0"/>
              <a:t>インターフェースの役割を説明していきます。</a:t>
            </a:r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37D7554-D10C-4E29-B8E6-BB7111FA614F}" type="slidenum">
              <a:rPr lang="ja-JP" smtClean="0"/>
              <a:t>1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1952-E6F8-74B7-14C1-E4AF4CED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BC4B99-6EC4-C6F9-C60F-DEE61634B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CCE373-C572-E3E4-B21F-8FDA41875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lvl="0">
              <a:defRPr/>
            </a:pPr>
            <a:r>
              <a:rPr lang="ja-JP" altLang="en-US" dirty="0"/>
              <a:t>結論、</a:t>
            </a:r>
            <a:br>
              <a:rPr lang="en-US" altLang="ja-JP" dirty="0"/>
            </a:br>
            <a:r>
              <a:rPr lang="en-US" altLang="ja-JP" dirty="0"/>
              <a:t>Runnable</a:t>
            </a:r>
            <a:r>
              <a:rPr lang="ja-JP" altLang="en-US" dirty="0"/>
              <a:t>インターフェースの役割は、</a:t>
            </a:r>
            <a:r>
              <a:rPr kumimoji="1" lang="ja-JP" altLang="en-US" sz="1200" kern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スレッドで実行する処理内容を定義すること。もうこれにつきます。</a:t>
            </a:r>
            <a:br>
              <a:rPr kumimoji="1" lang="en-US" altLang="ja-JP" sz="1200" kern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r>
              <a:rPr kumimoji="1" lang="ja-JP" altLang="en-US" sz="1200" kern="12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要はスレッド内部で処理を実行する手順書といった感じです。</a:t>
            </a:r>
            <a:endParaRPr kumimoji="1" lang="ja-JP" altLang="en-US" b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CBA889-9CDE-BC64-BE33-A106ACE73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37D7554-D10C-4E29-B8E6-BB7111FA614F}" type="slidenum">
              <a:rPr lang="en-US" altLang="ja-JP" smtClean="0"/>
              <a:t>2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4118898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8ADD-FDD0-F03B-2275-762EA551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D6009CC-AA86-671F-5D79-F7E86E223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4A021D7-36E1-E911-FBA4-82CFCDF16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では実際のソースコードを見ましょうか。これは公式サイトからダウンロードしたソースコードです。場所は上部の画像です。</a:t>
            </a:r>
            <a:br>
              <a:rPr lang="en-US" altLang="ja-JP" dirty="0"/>
            </a:br>
            <a:r>
              <a:rPr lang="ja-JP" altLang="en-US" dirty="0"/>
              <a:t>見てみると、一番下らへんに、</a:t>
            </a:r>
            <a:r>
              <a:rPr lang="en-US" altLang="ja-JP" dirty="0"/>
              <a:t>public abstract void run()</a:t>
            </a:r>
            <a:r>
              <a:rPr lang="ja-JP" altLang="en-US" dirty="0"/>
              <a:t>とありますよね。中身定義されてないんですよ。そして英文の説明を見ると、</a:t>
            </a:r>
            <a:endParaRPr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（</a:t>
            </a:r>
            <a:r>
              <a:rPr lang="en-US" altLang="ja-JP" dirty="0"/>
              <a:t>Enter</a:t>
            </a:r>
            <a:r>
              <a:rPr lang="ja-JP" altLang="en-US" dirty="0"/>
              <a:t>）</a:t>
            </a:r>
            <a:r>
              <a:rPr lang="en-US" altLang="ja-JP" dirty="0"/>
              <a:t>Runnable</a:t>
            </a:r>
            <a:r>
              <a:rPr lang="ja-JP" altLang="en-US" dirty="0"/>
              <a:t>インターフェースを実装したオブジェクトがスレッドの作成に使用された場合、そのスレッドを開始すると、そのオブジェクトの</a:t>
            </a:r>
            <a:r>
              <a:rPr lang="en-US" altLang="ja-JP" dirty="0"/>
              <a:t>run</a:t>
            </a:r>
            <a:r>
              <a:rPr lang="ja-JP" altLang="en-US" dirty="0"/>
              <a:t>メソッドが別の実行スレッド内で呼び出される。つまり、（</a:t>
            </a:r>
            <a:r>
              <a:rPr lang="en-US" altLang="ja-JP" dirty="0"/>
              <a:t>Enter</a:t>
            </a:r>
            <a:r>
              <a:rPr lang="ja-JP" altLang="en-US" dirty="0"/>
              <a:t>）スレッドを実行した際に、中身を実装した</a:t>
            </a:r>
            <a:r>
              <a:rPr lang="en-US" altLang="ja-JP" dirty="0"/>
              <a:t>Run</a:t>
            </a:r>
            <a:r>
              <a:rPr lang="ja-JP" altLang="en-US" dirty="0"/>
              <a:t>メソッドが呼ばれるということを言ってるんですね。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32A53B-EF82-4C18-71CF-3F5095904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37D7554-D10C-4E29-B8E6-BB7111FA614F}" type="slidenum">
              <a:rPr lang="en-US" altLang="ja-JP" smtClean="0"/>
              <a:t>3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4210443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1952-E6F8-74B7-14C1-E4AF4CED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BC4B99-6EC4-C6F9-C60F-DEE61634B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CCE373-C572-E3E4-B21F-8FDA41875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marL="0" lvl="0" indent="0">
              <a:buFont typeface="Arial" panose="020B0604020202020204" pitchFamily="34" charset="0"/>
              <a:buNone/>
              <a:defRPr/>
            </a:pPr>
            <a:r>
              <a:rPr lang="en-US" altLang="ja-JP" dirty="0"/>
              <a:t>Runnable</a:t>
            </a:r>
            <a:r>
              <a:rPr lang="ja-JP" altLang="en-US" dirty="0"/>
              <a:t>インターフェースを実装する具体的なプログラムの書き方ですね。</a:t>
            </a:r>
            <a:br>
              <a:rPr lang="en-US" altLang="ja-JP" dirty="0"/>
            </a:br>
            <a:r>
              <a:rPr lang="ja-JP" altLang="en-US" dirty="0"/>
              <a:t>スレッドにしたい、つまり同時作業進めたいクラスを、一番上の</a:t>
            </a:r>
            <a:r>
              <a:rPr lang="en-US" altLang="ja-JP" dirty="0" err="1"/>
              <a:t>MyTask</a:t>
            </a:r>
            <a:r>
              <a:rPr lang="ja-JP" altLang="en-US" dirty="0"/>
              <a:t>として定義しましょう。そしてスレッドでの作業内容を書くため、</a:t>
            </a:r>
            <a:br>
              <a:rPr lang="en-US" altLang="ja-JP" dirty="0"/>
            </a:br>
            <a:r>
              <a:rPr lang="en-US" altLang="ja-JP" dirty="0"/>
              <a:t>Runnable</a:t>
            </a:r>
            <a:r>
              <a:rPr lang="ja-JP" altLang="en-US" dirty="0"/>
              <a:t>インターフェースを実装し、</a:t>
            </a:r>
            <a:r>
              <a:rPr lang="en-US" altLang="ja-JP" dirty="0"/>
              <a:t>run</a:t>
            </a:r>
            <a:r>
              <a:rPr lang="ja-JP" altLang="en-US" dirty="0"/>
              <a:t>メソッドをオーバーライドしましょう。</a:t>
            </a:r>
            <a:br>
              <a:rPr lang="en-US" altLang="ja-JP" dirty="0"/>
            </a:br>
            <a:r>
              <a:rPr lang="ja-JP" altLang="en-US" dirty="0"/>
              <a:t>次に、</a:t>
            </a:r>
            <a:r>
              <a:rPr lang="en-US" altLang="ja-JP" dirty="0"/>
              <a:t>Main</a:t>
            </a:r>
            <a:r>
              <a:rPr lang="ja-JP" altLang="en-US" dirty="0"/>
              <a:t>メソッドにて、</a:t>
            </a:r>
            <a:r>
              <a:rPr lang="en-US" altLang="ja-JP" dirty="0" err="1"/>
              <a:t>MyTask</a:t>
            </a:r>
            <a:r>
              <a:rPr lang="ja-JP" altLang="en-US" dirty="0"/>
              <a:t>のインスタンス化を行ます。変数名は小文字</a:t>
            </a:r>
            <a:r>
              <a:rPr lang="en-US" altLang="ja-JP" dirty="0"/>
              <a:t>task</a:t>
            </a:r>
            <a:r>
              <a:rPr lang="ja-JP" altLang="en-US" dirty="0"/>
              <a:t>ですね。</a:t>
            </a:r>
            <a:br>
              <a:rPr lang="en-US" altLang="ja-JP" dirty="0"/>
            </a:br>
            <a:r>
              <a:rPr lang="ja-JP" altLang="en-US" dirty="0"/>
              <a:t>次に</a:t>
            </a:r>
            <a:r>
              <a:rPr lang="en-US" altLang="ja-JP" dirty="0"/>
              <a:t>Thread</a:t>
            </a:r>
            <a:r>
              <a:rPr lang="ja-JP" altLang="en-US" dirty="0"/>
              <a:t>に、引数として</a:t>
            </a:r>
            <a:r>
              <a:rPr lang="en-US" altLang="ja-JP" dirty="0" err="1"/>
              <a:t>MyTask</a:t>
            </a:r>
            <a:r>
              <a:rPr lang="ja-JP" altLang="en-US" dirty="0"/>
              <a:t>のインスタンスを渡しインスタンス化します。</a:t>
            </a:r>
            <a:br>
              <a:rPr lang="en-US" altLang="ja-JP" dirty="0"/>
            </a:br>
            <a:r>
              <a:rPr lang="ja-JP" altLang="en-US" dirty="0"/>
              <a:t>インスタンス化した</a:t>
            </a:r>
            <a:r>
              <a:rPr lang="en-US" altLang="ja-JP" dirty="0"/>
              <a:t>Thread</a:t>
            </a:r>
            <a:r>
              <a:rPr lang="ja-JP" altLang="en-US" dirty="0"/>
              <a:t>クラスにある、</a:t>
            </a:r>
            <a:r>
              <a:rPr lang="en-US" altLang="ja-JP" dirty="0"/>
              <a:t>start</a:t>
            </a:r>
            <a:r>
              <a:rPr lang="ja-JP" altLang="en-US" dirty="0"/>
              <a:t>メソッドを使用して終わりです。</a:t>
            </a:r>
            <a:br>
              <a:rPr lang="en-US" altLang="ja-JP" dirty="0"/>
            </a:br>
            <a:r>
              <a:rPr lang="ja-JP" altLang="en-US" dirty="0"/>
              <a:t>この、インスタンス化、スレッドへ登録、スレッドの起動と３つを通じ実行となるわけですね。</a:t>
            </a:r>
            <a:endParaRPr kumimoji="1" lang="ja-JP" altLang="en-US" b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CBA889-9CDE-BC64-BE33-A106ACE73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37D7554-D10C-4E29-B8E6-BB7111FA614F}" type="slidenum">
              <a:rPr lang="en-US" altLang="ja-JP" smtClean="0"/>
              <a:t>4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4118898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A332-C12F-A826-8ADB-F601CF8F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7D4C9EC-9A29-DB3A-6D69-152B5965F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52EC817-77CC-0624-829B-4AE52FA7F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>
              <a:lnSpc>
                <a:spcPct val="110000"/>
              </a:lnSpc>
            </a:pPr>
            <a:r>
              <a:rPr lang="ja-JP" altLang="en-US" sz="1200" dirty="0"/>
              <a:t>まとめです。</a:t>
            </a:r>
            <a:r>
              <a:rPr lang="en-US" altLang="ja-JP" sz="1200" dirty="0"/>
              <a:t>Runnable</a:t>
            </a:r>
            <a:r>
              <a:rPr lang="ja-JP" altLang="en-US" sz="1200" dirty="0"/>
              <a:t>の役割は、スレッドで実行する「処理内容」を定義すること。</a:t>
            </a:r>
            <a:br>
              <a:rPr lang="en-US" altLang="ja-JP" sz="1200" dirty="0"/>
            </a:br>
            <a:r>
              <a:rPr lang="ja-JP" altLang="en-US" sz="1200" dirty="0"/>
              <a:t>実装のステップは、処理定義し、インスタンス化して</a:t>
            </a:r>
            <a:r>
              <a:rPr lang="en-US" altLang="ja-JP" sz="1200" dirty="0"/>
              <a:t>Tread</a:t>
            </a:r>
            <a:r>
              <a:rPr lang="ja-JP" altLang="en-US" sz="1200" dirty="0"/>
              <a:t>に登録すること。</a:t>
            </a:r>
            <a:br>
              <a:rPr lang="en-US" altLang="ja-JP" sz="1200" dirty="0"/>
            </a:br>
            <a:r>
              <a:rPr lang="ja-JP" altLang="en-US" sz="1200" dirty="0"/>
              <a:t>以上です。ご清聴ありがとうございました</a:t>
            </a:r>
            <a:endParaRPr lang="en-US" altLang="ja-JP" sz="12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381705-F1B8-B6A8-FE0F-02E2F8DFF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37D7554-D10C-4E29-B8E6-BB7111FA614F}" type="slidenum">
              <a:rPr lang="en-US" altLang="ja-JP" smtClean="0"/>
              <a:t>5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15113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長方形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" name="直線​​コネクタ(S)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長方形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ja-JP" sz="6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題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2" name="コンテンツ プレースホルダー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cxnSp>
        <p:nvCxnSpPr>
          <p:cNvPr id="3" name="直線​​コネクタ(S)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長方形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画像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6" name="長方形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長方形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サブタイトル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6" name="長方形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長方形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ja-JP" sz="2000" spc="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pPr lvl="0" rtl="0"/>
            <a:r>
              <a:rPr lang="ja-JP"/>
              <a:t>クリックしてサブタイトルを追加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2" name="コンテンツ プレースホルダー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cxnSp>
        <p:nvCxnSpPr>
          <p:cNvPr id="3" name="直線​​コネクタ(S)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長方形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のタイトル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ja-JP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長方形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長方形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ja-JP" sz="2000" spc="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pPr lvl="0" rtl="0"/>
            <a:r>
              <a:rPr lang="ja-JP"/>
              <a:t>クリックしてサブタイトルを追加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2" name="コンテンツ プレースホルダー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2" name="コンテンツ プレースホルダー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​​コネクタ(S)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4" name="コンテンツ プレースホルダー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2" name="コンテンツ プレースホルダー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​​コネクタ(S)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画像とコンテンツ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12" name="コンテンツ プレースホルダー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​​コネクタ(S)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表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2" name="コンテンツ プレースホルダー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4" name="表プレースホルダー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アイコンをクリックして表を追加</a:t>
            </a:r>
          </a:p>
        </p:txBody>
      </p:sp>
      <p:sp>
        <p:nvSpPr>
          <p:cNvPr id="5" name="長方形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​​コネクタ(S)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長方形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​​コネクタ(S)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Aft>
                <a:spcPts val="1200"/>
              </a:spcAft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1" name="コンテンツ プレースホルダー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57300" indent="-342900"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714500" indent="-342900"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171700" indent="-342900"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表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長方形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6" name="直線​​コネクタ(S)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タイトル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9" name="表プレースホルダー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2" name="スライド番号プレースホルダー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D65601-5AE2-46FC-B138-694DDD2B510D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ありがとうございます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長方形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" name="直線​​コネクタ(S)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長方形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ja-JP" sz="6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1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ja-JP" sz="1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900" b="0" cap="all" spc="150" baseline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900" b="0" cap="all" spc="150" baseline="0">
                <a:solidFill>
                  <a:schemeClr val="bg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 b="1" spc="15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fld id="{18D65601-5AE2-46FC-B138-694DDD2B510D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sz="4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717" y="1179609"/>
            <a:ext cx="10449083" cy="1339702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r>
              <a:rPr lang="en-US" altLang="ja-JP" dirty="0"/>
              <a:t>Runnable</a:t>
            </a:r>
            <a:r>
              <a:rPr lang="ja-JP" altLang="en-US" dirty="0"/>
              <a:t>インターフェースの役割</a:t>
            </a:r>
            <a:endParaRPr lang="ja-JP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6933A07-0890-16F1-638A-FE224068FDC5}"/>
              </a:ext>
            </a:extLst>
          </p:cNvPr>
          <p:cNvSpPr txBox="1">
            <a:spLocks/>
          </p:cNvSpPr>
          <p:nvPr/>
        </p:nvSpPr>
        <p:spPr>
          <a:xfrm>
            <a:off x="1285717" y="4646428"/>
            <a:ext cx="10186813" cy="13397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ja-JP" sz="6000" kern="12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algn="r"/>
            <a:r>
              <a:rPr lang="en-US" altLang="ja-JP" sz="3200" dirty="0"/>
              <a:t>AI</a:t>
            </a:r>
            <a:r>
              <a:rPr lang="ja-JP" altLang="en-US" sz="3200" dirty="0"/>
              <a:t>・システムデザイン研究室</a:t>
            </a:r>
          </a:p>
          <a:p>
            <a:pPr algn="r"/>
            <a:r>
              <a:rPr lang="ja-JP" altLang="en-US" sz="3200" dirty="0"/>
              <a:t>秋山・斎藤ゼミ　大学院</a:t>
            </a:r>
            <a:r>
              <a:rPr lang="en-US" altLang="ja-JP" sz="3200" dirty="0"/>
              <a:t>1</a:t>
            </a:r>
            <a:r>
              <a:rPr lang="ja-JP" altLang="en-US" sz="3200" dirty="0"/>
              <a:t>年 　西村和真</a:t>
            </a:r>
          </a:p>
          <a:p>
            <a:pPr algn="r"/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3473-7A3B-FD72-B3D9-1D898220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4B93643-D887-149C-E846-401055890879}"/>
              </a:ext>
            </a:extLst>
          </p:cNvPr>
          <p:cNvSpPr txBox="1"/>
          <p:nvPr/>
        </p:nvSpPr>
        <p:spPr>
          <a:xfrm>
            <a:off x="1322614" y="321939"/>
            <a:ext cx="6093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5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結論</a:t>
            </a:r>
            <a:endParaRPr kumimoji="1" lang="en-US" altLang="ja-JP" sz="5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7934C2-CB80-4152-A2B5-9E8432B7BFF5}"/>
              </a:ext>
            </a:extLst>
          </p:cNvPr>
          <p:cNvSpPr txBox="1"/>
          <p:nvPr/>
        </p:nvSpPr>
        <p:spPr>
          <a:xfrm>
            <a:off x="1322614" y="1523722"/>
            <a:ext cx="1068215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  <a:defRPr/>
            </a:pPr>
            <a:r>
              <a:rPr kumimoji="1" lang="en-US" altLang="ja-JP" sz="4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Runnable</a:t>
            </a:r>
            <a:r>
              <a:rPr kumimoji="1" lang="ja-JP" altLang="en-US" sz="4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インターフェースの役割</a:t>
            </a:r>
            <a:endParaRPr kumimoji="1" lang="en-US" altLang="ja-JP" sz="4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  <a:p>
            <a:pPr marL="571500" lvl="0" indent="-571500">
              <a:buFont typeface="Arial" panose="020B0604020202020204" pitchFamily="34" charset="0"/>
              <a:buChar char="•"/>
              <a:defRPr/>
            </a:pPr>
            <a:endParaRPr kumimoji="1" lang="en-US" altLang="ja-JP" sz="4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  <a:p>
            <a:pPr lvl="0">
              <a:defRPr/>
            </a:pPr>
            <a:r>
              <a:rPr kumimoji="1" lang="ja-JP" altLang="en-US" sz="4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　</a:t>
            </a:r>
            <a:r>
              <a:rPr kumimoji="1" lang="ja-JP" altLang="en-US" sz="4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→　「スレッドで実行する処理内容を</a:t>
            </a:r>
            <a:endParaRPr kumimoji="1" lang="en-US" altLang="ja-JP" sz="48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  <a:p>
            <a:pPr lvl="0">
              <a:defRPr/>
            </a:pPr>
            <a:r>
              <a:rPr kumimoji="1" lang="ja-JP" altLang="en-US" sz="4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　　　　定義すること」</a:t>
            </a:r>
            <a:br>
              <a:rPr kumimoji="1" lang="en-US" altLang="ja-JP" sz="4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</a:br>
            <a:br>
              <a:rPr kumimoji="1" lang="en-US" altLang="ja-JP" sz="4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</a:br>
            <a:br>
              <a:rPr kumimoji="1" lang="en-US" altLang="ja-JP" sz="48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</a:br>
            <a:r>
              <a:rPr kumimoji="1" lang="ja-JP" altLang="en-US" sz="4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スレッド内部で処理を実行する手順書といった感じ。</a:t>
            </a:r>
            <a:endParaRPr kumimoji="1" lang="en-US" altLang="ja-JP" sz="4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  <a:p>
            <a:pPr marL="571500" lvl="0" indent="-571500">
              <a:buFont typeface="Arial" panose="020B0604020202020204" pitchFamily="34" charset="0"/>
              <a:buChar char="•"/>
              <a:defRPr/>
            </a:pPr>
            <a:endParaRPr kumimoji="1" lang="en-US" altLang="ja-JP" sz="4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72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0BA9A-1A16-AB6E-D5CB-E35D2B2B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DDB206C-8951-D7AC-9A83-6B5BC895B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167" y="133350"/>
            <a:ext cx="12209167" cy="65913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F2171DD-E6E5-AD66-DD36-FD1EE5520D29}"/>
              </a:ext>
            </a:extLst>
          </p:cNvPr>
          <p:cNvSpPr txBox="1"/>
          <p:nvPr/>
        </p:nvSpPr>
        <p:spPr>
          <a:xfrm>
            <a:off x="3111500" y="1651000"/>
            <a:ext cx="8483600" cy="107721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スレッドを実行した際に、中身を実装した</a:t>
            </a:r>
            <a:r>
              <a:rPr lang="en-US" altLang="ja-JP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Run</a:t>
            </a:r>
            <a:r>
              <a:rPr lang="ja-JP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メソッドが呼ばれるということ。</a:t>
            </a:r>
            <a:endParaRPr kumimoji="1" lang="ja-JP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12B6CB2-A7A0-C080-A338-0401D66DD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304" y="133350"/>
            <a:ext cx="8402223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54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63473-7A3B-FD72-B3D9-1D898220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4B93643-D887-149C-E846-401055890879}"/>
              </a:ext>
            </a:extLst>
          </p:cNvPr>
          <p:cNvSpPr txBox="1"/>
          <p:nvPr/>
        </p:nvSpPr>
        <p:spPr>
          <a:xfrm>
            <a:off x="1322614" y="321939"/>
            <a:ext cx="10869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1" lang="ja-JP" altLang="en-US" sz="5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rPr>
              <a:t>実装・書き方</a:t>
            </a:r>
            <a:endParaRPr kumimoji="1" lang="en-US" altLang="ja-JP" sz="5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ADF2BD1-3CC2-7A81-5D52-5D4B53B89C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44"/>
          <a:stretch>
            <a:fillRect/>
          </a:stretch>
        </p:blipFill>
        <p:spPr>
          <a:xfrm>
            <a:off x="2336799" y="1245269"/>
            <a:ext cx="8299061" cy="540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5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6D4A-8586-9022-4F9F-373872CD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0926C5B-9E45-B462-B695-2EACAB04B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200"/>
            <a:ext cx="12212020" cy="6197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511863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Meiryo UI "/>
        <a:ea typeface=""/>
        <a:cs typeface="Meiryo UI "/>
      </a:majorFont>
      <a:minorFont>
        <a:latin typeface="Meiryo UI "/>
        <a:ea typeface=""/>
        <a:cs typeface="Meiryo UI 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60_TF78544816_Win32" id="{029ED66B-9A8D-46F5-948E-0ADEE2C80AFD}" vid="{66DD23D5-FBAC-432E-A532-9880DE2D209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 " panose="020F030202020403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0F050202020403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 " panose="020F030202020403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0F050202020403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www.w3.org/XML/1998/namespace"/>
    <ds:schemaRef ds:uri="http://purl.org/dc/terms/"/>
    <ds:schemaRef ds:uri="http://schemas.microsoft.com/sharepoint/v3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230e9df3-be65-4c73-a93b-d1236ebd677e"/>
    <ds:schemaRef ds:uri="http://schemas.microsoft.com/office/2006/documentManagement/types"/>
    <ds:schemaRef ds:uri="16c05727-aa75-4e4a-9b5f-8a80a1165891"/>
    <ds:schemaRef ds:uri="71af3243-3dd4-4a8d-8c0d-dd76da1f02a5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会議用モダン プレゼンテーション</Template>
  <TotalTime>7889</TotalTime>
  <Words>443</Words>
  <Application>Microsoft Office PowerPoint</Application>
  <PresentationFormat>ワイド画面</PresentationFormat>
  <Paragraphs>22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Meiryo UI</vt:lpstr>
      <vt:lpstr>Arial</vt:lpstr>
      <vt:lpstr>ユーザー設定</vt:lpstr>
      <vt:lpstr>Runnableインターフェースの役割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j22345nk</dc:creator>
  <cp:lastModifiedBy>g26014nk</cp:lastModifiedBy>
  <cp:revision>254</cp:revision>
  <dcterms:created xsi:type="dcterms:W3CDTF">2026-04-22T00:57:43Z</dcterms:created>
  <dcterms:modified xsi:type="dcterms:W3CDTF">2026-06-08T07:43:06Z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