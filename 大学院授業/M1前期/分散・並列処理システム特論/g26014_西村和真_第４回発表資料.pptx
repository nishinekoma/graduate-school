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22" r:id="rId5"/>
    <p:sldId id="329" r:id="rId6"/>
    <p:sldId id="347" r:id="rId7"/>
    <p:sldId id="328" r:id="rId8"/>
    <p:sldId id="348" r:id="rId9"/>
    <p:sldId id="343" r:id="rId10"/>
    <p:sldId id="349" r:id="rId11"/>
    <p:sldId id="331" r:id="rId12"/>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471" autoAdjust="0"/>
  </p:normalViewPr>
  <p:slideViewPr>
    <p:cSldViewPr snapToGrid="0">
      <p:cViewPr varScale="1">
        <p:scale>
          <a:sx n="49" d="100"/>
          <a:sy n="49" d="100"/>
        </p:scale>
        <p:origin x="1336" y="44"/>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2026/5/18</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5/18/2026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r>
              <a:rPr lang="ja-JP" altLang="en-US" dirty="0"/>
              <a:t>秋山・斎藤ゼミ 西村です。</a:t>
            </a:r>
            <a:endParaRPr lang="en-US" altLang="ja-JP" dirty="0"/>
          </a:p>
          <a:p>
            <a:r>
              <a:rPr lang="ja-JP" altLang="en-US" dirty="0"/>
              <a:t>エ</a:t>
            </a:r>
            <a:r>
              <a:rPr lang="en-US" altLang="ja-JP" dirty="0"/>
              <a:t>―</a:t>
            </a:r>
            <a:r>
              <a:rPr lang="ja-JP" altLang="en-US" dirty="0"/>
              <a:t>今回はですね、メモリもプログラムごとにＯＳに割り当てられる。これってどういう仕組みなのか？ということを簡単に説明していきます。</a:t>
            </a:r>
            <a:endParaRPr lang="en-US" altLang="ja-JP" dirty="0"/>
          </a:p>
          <a:p>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まぁいつも通り結論から。</a:t>
            </a:r>
            <a:br>
              <a:rPr lang="en-US" altLang="ja-JP" dirty="0"/>
            </a:br>
            <a:r>
              <a:rPr lang="ja-JP" altLang="en-US" dirty="0"/>
              <a:t>どうやって</a:t>
            </a:r>
            <a:r>
              <a:rPr lang="en-US" altLang="ja-JP" dirty="0"/>
              <a:t>OS</a:t>
            </a:r>
            <a:r>
              <a:rPr lang="ja-JP" altLang="en-US" dirty="0"/>
              <a:t>はプログラムごとにメモリを割り当てているかというと、</a:t>
            </a:r>
            <a:r>
              <a:rPr lang="en-US" altLang="ja-JP" sz="1200" b="1" dirty="0">
                <a:solidFill>
                  <a:schemeClr val="bg1"/>
                </a:solidFill>
              </a:rPr>
              <a:t>OS</a:t>
            </a:r>
            <a:r>
              <a:rPr lang="ja-JP" altLang="en-US" sz="1200" b="1" dirty="0">
                <a:solidFill>
                  <a:schemeClr val="bg1"/>
                </a:solidFill>
              </a:rPr>
              <a:t>が仮想メモリという抽象化された空間を作り出して、それを各プログラムに割り当てている。</a:t>
            </a:r>
            <a:endParaRPr lang="en-US" altLang="ja-JP" sz="1200" b="1" dirty="0">
              <a:solidFill>
                <a:schemeClr val="bg1"/>
              </a:solidFill>
            </a:endParaRPr>
          </a:p>
          <a:p>
            <a:pPr algn="l"/>
            <a:r>
              <a:rPr lang="ja-JP" altLang="en-US" dirty="0"/>
              <a:t>というのが結論です。（</a:t>
            </a:r>
            <a:r>
              <a:rPr lang="en-US" altLang="ja-JP" dirty="0"/>
              <a:t>Enter)</a:t>
            </a:r>
            <a:r>
              <a:rPr lang="ja-JP" altLang="en-US" dirty="0"/>
              <a:t>ということはつまり、</a:t>
            </a:r>
            <a:r>
              <a:rPr lang="en-US" altLang="ja-JP" b="1" dirty="0"/>
              <a:t>OS</a:t>
            </a:r>
            <a:r>
              <a:rPr lang="ja-JP" altLang="en-US" b="1" dirty="0"/>
              <a:t>は各プログラムを直接物理メモリには触らせない</a:t>
            </a:r>
            <a:r>
              <a:rPr lang="ja-JP" altLang="en-US" dirty="0"/>
              <a:t>ということです。</a:t>
            </a:r>
            <a:endParaRPr kumimoji="1" lang="ja-JP" altLang="en-US" b="0" dirty="0"/>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C8ADD-FDD0-F03B-2275-762EA551EE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6009CC-AA86-671F-5D79-F7E86E2236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A021D7-36E1-E911-FBA4-82CFCDF16A9F}"/>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具体的にいうと、この上の図プロセス</a:t>
            </a:r>
            <a:r>
              <a:rPr lang="en-US" altLang="ja-JP" dirty="0"/>
              <a:t>A,</a:t>
            </a:r>
            <a:r>
              <a:rPr lang="ja-JP" altLang="en-US" dirty="0"/>
              <a:t>プロセス</a:t>
            </a:r>
            <a:r>
              <a:rPr lang="en-US" altLang="ja-JP" dirty="0"/>
              <a:t>B</a:t>
            </a:r>
            <a:r>
              <a:rPr lang="ja-JP" altLang="en-US" dirty="0"/>
              <a:t>が</a:t>
            </a:r>
            <a:r>
              <a:rPr lang="en-US" altLang="ja-JP" dirty="0"/>
              <a:t>OS</a:t>
            </a:r>
            <a:r>
              <a:rPr lang="ja-JP" altLang="en-US" dirty="0"/>
              <a:t>が作り出したした自身専用の仮想空間メモリが割り当てられています。その一部を物理のハードウェアにうまいこと変更して、物理メモリに割り当てられてるって感じですね。そのため下の図を見るとメモリ上にバラバラに割り当てられていますよね。そして真ん中を見ると、青色・緑色がきれいにまとまっているのが分かると思ます。こんな感じで、（</a:t>
            </a:r>
            <a:r>
              <a:rPr lang="en-US" altLang="ja-JP" dirty="0"/>
              <a:t>Enter</a:t>
            </a:r>
            <a:r>
              <a:rPr lang="ja-JP" altLang="en-US" dirty="0"/>
              <a:t>）</a:t>
            </a:r>
            <a:r>
              <a:rPr lang="en-US" altLang="ja-JP" dirty="0"/>
              <a:t>OS</a:t>
            </a:r>
            <a:r>
              <a:rPr lang="ja-JP" altLang="en-US" dirty="0"/>
              <a:t>は、この</a:t>
            </a:r>
            <a:r>
              <a:rPr lang="en-US" altLang="ja-JP" dirty="0"/>
              <a:t>『</a:t>
            </a:r>
            <a:r>
              <a:rPr lang="ja-JP" altLang="en-US" dirty="0"/>
              <a:t>綺麗に並んだ仮想の世界</a:t>
            </a:r>
            <a:r>
              <a:rPr lang="en-US" altLang="ja-JP" dirty="0"/>
              <a:t>』</a:t>
            </a:r>
            <a:r>
              <a:rPr lang="ja-JP" altLang="en-US" dirty="0"/>
              <a:t>と</a:t>
            </a:r>
            <a:r>
              <a:rPr lang="en-US" altLang="ja-JP" dirty="0"/>
              <a:t>『</a:t>
            </a:r>
            <a:r>
              <a:rPr lang="ja-JP" altLang="en-US" dirty="0"/>
              <a:t>バラバラな物理の現実</a:t>
            </a:r>
            <a:r>
              <a:rPr lang="en-US" altLang="ja-JP" dirty="0"/>
              <a:t>』</a:t>
            </a:r>
            <a:r>
              <a:rPr lang="ja-JP" altLang="en-US" dirty="0"/>
              <a:t>を裏側で変換し、紐づける役割も担っています。</a:t>
            </a:r>
            <a:endParaRPr lang="en-US" altLang="ja-JP" dirty="0"/>
          </a:p>
        </p:txBody>
      </p:sp>
      <p:sp>
        <p:nvSpPr>
          <p:cNvPr id="4" name="スライド番号プレースホルダー 3">
            <a:extLst>
              <a:ext uri="{FF2B5EF4-FFF2-40B4-BE49-F238E27FC236}">
                <a16:creationId xmlns:a16="http://schemas.microsoft.com/office/drawing/2014/main" id="{CB32A53B-EF82-4C18-71CF-3F509590410B}"/>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10443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C6D7-4DBB-2419-6C76-C89414E548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ED28E4-0A0D-D7D7-439B-6DE4528A8B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607476-F505-5130-CECD-D39AAB0687B0}"/>
              </a:ext>
            </a:extLst>
          </p:cNvPr>
          <p:cNvSpPr>
            <a:spLocks noGrp="1"/>
          </p:cNvSpPr>
          <p:nvPr>
            <p:ph type="body" idx="1"/>
          </p:nvPr>
        </p:nvSpPr>
        <p:spPr/>
        <p:txBody>
          <a:bodyPr rtlCol="0"/>
          <a:lstStyle>
            <a:defPPr>
              <a:defRPr lang="ja-JP"/>
            </a:defPPr>
          </a:lstStyle>
          <a:p>
            <a:pPr>
              <a:lnSpc>
                <a:spcPct val="110000"/>
              </a:lnSpc>
            </a:pPr>
            <a:r>
              <a:rPr lang="ja-JP" altLang="en-US" sz="1200" dirty="0"/>
              <a:t>ではなぜ、</a:t>
            </a:r>
            <a:r>
              <a:rPr lang="en-US" altLang="ja-JP" sz="1200" dirty="0"/>
              <a:t>OS</a:t>
            </a:r>
            <a:r>
              <a:rPr lang="ja-JP" altLang="en-US" sz="1200" dirty="0"/>
              <a:t>が管理する必要があるのでしょうか。別にプログラムが直接メモリ指定してもなんも問題なさそうですよね。</a:t>
            </a:r>
            <a:r>
              <a:rPr lang="ja-JP" altLang="en-US" dirty="0"/>
              <a:t>結論から言うと、直接アクセスを許すと、現代のコンピュータを支える</a:t>
            </a:r>
            <a:r>
              <a:rPr lang="en-US" altLang="ja-JP" dirty="0"/>
              <a:t>『</a:t>
            </a:r>
            <a:r>
              <a:rPr lang="ja-JP" altLang="en-US" dirty="0"/>
              <a:t>安全・効率・並列</a:t>
            </a:r>
            <a:r>
              <a:rPr lang="en-US" altLang="ja-JP" dirty="0"/>
              <a:t>』</a:t>
            </a:r>
            <a:r>
              <a:rPr lang="ja-JP" altLang="en-US" dirty="0"/>
              <a:t>という</a:t>
            </a:r>
            <a:r>
              <a:rPr lang="en-US" altLang="ja-JP" dirty="0"/>
              <a:t>3</a:t>
            </a:r>
            <a:r>
              <a:rPr lang="ja-JP" altLang="en-US" dirty="0"/>
              <a:t>つの大前提が根底から崩壊してしまうからです。</a:t>
            </a:r>
            <a:r>
              <a:rPr lang="ja-JP" altLang="en-US" sz="1200" dirty="0"/>
              <a:t>課題として</a:t>
            </a:r>
            <a:r>
              <a:rPr lang="en-US" altLang="ja-JP" sz="1200" dirty="0"/>
              <a:t>3</a:t>
            </a:r>
            <a:r>
              <a:rPr lang="ja-JP" altLang="en-US" sz="1200" dirty="0"/>
              <a:t>つあります。競合の発生、つまりプログラム</a:t>
            </a:r>
            <a:r>
              <a:rPr lang="en-US" altLang="ja-JP" sz="1200" dirty="0"/>
              <a:t>A,B</a:t>
            </a:r>
            <a:r>
              <a:rPr lang="ja-JP" altLang="en-US" sz="1200" dirty="0"/>
              <a:t>が同じ物理アドレスを使用するとクラッシュすること。次に断片化、メモリを直接指定してしまうと、メモリがバラバラに食われた虫食い状態になってしまいます。</a:t>
            </a:r>
            <a:r>
              <a:rPr lang="ja-JP" altLang="en-US" dirty="0"/>
              <a:t>「合計すれば空き容量はあるのに、きれいにまとまった広い土地がないから起動できない」という現象が起きます。最後にセキュリティの欠如、つまりバグのあるプログラムが暴走したとき、他のプログラムのデータを勝手に読み書きできてしまいＯＳクラッシュします。この、</a:t>
            </a:r>
            <a:r>
              <a:rPr lang="en-US" altLang="ja-JP" dirty="0"/>
              <a:t>(Enter)</a:t>
            </a:r>
            <a:r>
              <a:rPr lang="ja-JP" altLang="en-US" dirty="0"/>
              <a:t>マルチタスクの崩壊、</a:t>
            </a:r>
            <a:r>
              <a:rPr lang="en-US" altLang="ja-JP" dirty="0"/>
              <a:t>(Enter)</a:t>
            </a:r>
            <a:r>
              <a:rPr lang="ja-JP" altLang="en-US" dirty="0"/>
              <a:t>効率の崩壊、</a:t>
            </a:r>
            <a:r>
              <a:rPr lang="en-US" altLang="ja-JP" dirty="0"/>
              <a:t>(Enter)</a:t>
            </a:r>
            <a:r>
              <a:rPr lang="ja-JP" altLang="en-US" dirty="0"/>
              <a:t>安全の崩壊の</a:t>
            </a:r>
            <a:r>
              <a:rPr lang="en-US" altLang="ja-JP" dirty="0"/>
              <a:t>3</a:t>
            </a:r>
            <a:r>
              <a:rPr lang="ja-JP" altLang="en-US" dirty="0"/>
              <a:t>つを防ぐために、</a:t>
            </a:r>
            <a:r>
              <a:rPr lang="en-US" altLang="ja-JP" dirty="0"/>
              <a:t>OS</a:t>
            </a:r>
            <a:r>
              <a:rPr lang="ja-JP" altLang="en-US" dirty="0"/>
              <a:t>が管理する必要があるのです。</a:t>
            </a:r>
            <a:endParaRPr lang="en-US" altLang="ja-JP" sz="1200" dirty="0"/>
          </a:p>
        </p:txBody>
      </p:sp>
      <p:sp>
        <p:nvSpPr>
          <p:cNvPr id="4" name="スライド番号プレースホルダー 3">
            <a:extLst>
              <a:ext uri="{FF2B5EF4-FFF2-40B4-BE49-F238E27FC236}">
                <a16:creationId xmlns:a16="http://schemas.microsoft.com/office/drawing/2014/main" id="{01621335-EA61-D835-9274-593302084DB6}"/>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1538521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756A-4E3F-91A9-DA08-B808FB2F3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3FFA0A-677D-4C83-E6A9-CC11C9C190E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6C1BE49-C68A-8C33-B521-A6E5BED9C9BA}"/>
              </a:ext>
            </a:extLst>
          </p:cNvPr>
          <p:cNvSpPr>
            <a:spLocks noGrp="1"/>
          </p:cNvSpPr>
          <p:nvPr>
            <p:ph type="body" idx="1"/>
          </p:nvPr>
        </p:nvSpPr>
        <p:spPr/>
        <p:txBody>
          <a:bodyPr rtlCol="0"/>
          <a:lstStyle>
            <a:defPPr>
              <a:defRPr lang="ja-JP"/>
            </a:defPPr>
          </a:lstStyle>
          <a:p>
            <a:r>
              <a:rPr lang="ja-JP" altLang="en-US" dirty="0"/>
              <a:t>では実際に</a:t>
            </a:r>
            <a:r>
              <a:rPr lang="en-US" altLang="ja-JP" dirty="0"/>
              <a:t>OS</a:t>
            </a:r>
            <a:r>
              <a:rPr lang="ja-JP" altLang="en-US" dirty="0"/>
              <a:t>はどう防ぎ管理しているのかを説明します。最初はマルチタスクの崩壊対策、つまり同じメモリ番地を指してクラッシュする競合化の対策から。これはアドレス変換という</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各プログラムに</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自分専用のアドレス空間）</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を渡し、</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たとえ全員が「</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0</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番地」を指していても、</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OS</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が裏で物理的な居場所をズラして配置するということをしています。画像見てください。二つのプロセスはどちらとも</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0</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を渡されています。しかし</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OS</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が仮想メモリから物理アドレスへと変換しています。こうすることでプログラムは毎度メモリ番地を気にすることなく、「コードを記述」「実行」することができ、</a:t>
            </a:r>
            <a:r>
              <a:rPr lang="en-US" altLang="ja-JP" sz="1200" b="1" i="0" kern="1200" dirty="0">
                <a:solidFill>
                  <a:schemeClr val="tx1"/>
                </a:solidFill>
                <a:effectLst/>
                <a:latin typeface="Meiryo UI" panose="020B0604030504040204" pitchFamily="50" charset="-128"/>
                <a:ea typeface="Meiryo UI" panose="020B0604030504040204" pitchFamily="50" charset="-128"/>
                <a:cs typeface="+mn-cs"/>
              </a:rPr>
              <a:t>OS</a:t>
            </a:r>
            <a:r>
              <a:rPr lang="ja-JP" altLang="en-US" sz="1200" b="1" i="0" kern="1200" dirty="0">
                <a:solidFill>
                  <a:schemeClr val="tx1"/>
                </a:solidFill>
                <a:effectLst/>
                <a:latin typeface="Meiryo UI" panose="020B0604030504040204" pitchFamily="50" charset="-128"/>
                <a:ea typeface="Meiryo UI" panose="020B0604030504040204" pitchFamily="50" charset="-128"/>
                <a:cs typeface="+mn-cs"/>
              </a:rPr>
              <a:t>が実際の場所をうまく配置してくれているってわけですね。</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B230D3F-7088-A87C-E3B6-DE634AD90CC6}"/>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833929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01AB3-8C90-EA84-35A3-0932EF948F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90A12C-0FFD-FCDD-DAF3-27A987BEFF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BD5FA3-3828-05E5-41EB-B47E0EA9BC3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次に、断片化、つまりメモリ効率の崩壊対策を説明します。</a:t>
            </a:r>
            <a:br>
              <a:rPr lang="en-US" altLang="ja-JP" dirty="0"/>
            </a:br>
            <a:r>
              <a:rPr lang="ja-JP" altLang="en-US" dirty="0"/>
              <a:t>ページングという、固定サイズに切り刻み管理することで、</a:t>
            </a:r>
            <a:r>
              <a:rPr lang="en-US" altLang="ja-JP" dirty="0"/>
              <a:t>OS</a:t>
            </a:r>
            <a:r>
              <a:rPr lang="ja-JP" altLang="en-US" dirty="0"/>
              <a:t>が虫食い状態（断片化）を物理的に不可能にする手法をとっています。</a:t>
            </a:r>
            <a:br>
              <a:rPr lang="en-US" altLang="ja-JP" dirty="0"/>
            </a:br>
            <a:r>
              <a:rPr lang="ja-JP" altLang="en-US" dirty="0"/>
              <a:t>下の図を見ると、左はところどころサイズが違う空白がありますが、右は隙間なくピースがあり、無駄がありません。このようにして隙間なくメモリを効率的に使用することで、断片化を防いでいます。</a:t>
            </a:r>
            <a:endParaRPr lang="en-US" altLang="ja-JP" dirty="0"/>
          </a:p>
        </p:txBody>
      </p:sp>
      <p:sp>
        <p:nvSpPr>
          <p:cNvPr id="4" name="スライド番号プレースホルダー 3">
            <a:extLst>
              <a:ext uri="{FF2B5EF4-FFF2-40B4-BE49-F238E27FC236}">
                <a16:creationId xmlns:a16="http://schemas.microsoft.com/office/drawing/2014/main" id="{299A3F41-BAAA-DCE4-AC1B-3EB78AB5276B}"/>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4102268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BACBD-FC80-3930-551F-3E5AE38062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F1111E-887B-0873-9F37-4CA7C06BA69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E34497F-78E8-5111-0040-8689D39F2F95}"/>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最後に、メモリ安全の崩壊、つまり他のプロセスを上書きできてしまうといったセキュリティの欠如対策を説明します。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これはページテーブルという、プロセスごとに</a:t>
            </a:r>
            <a:r>
              <a:rPr lang="en-US" altLang="ja-JP" dirty="0"/>
              <a:t>『</a:t>
            </a:r>
            <a:r>
              <a:rPr lang="ja-JP" altLang="en-US" dirty="0"/>
              <a:t>住所録</a:t>
            </a:r>
            <a:r>
              <a:rPr lang="en-US" altLang="ja-JP" dirty="0"/>
              <a:t>』</a:t>
            </a:r>
            <a:r>
              <a:rPr lang="ja-JP" altLang="en-US" dirty="0"/>
              <a:t>を独立させ、他のプロセスの領域を物理的に視界から消し去ることで対策されています。</a:t>
            </a:r>
            <a:br>
              <a:rPr lang="en-US" altLang="ja-JP" dirty="0"/>
            </a:br>
            <a:r>
              <a:rPr lang="ja-JP" altLang="en-US" dirty="0"/>
              <a:t>画像のようにプロセスごとに独立したメモリ番地が格納されており、プロセス</a:t>
            </a:r>
            <a:r>
              <a:rPr lang="en-US" altLang="ja-JP" dirty="0"/>
              <a:t>A</a:t>
            </a:r>
            <a:r>
              <a:rPr lang="ja-JP" altLang="en-US" dirty="0"/>
              <a:t>はプロセス</a:t>
            </a:r>
            <a:r>
              <a:rPr lang="en-US" altLang="ja-JP" dirty="0"/>
              <a:t>B</a:t>
            </a:r>
            <a:r>
              <a:rPr lang="ja-JP" altLang="en-US" dirty="0"/>
              <a:t>の番地を見ることは不可能です。</a:t>
            </a:r>
            <a:br>
              <a:rPr lang="en-US" altLang="ja-JP" dirty="0"/>
            </a:br>
            <a:r>
              <a:rPr lang="ja-JP" altLang="en-US" dirty="0"/>
              <a:t>結果、他のプロセスから自身のプロセスへの干渉が防げるというわけです。</a:t>
            </a:r>
            <a:endParaRPr lang="en-US" altLang="ja-JP" dirty="0"/>
          </a:p>
        </p:txBody>
      </p:sp>
      <p:sp>
        <p:nvSpPr>
          <p:cNvPr id="4" name="スライド番号プレースホルダー 3">
            <a:extLst>
              <a:ext uri="{FF2B5EF4-FFF2-40B4-BE49-F238E27FC236}">
                <a16:creationId xmlns:a16="http://schemas.microsoft.com/office/drawing/2014/main" id="{916A8138-831F-9244-2D00-A1341FDF6404}"/>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7</a:t>
            </a:fld>
            <a:endParaRPr lang="ja-JP" dirty="0"/>
          </a:p>
        </p:txBody>
      </p:sp>
    </p:spTree>
    <p:extLst>
      <p:ext uri="{BB962C8B-B14F-4D97-AF65-F5344CB8AC3E}">
        <p14:creationId xmlns:p14="http://schemas.microsoft.com/office/powerpoint/2010/main" val="3475455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C98E-E0F8-CDDE-D314-B6B6954D00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A82E99-0BBD-6D2D-07C8-F22B743CCB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A7309A-486B-7606-E188-3C6034D68591}"/>
              </a:ext>
            </a:extLst>
          </p:cNvPr>
          <p:cNvSpPr>
            <a:spLocks noGrp="1"/>
          </p:cNvSpPr>
          <p:nvPr>
            <p:ph type="body" idx="1"/>
          </p:nvPr>
        </p:nvSpPr>
        <p:spPr/>
        <p:txBody>
          <a:bodyPr rtlCol="0"/>
          <a:lstStyle>
            <a:defPPr>
              <a:defRPr lang="ja-JP"/>
            </a:defPPr>
          </a:lstStyle>
          <a:p>
            <a:r>
              <a:rPr lang="ja-JP" altLang="en-US" sz="3600" dirty="0"/>
              <a:t>最後にまとめです。 </a:t>
            </a:r>
            <a:r>
              <a:rPr lang="en-US" altLang="ja-JP" sz="3600" dirty="0"/>
              <a:t>OS</a:t>
            </a:r>
            <a:r>
              <a:rPr lang="ja-JP" altLang="en-US" sz="3600" dirty="0"/>
              <a:t>がなぜ、わざわざ間に立ってメモリを管理しているのか。それは、今日説明した**</a:t>
            </a:r>
            <a:r>
              <a:rPr lang="en-US" altLang="ja-JP" sz="3600" dirty="0"/>
              <a:t>『3</a:t>
            </a:r>
            <a:r>
              <a:rPr lang="ja-JP" altLang="en-US" sz="3600" dirty="0"/>
              <a:t>つの崩壊</a:t>
            </a:r>
            <a:r>
              <a:rPr lang="en-US" altLang="ja-JP" sz="3600" dirty="0"/>
              <a:t>』</a:t>
            </a:r>
            <a:r>
              <a:rPr lang="ja-JP" altLang="en-US" sz="3600" dirty="0"/>
              <a:t>からシステムを守り抜くため**です。 </a:t>
            </a:r>
          </a:p>
          <a:p>
            <a:r>
              <a:rPr lang="en-US" altLang="ja-JP" sz="3600" dirty="0"/>
              <a:t>1</a:t>
            </a:r>
            <a:r>
              <a:rPr lang="ja-JP" altLang="en-US" sz="3600" dirty="0"/>
              <a:t>つ目の</a:t>
            </a:r>
            <a:r>
              <a:rPr lang="en-US" altLang="ja-JP" sz="3600" dirty="0"/>
              <a:t>『</a:t>
            </a:r>
            <a:r>
              <a:rPr lang="ja-JP" altLang="en-US" sz="3600" dirty="0"/>
              <a:t>マルチタスクの崩壊</a:t>
            </a:r>
            <a:r>
              <a:rPr lang="en-US" altLang="ja-JP" sz="3600" dirty="0"/>
              <a:t>』</a:t>
            </a:r>
            <a:r>
              <a:rPr lang="ja-JP" altLang="en-US" sz="3600" dirty="0"/>
              <a:t>に対しては、</a:t>
            </a:r>
            <a:r>
              <a:rPr lang="ja-JP" altLang="en-US" sz="3600" b="1" dirty="0"/>
              <a:t>アドレス変換</a:t>
            </a:r>
            <a:r>
              <a:rPr lang="ja-JP" altLang="en-US" sz="3600" dirty="0"/>
              <a:t>によって各プログラムに自分専用の仮想メモリを与え、物理アドレスに変換することで競合を防ぎます。 </a:t>
            </a:r>
          </a:p>
          <a:p>
            <a:r>
              <a:rPr lang="en-US" altLang="ja-JP" sz="3600" dirty="0"/>
              <a:t>2</a:t>
            </a:r>
            <a:r>
              <a:rPr lang="ja-JP" altLang="en-US" sz="3600" dirty="0"/>
              <a:t>つ目の</a:t>
            </a:r>
            <a:r>
              <a:rPr lang="en-US" altLang="ja-JP" sz="3600" dirty="0"/>
              <a:t>『</a:t>
            </a:r>
            <a:r>
              <a:rPr lang="ja-JP" altLang="en-US" sz="3600" dirty="0"/>
              <a:t>効率の崩壊</a:t>
            </a:r>
            <a:r>
              <a:rPr lang="en-US" altLang="ja-JP" sz="3600" dirty="0"/>
              <a:t>』</a:t>
            </a:r>
            <a:r>
              <a:rPr lang="ja-JP" altLang="en-US" sz="3600" dirty="0"/>
              <a:t>に対しては、メモリを固定サイズに切り刻む</a:t>
            </a:r>
            <a:r>
              <a:rPr lang="ja-JP" altLang="en-US" sz="3600" b="1" dirty="0"/>
              <a:t>ページング</a:t>
            </a:r>
            <a:r>
              <a:rPr lang="ja-JP" altLang="en-US" sz="3600" dirty="0"/>
              <a:t>によって、無駄な虫食い、断片化をなくし、隙間なく使い切ります。 </a:t>
            </a:r>
          </a:p>
          <a:p>
            <a:r>
              <a:rPr lang="ja-JP" altLang="en-US" sz="3600" dirty="0"/>
              <a:t>そして</a:t>
            </a:r>
            <a:r>
              <a:rPr lang="en-US" altLang="ja-JP" sz="3600" dirty="0"/>
              <a:t>3</a:t>
            </a:r>
            <a:r>
              <a:rPr lang="ja-JP" altLang="en-US" sz="3600" dirty="0"/>
              <a:t>つ目の</a:t>
            </a:r>
            <a:r>
              <a:rPr lang="en-US" altLang="ja-JP" sz="3600" dirty="0"/>
              <a:t>『</a:t>
            </a:r>
            <a:r>
              <a:rPr lang="ja-JP" altLang="en-US" sz="3600" dirty="0"/>
              <a:t>安全の崩壊</a:t>
            </a:r>
            <a:r>
              <a:rPr lang="en-US" altLang="ja-JP" sz="3600" dirty="0"/>
              <a:t>』</a:t>
            </a:r>
            <a:r>
              <a:rPr lang="ja-JP" altLang="en-US" sz="3600" dirty="0"/>
              <a:t>に対しては、他のプロセスを**</a:t>
            </a:r>
            <a:r>
              <a:rPr lang="en-US" altLang="ja-JP" sz="3600" dirty="0"/>
              <a:t>『</a:t>
            </a:r>
            <a:r>
              <a:rPr lang="ja-JP" altLang="en-US" sz="3600" dirty="0"/>
              <a:t>視界から完全に消し去る</a:t>
            </a:r>
            <a:r>
              <a:rPr lang="en-US" altLang="ja-JP" sz="3600" dirty="0"/>
              <a:t>』**</a:t>
            </a:r>
            <a:r>
              <a:rPr lang="ja-JP" altLang="en-US" sz="3600" dirty="0"/>
              <a:t>ことで、プロセス間の干渉を物理的に防いでいます。</a:t>
            </a:r>
            <a:br>
              <a:rPr lang="en-US" altLang="ja-JP" sz="3600" dirty="0"/>
            </a:br>
            <a:r>
              <a:rPr lang="ja-JP" altLang="en-US" sz="3600" dirty="0"/>
              <a:t>以上になりますご清聴ありがとうございました。</a:t>
            </a:r>
          </a:p>
          <a:p>
            <a:endParaRPr kumimoji="1" lang="ja-JP" altLang="en-US" sz="3600" kern="1200" dirty="0">
              <a:solidFill>
                <a:schemeClr val="bg1"/>
              </a:solidFill>
              <a:latin typeface="Meiryo UI" panose="020B0604030504040204" pitchFamily="50" charset="-128"/>
              <a:ea typeface="Meiryo UI" panose="020B0604030504040204" pitchFamily="50" charset="-128"/>
              <a:cs typeface="+mj-cs"/>
            </a:endParaRPr>
          </a:p>
        </p:txBody>
      </p:sp>
      <p:sp>
        <p:nvSpPr>
          <p:cNvPr id="4" name="スライド番号プレースホルダー 3">
            <a:extLst>
              <a:ext uri="{FF2B5EF4-FFF2-40B4-BE49-F238E27FC236}">
                <a16:creationId xmlns:a16="http://schemas.microsoft.com/office/drawing/2014/main" id="{837668BF-12CF-C0F9-8365-92884FF81492}"/>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8</a:t>
            </a:fld>
            <a:endParaRPr lang="ja-JP" dirty="0"/>
          </a:p>
        </p:txBody>
      </p:sp>
    </p:spTree>
    <p:extLst>
      <p:ext uri="{BB962C8B-B14F-4D97-AF65-F5344CB8AC3E}">
        <p14:creationId xmlns:p14="http://schemas.microsoft.com/office/powerpoint/2010/main" val="3587623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8"/>
            <a:ext cx="10186813" cy="2249391"/>
          </a:xfrm>
        </p:spPr>
        <p:txBody>
          <a:bodyPr rtlCol="0">
            <a:normAutofit fontScale="90000"/>
          </a:bodyPr>
          <a:lstStyle>
            <a:defPPr>
              <a:defRPr lang="ja-JP"/>
            </a:defPPr>
          </a:lstStyle>
          <a:p>
            <a:r>
              <a:rPr lang="ja-JP" altLang="en-US" dirty="0"/>
              <a:t>メモリもプログラムごとにＯＳに割り当てられる。</a:t>
            </a:r>
            <a:br>
              <a:rPr lang="en-US" altLang="ja-JP" dirty="0"/>
            </a:br>
            <a:r>
              <a:rPr lang="ja-JP" altLang="en-US" dirty="0"/>
              <a:t>～これはどういう仕組みなのか？～</a:t>
            </a:r>
            <a:endParaRPr lang="ja-JP"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en-US" altLang="ja-JP" sz="3200" dirty="0"/>
              <a:t>AI</a:t>
            </a:r>
            <a:r>
              <a:rPr lang="ja-JP" altLang="en-US" sz="3200" dirty="0"/>
              <a:t>・システムデザイン研究室</a:t>
            </a:r>
          </a:p>
          <a:p>
            <a:pPr algn="r"/>
            <a:r>
              <a:rPr lang="ja-JP" altLang="en-US" sz="3200" dirty="0"/>
              <a:t>秋山・斎藤ゼミ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322614" y="321939"/>
            <a:ext cx="609382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5400" dirty="0">
                <a:solidFill>
                  <a:schemeClr val="bg1"/>
                </a:solidFill>
                <a:latin typeface="Meiryo UI" panose="020B0604030504040204" pitchFamily="50" charset="-128"/>
                <a:ea typeface="Meiryo UI" panose="020B0604030504040204" pitchFamily="50" charset="-128"/>
                <a:cs typeface="+mj-cs"/>
              </a:rPr>
              <a:t>結論</a:t>
            </a:r>
            <a:endParaRPr kumimoji="1" lang="en-US" altLang="ja-JP" sz="5400" dirty="0">
              <a:solidFill>
                <a:schemeClr val="bg1"/>
              </a:solidFill>
              <a:latin typeface="Meiryo UI" panose="020B0604030504040204" pitchFamily="50" charset="-128"/>
              <a:ea typeface="Meiryo UI" panose="020B0604030504040204" pitchFamily="50" charset="-128"/>
              <a:cs typeface="+mj-cs"/>
            </a:endParaRPr>
          </a:p>
        </p:txBody>
      </p:sp>
      <p:sp>
        <p:nvSpPr>
          <p:cNvPr id="16" name="テキスト ボックス 15">
            <a:extLst>
              <a:ext uri="{FF2B5EF4-FFF2-40B4-BE49-F238E27FC236}">
                <a16:creationId xmlns:a16="http://schemas.microsoft.com/office/drawing/2014/main" id="{207934C2-CB80-4152-A2B5-9E8432B7BFF5}"/>
              </a:ext>
            </a:extLst>
          </p:cNvPr>
          <p:cNvSpPr txBox="1"/>
          <p:nvPr/>
        </p:nvSpPr>
        <p:spPr>
          <a:xfrm>
            <a:off x="1322614" y="1523722"/>
            <a:ext cx="10682152" cy="3785652"/>
          </a:xfrm>
          <a:prstGeom prst="rect">
            <a:avLst/>
          </a:prstGeom>
          <a:noFill/>
        </p:spPr>
        <p:txBody>
          <a:bodyPr wrap="square">
            <a:spAutoFit/>
          </a:bodyPr>
          <a:lstStyle/>
          <a:p>
            <a:pPr lvl="0" algn="ctr">
              <a:lnSpc>
                <a:spcPct val="150000"/>
              </a:lnSpc>
              <a:defRPr/>
            </a:pPr>
            <a:r>
              <a:rPr kumimoji="1" lang="en-US" altLang="ja-JP" sz="4000" dirty="0">
                <a:solidFill>
                  <a:schemeClr val="bg1"/>
                </a:solidFill>
                <a:latin typeface="Meiryo UI" panose="020B0604030504040204" pitchFamily="50" charset="-128"/>
                <a:ea typeface="Meiryo UI" panose="020B0604030504040204" pitchFamily="50" charset="-128"/>
                <a:cs typeface="+mj-cs"/>
              </a:rPr>
              <a:t>Q.</a:t>
            </a:r>
            <a:r>
              <a:rPr lang="en-US" altLang="ja-JP" sz="4000" dirty="0">
                <a:solidFill>
                  <a:schemeClr val="bg1"/>
                </a:solidFill>
              </a:rPr>
              <a:t> OS</a:t>
            </a:r>
            <a:r>
              <a:rPr lang="ja-JP" altLang="en-US" sz="4000" dirty="0">
                <a:solidFill>
                  <a:schemeClr val="bg1"/>
                </a:solidFill>
              </a:rPr>
              <a:t>は各プログラムごとにメモリを割り当てているか</a:t>
            </a:r>
            <a:br>
              <a:rPr lang="en-US" altLang="ja-JP" sz="4000" dirty="0">
                <a:solidFill>
                  <a:schemeClr val="bg1"/>
                </a:solidFill>
              </a:rPr>
            </a:br>
            <a:r>
              <a:rPr lang="ja-JP" altLang="en-US" sz="4000" dirty="0">
                <a:solidFill>
                  <a:schemeClr val="bg1"/>
                </a:solidFill>
              </a:rPr>
              <a:t>↓</a:t>
            </a:r>
            <a:endParaRPr kumimoji="1" lang="en-US" altLang="ja-JP" sz="4000" dirty="0">
              <a:solidFill>
                <a:schemeClr val="bg1"/>
              </a:solidFill>
              <a:latin typeface="Meiryo UI" panose="020B0604030504040204" pitchFamily="50" charset="-128"/>
              <a:ea typeface="Meiryo UI" panose="020B0604030504040204" pitchFamily="50" charset="-128"/>
              <a:cs typeface="+mj-cs"/>
            </a:endParaRPr>
          </a:p>
          <a:p>
            <a:pPr marL="742950" lvl="0" indent="-742950">
              <a:buAutoNum type="alphaUcPeriod"/>
              <a:defRPr/>
            </a:pPr>
            <a:r>
              <a:rPr lang="en-US" altLang="ja-JP" sz="4000" dirty="0">
                <a:solidFill>
                  <a:schemeClr val="bg1"/>
                </a:solidFill>
              </a:rPr>
              <a:t>OS</a:t>
            </a:r>
            <a:r>
              <a:rPr lang="ja-JP" altLang="en-US" sz="4000" dirty="0">
                <a:solidFill>
                  <a:schemeClr val="bg1"/>
                </a:solidFill>
              </a:rPr>
              <a:t>が仮想メモリという抽象化された空間を作り出して、それを各プログラムに割り当てている。</a:t>
            </a:r>
            <a:endParaRPr lang="en-US" altLang="ja-JP" sz="4000" dirty="0">
              <a:solidFill>
                <a:schemeClr val="bg1"/>
              </a:solidFill>
            </a:endParaRPr>
          </a:p>
          <a:p>
            <a:pPr lvl="0">
              <a:defRPr/>
            </a:pPr>
            <a:endParaRPr lang="en-US" altLang="ja-JP" sz="4000" dirty="0">
              <a:solidFill>
                <a:schemeClr val="bg1"/>
              </a:solidFill>
            </a:endParaRPr>
          </a:p>
        </p:txBody>
      </p:sp>
      <p:sp>
        <p:nvSpPr>
          <p:cNvPr id="18" name="テキスト ボックス 17">
            <a:extLst>
              <a:ext uri="{FF2B5EF4-FFF2-40B4-BE49-F238E27FC236}">
                <a16:creationId xmlns:a16="http://schemas.microsoft.com/office/drawing/2014/main" id="{7E580BA5-7BDA-C8CF-D813-600224B9E636}"/>
              </a:ext>
            </a:extLst>
          </p:cNvPr>
          <p:cNvSpPr txBox="1"/>
          <p:nvPr/>
        </p:nvSpPr>
        <p:spPr>
          <a:xfrm>
            <a:off x="1518088" y="4926107"/>
            <a:ext cx="10291203" cy="1323439"/>
          </a:xfrm>
          <a:prstGeom prst="rect">
            <a:avLst/>
          </a:prstGeom>
          <a:solidFill>
            <a:srgbClr val="95B8BF"/>
          </a:solidFill>
        </p:spPr>
        <p:txBody>
          <a:bodyPr wrap="square" rtlCol="0">
            <a:spAutoFit/>
          </a:bodyPr>
          <a:lstStyle/>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　つまり</a:t>
            </a:r>
            <a:r>
              <a:rPr lang="en-US" altLang="ja-JP" sz="4000" b="1" dirty="0"/>
              <a:t>OS</a:t>
            </a:r>
            <a:r>
              <a:rPr lang="ja-JP" altLang="en-US" sz="4000" b="1" dirty="0"/>
              <a:t>は各プログラムを直接物理メモリには触らせないということです。</a:t>
            </a:r>
          </a:p>
        </p:txBody>
      </p:sp>
    </p:spTree>
    <p:extLst>
      <p:ext uri="{BB962C8B-B14F-4D97-AF65-F5344CB8AC3E}">
        <p14:creationId xmlns:p14="http://schemas.microsoft.com/office/powerpoint/2010/main" val="327485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BA9A-1A16-AB6E-D5CB-E35D2B2B4E85}"/>
            </a:ext>
          </a:extLst>
        </p:cNvPr>
        <p:cNvGrpSpPr/>
        <p:nvPr/>
      </p:nvGrpSpPr>
      <p:grpSpPr>
        <a:xfrm>
          <a:off x="0" y="0"/>
          <a:ext cx="0" cy="0"/>
          <a:chOff x="0" y="0"/>
          <a:chExt cx="0" cy="0"/>
        </a:xfrm>
      </p:grpSpPr>
      <p:pic>
        <p:nvPicPr>
          <p:cNvPr id="13" name="図 12">
            <a:extLst>
              <a:ext uri="{FF2B5EF4-FFF2-40B4-BE49-F238E27FC236}">
                <a16:creationId xmlns:a16="http://schemas.microsoft.com/office/drawing/2014/main" id="{5C749A64-8DB7-37BA-E23A-659C76B645E3}"/>
              </a:ext>
            </a:extLst>
          </p:cNvPr>
          <p:cNvPicPr>
            <a:picLocks noChangeAspect="1"/>
          </p:cNvPicPr>
          <p:nvPr/>
        </p:nvPicPr>
        <p:blipFill>
          <a:blip r:embed="rId3"/>
          <a:stretch>
            <a:fillRect/>
          </a:stretch>
        </p:blipFill>
        <p:spPr>
          <a:xfrm>
            <a:off x="104503" y="52999"/>
            <a:ext cx="12087497" cy="6752001"/>
          </a:xfrm>
          <a:prstGeom prst="rect">
            <a:avLst/>
          </a:prstGeom>
        </p:spPr>
      </p:pic>
      <p:sp>
        <p:nvSpPr>
          <p:cNvPr id="2" name="テキスト ボックス 1">
            <a:extLst>
              <a:ext uri="{FF2B5EF4-FFF2-40B4-BE49-F238E27FC236}">
                <a16:creationId xmlns:a16="http://schemas.microsoft.com/office/drawing/2014/main" id="{50A58A95-0D56-EB8B-688E-277BA056E257}"/>
              </a:ext>
            </a:extLst>
          </p:cNvPr>
          <p:cNvSpPr txBox="1"/>
          <p:nvPr/>
        </p:nvSpPr>
        <p:spPr>
          <a:xfrm>
            <a:off x="950398" y="2459503"/>
            <a:ext cx="10291203" cy="1938992"/>
          </a:xfrm>
          <a:prstGeom prst="rect">
            <a:avLst/>
          </a:prstGeom>
          <a:solidFill>
            <a:srgbClr val="95B8BF"/>
          </a:solidFill>
        </p:spPr>
        <p:txBody>
          <a:bodyPr wrap="square" rtlCol="0">
            <a:spAutoFit/>
          </a:bodyPr>
          <a:lstStyle/>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　</a:t>
            </a: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OS</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は、この</a:t>
            </a: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綺麗に並んだ仮想の世界</a:t>
            </a: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と</a:t>
            </a:r>
            <a:b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b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バラバラな物理の現実</a:t>
            </a: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を裏側で変換し、紐づける役割も担っています。</a:t>
            </a:r>
            <a:endParaRPr kumimoji="1" lang="ja-JP" altLang="en-US" dirty="0"/>
          </a:p>
        </p:txBody>
      </p:sp>
    </p:spTree>
    <p:extLst>
      <p:ext uri="{BB962C8B-B14F-4D97-AF65-F5344CB8AC3E}">
        <p14:creationId xmlns:p14="http://schemas.microsoft.com/office/powerpoint/2010/main" val="262754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2682-035B-E64A-D5AF-020AF6EFC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B4BA90-7723-F6C8-8006-2D55C1BFE9EA}"/>
              </a:ext>
            </a:extLst>
          </p:cNvPr>
          <p:cNvSpPr>
            <a:spLocks noGrp="1"/>
          </p:cNvSpPr>
          <p:nvPr>
            <p:ph type="title"/>
          </p:nvPr>
        </p:nvSpPr>
        <p:spPr>
          <a:xfrm>
            <a:off x="1134141" y="150586"/>
            <a:ext cx="10425577" cy="989432"/>
          </a:xfrm>
        </p:spPr>
        <p:txBody>
          <a:bodyPr rtlCol="0">
            <a:normAutofit fontScale="90000"/>
          </a:bodyPr>
          <a:lstStyle>
            <a:defPPr>
              <a:defRPr lang="ja-JP"/>
            </a:defPPr>
          </a:lstStyle>
          <a:p>
            <a:pPr algn="ctr"/>
            <a:r>
              <a:rPr lang="ja-JP" altLang="en-US" dirty="0"/>
              <a:t>なぜ</a:t>
            </a:r>
            <a:r>
              <a:rPr lang="en-US" altLang="ja-JP" dirty="0"/>
              <a:t>OS</a:t>
            </a:r>
            <a:r>
              <a:rPr lang="ja-JP" altLang="en-US" dirty="0"/>
              <a:t>が管理する必要があるのか？</a:t>
            </a:r>
            <a:endParaRPr lang="en-US" altLang="ja-JP" dirty="0"/>
          </a:p>
        </p:txBody>
      </p:sp>
      <p:sp>
        <p:nvSpPr>
          <p:cNvPr id="8" name="タイトル 1">
            <a:extLst>
              <a:ext uri="{FF2B5EF4-FFF2-40B4-BE49-F238E27FC236}">
                <a16:creationId xmlns:a16="http://schemas.microsoft.com/office/drawing/2014/main" id="{2DF44AA5-566B-1371-218A-617CA8C69787}"/>
              </a:ext>
            </a:extLst>
          </p:cNvPr>
          <p:cNvSpPr txBox="1">
            <a:spLocks/>
          </p:cNvSpPr>
          <p:nvPr/>
        </p:nvSpPr>
        <p:spPr>
          <a:xfrm>
            <a:off x="1134141" y="1018904"/>
            <a:ext cx="10635494" cy="5470146"/>
          </a:xfrm>
          <a:prstGeom prst="rect">
            <a:avLst/>
          </a:prstGeom>
        </p:spPr>
        <p:txBody>
          <a:bodyPr vert="horz" lIns="91440" tIns="45720" rIns="91440" bIns="45720" rtlCol="0" anchor="b">
            <a:normAutofit fontScale="92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nSpc>
                <a:spcPct val="110000"/>
              </a:lnSpc>
            </a:pPr>
            <a:r>
              <a:rPr lang="en-US" altLang="ja-JP" sz="3200" dirty="0"/>
              <a:t>A.</a:t>
            </a:r>
            <a:r>
              <a:rPr lang="ja-JP" altLang="en-US" sz="3200" dirty="0"/>
              <a:t>　直接アクセスを許すと、</a:t>
            </a:r>
            <a:r>
              <a:rPr lang="en-US" altLang="ja-JP" sz="3200" b="1" u="sng" dirty="0"/>
              <a:t>『</a:t>
            </a:r>
            <a:r>
              <a:rPr lang="ja-JP" altLang="en-US" sz="3200" b="1" u="sng" dirty="0"/>
              <a:t>安全・効率・並列</a:t>
            </a:r>
            <a:r>
              <a:rPr lang="en-US" altLang="ja-JP" sz="3200" b="1" u="sng" dirty="0"/>
              <a:t>』</a:t>
            </a:r>
            <a:r>
              <a:rPr lang="ja-JP" altLang="en-US" sz="3200" dirty="0"/>
              <a:t>という</a:t>
            </a:r>
            <a:r>
              <a:rPr lang="en-US" altLang="ja-JP" sz="3200" dirty="0"/>
              <a:t>3</a:t>
            </a:r>
            <a:r>
              <a:rPr lang="ja-JP" altLang="en-US" sz="3200" dirty="0"/>
              <a:t>つの大前提が</a:t>
            </a:r>
            <a:endParaRPr lang="en-US" altLang="ja-JP" sz="3200" dirty="0"/>
          </a:p>
          <a:p>
            <a:pPr>
              <a:lnSpc>
                <a:spcPct val="110000"/>
              </a:lnSpc>
              <a:spcAft>
                <a:spcPts val="1200"/>
              </a:spcAft>
            </a:pPr>
            <a:r>
              <a:rPr lang="en-US" altLang="ja-JP" sz="3200" dirty="0"/>
              <a:t>     </a:t>
            </a:r>
            <a:r>
              <a:rPr lang="ja-JP" altLang="en-US" sz="3200" dirty="0"/>
              <a:t>崩壊してしまうから。</a:t>
            </a:r>
            <a:br>
              <a:rPr lang="en-US" altLang="ja-JP" sz="3200" dirty="0"/>
            </a:br>
            <a:r>
              <a:rPr lang="ja-JP" altLang="en-US" sz="3200" b="1" dirty="0"/>
              <a:t>課題</a:t>
            </a:r>
            <a:endParaRPr lang="en-US" altLang="ja-JP" sz="3200" b="1" dirty="0"/>
          </a:p>
          <a:p>
            <a:pPr marL="457200" indent="-457200">
              <a:lnSpc>
                <a:spcPct val="110000"/>
              </a:lnSpc>
              <a:buFont typeface="Arial" panose="020B0604020202020204" pitchFamily="34" charset="0"/>
              <a:buChar char="•"/>
            </a:pPr>
            <a:r>
              <a:rPr lang="ja-JP" altLang="en-US" sz="3200" b="1" dirty="0"/>
              <a:t>競合の発生       ：</a:t>
            </a:r>
            <a:r>
              <a:rPr lang="ja-JP" altLang="en-US" sz="3200" dirty="0"/>
              <a:t>  プログラム</a:t>
            </a:r>
            <a:r>
              <a:rPr lang="en-US" altLang="ja-JP" sz="3200" dirty="0"/>
              <a:t>A</a:t>
            </a:r>
            <a:r>
              <a:rPr lang="ja-JP" altLang="en-US" sz="3200" dirty="0"/>
              <a:t>と</a:t>
            </a:r>
            <a:r>
              <a:rPr lang="en-US" altLang="ja-JP" sz="3200" dirty="0"/>
              <a:t>B</a:t>
            </a:r>
            <a:r>
              <a:rPr lang="ja-JP" altLang="en-US" sz="3200" dirty="0"/>
              <a:t>が同じアドレスを使おうとし</a:t>
            </a:r>
            <a:endParaRPr lang="en-US" altLang="ja-JP" sz="3200" dirty="0"/>
          </a:p>
          <a:p>
            <a:pPr>
              <a:lnSpc>
                <a:spcPct val="110000"/>
              </a:lnSpc>
              <a:spcAft>
                <a:spcPts val="1200"/>
              </a:spcAft>
            </a:pPr>
            <a:r>
              <a:rPr lang="en-US" altLang="ja-JP" sz="3200" dirty="0"/>
              <a:t> </a:t>
            </a:r>
            <a:r>
              <a:rPr lang="ja-JP" altLang="en-US" sz="3200" dirty="0"/>
              <a:t> </a:t>
            </a:r>
            <a:r>
              <a:rPr lang="en-US" altLang="ja-JP" sz="3200" dirty="0"/>
              <a:t>                          </a:t>
            </a:r>
            <a:r>
              <a:rPr lang="ja-JP" altLang="en-US" sz="3200" dirty="0"/>
              <a:t>　てクラッシュする。</a:t>
            </a:r>
          </a:p>
          <a:p>
            <a:pPr marL="457200" indent="-457200">
              <a:lnSpc>
                <a:spcPct val="110000"/>
              </a:lnSpc>
              <a:buFont typeface="Arial" panose="020B0604020202020204" pitchFamily="34" charset="0"/>
              <a:buChar char="•"/>
            </a:pPr>
            <a:r>
              <a:rPr lang="ja-JP" altLang="en-US" sz="3200" b="1" dirty="0"/>
              <a:t>断片化             ：</a:t>
            </a:r>
            <a:r>
              <a:rPr lang="ja-JP" altLang="en-US" sz="3200" dirty="0"/>
              <a:t>  メモリの空き領域がバラバラになり、 大きな</a:t>
            </a:r>
            <a:endParaRPr lang="en-US" altLang="ja-JP" sz="3200" dirty="0"/>
          </a:p>
          <a:p>
            <a:pPr>
              <a:lnSpc>
                <a:spcPct val="110000"/>
              </a:lnSpc>
              <a:spcAft>
                <a:spcPts val="1200"/>
              </a:spcAft>
            </a:pPr>
            <a:r>
              <a:rPr lang="en-US" altLang="ja-JP" sz="3200" dirty="0"/>
              <a:t>                              </a:t>
            </a:r>
            <a:r>
              <a:rPr lang="ja-JP" altLang="en-US" sz="3200" dirty="0"/>
              <a:t>データが置けなくなる。</a:t>
            </a:r>
          </a:p>
          <a:p>
            <a:pPr marL="457200" indent="-457200">
              <a:lnSpc>
                <a:spcPct val="110000"/>
              </a:lnSpc>
              <a:buFont typeface="Arial" panose="020B0604020202020204" pitchFamily="34" charset="0"/>
              <a:buChar char="•"/>
            </a:pPr>
            <a:r>
              <a:rPr lang="ja-JP" altLang="en-US" sz="3200" b="1" dirty="0"/>
              <a:t>セキュリティの欠如：</a:t>
            </a:r>
            <a:r>
              <a:rPr lang="ja-JP" altLang="en-US" sz="3200" dirty="0"/>
              <a:t>  他のプログラムのデータを勝手に読み書きで</a:t>
            </a:r>
            <a:r>
              <a:rPr lang="en-US" altLang="ja-JP" sz="3200" dirty="0"/>
              <a:t> </a:t>
            </a:r>
          </a:p>
          <a:p>
            <a:pPr>
              <a:lnSpc>
                <a:spcPct val="110000"/>
              </a:lnSpc>
              <a:spcAft>
                <a:spcPts val="600"/>
              </a:spcAft>
            </a:pPr>
            <a:r>
              <a:rPr lang="en-US" altLang="ja-JP" sz="3200" dirty="0"/>
              <a:t>                              </a:t>
            </a:r>
            <a:r>
              <a:rPr lang="ja-JP" altLang="en-US" sz="3200" dirty="0"/>
              <a:t> きてしまう。</a:t>
            </a:r>
            <a:endParaRPr lang="en-US" altLang="ja-JP" sz="3200" dirty="0"/>
          </a:p>
        </p:txBody>
      </p:sp>
      <p:sp>
        <p:nvSpPr>
          <p:cNvPr id="3" name="テキスト ボックス 2">
            <a:extLst>
              <a:ext uri="{FF2B5EF4-FFF2-40B4-BE49-F238E27FC236}">
                <a16:creationId xmlns:a16="http://schemas.microsoft.com/office/drawing/2014/main" id="{3A4200AF-5A1E-AB20-55C8-9B16799E993E}"/>
              </a:ext>
            </a:extLst>
          </p:cNvPr>
          <p:cNvSpPr txBox="1"/>
          <p:nvPr/>
        </p:nvSpPr>
        <p:spPr>
          <a:xfrm>
            <a:off x="3807044" y="3257152"/>
            <a:ext cx="4577912" cy="707886"/>
          </a:xfrm>
          <a:prstGeom prst="rect">
            <a:avLst/>
          </a:prstGeom>
          <a:solidFill>
            <a:srgbClr val="95B8BF"/>
          </a:solidFill>
        </p:spPr>
        <p:txBody>
          <a:bodyPr wrap="square" rtlCol="0">
            <a:spAutoFit/>
          </a:bodyPr>
          <a:lstStyle/>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マルチタスクの崩壊</a:t>
            </a:r>
            <a:endParaRPr lang="ja-JP" altLang="en-US" sz="4000" b="1" dirty="0"/>
          </a:p>
        </p:txBody>
      </p:sp>
      <p:sp>
        <p:nvSpPr>
          <p:cNvPr id="4" name="テキスト ボックス 3">
            <a:extLst>
              <a:ext uri="{FF2B5EF4-FFF2-40B4-BE49-F238E27FC236}">
                <a16:creationId xmlns:a16="http://schemas.microsoft.com/office/drawing/2014/main" id="{EAFF0DCE-4C6F-4F3B-80B2-207CD6599151}"/>
              </a:ext>
            </a:extLst>
          </p:cNvPr>
          <p:cNvSpPr txBox="1"/>
          <p:nvPr/>
        </p:nvSpPr>
        <p:spPr>
          <a:xfrm>
            <a:off x="3807044" y="4458601"/>
            <a:ext cx="4577912" cy="707886"/>
          </a:xfrm>
          <a:prstGeom prst="rect">
            <a:avLst/>
          </a:prstGeom>
          <a:solidFill>
            <a:srgbClr val="95B8BF"/>
          </a:solidFill>
        </p:spPr>
        <p:txBody>
          <a:bodyPr wrap="square" rtlCol="0">
            <a:spAutoFit/>
          </a:bodyPr>
          <a:lstStyle/>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効率の崩壊</a:t>
            </a:r>
          </a:p>
        </p:txBody>
      </p:sp>
      <p:sp>
        <p:nvSpPr>
          <p:cNvPr id="5" name="テキスト ボックス 4">
            <a:extLst>
              <a:ext uri="{FF2B5EF4-FFF2-40B4-BE49-F238E27FC236}">
                <a16:creationId xmlns:a16="http://schemas.microsoft.com/office/drawing/2014/main" id="{195657CA-B816-1436-366E-050E18901615}"/>
              </a:ext>
            </a:extLst>
          </p:cNvPr>
          <p:cNvSpPr txBox="1"/>
          <p:nvPr/>
        </p:nvSpPr>
        <p:spPr>
          <a:xfrm>
            <a:off x="3807044" y="5660050"/>
            <a:ext cx="4577912" cy="707886"/>
          </a:xfrm>
          <a:prstGeom prst="rect">
            <a:avLst/>
          </a:prstGeom>
          <a:solidFill>
            <a:srgbClr val="95B8BF"/>
          </a:solidFill>
        </p:spPr>
        <p:txBody>
          <a:bodyPr wrap="square" rtlCol="0">
            <a:spAutoFit/>
          </a:bodyPr>
          <a:lstStyle/>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安全の崩壊</a:t>
            </a:r>
          </a:p>
        </p:txBody>
      </p:sp>
    </p:spTree>
    <p:extLst>
      <p:ext uri="{BB962C8B-B14F-4D97-AF65-F5344CB8AC3E}">
        <p14:creationId xmlns:p14="http://schemas.microsoft.com/office/powerpoint/2010/main" val="99454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75292-F8D1-4B7A-8C40-C60F7AFB5DA0}"/>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876C5D2A-2DD9-8CFF-85DA-8DFBD939062A}"/>
              </a:ext>
            </a:extLst>
          </p:cNvPr>
          <p:cNvSpPr>
            <a:spLocks noGrp="1"/>
          </p:cNvSpPr>
          <p:nvPr>
            <p:ph type="title"/>
          </p:nvPr>
        </p:nvSpPr>
        <p:spPr>
          <a:xfrm>
            <a:off x="1134141" y="150586"/>
            <a:ext cx="10425577" cy="989432"/>
          </a:xfrm>
        </p:spPr>
        <p:txBody>
          <a:bodyPr rtlCol="0">
            <a:normAutofit fontScale="90000"/>
          </a:bodyPr>
          <a:lstStyle>
            <a:defPPr>
              <a:defRPr lang="ja-JP"/>
            </a:defPPr>
          </a:lstStyle>
          <a:p>
            <a:pPr algn="ctr"/>
            <a:r>
              <a:rPr lang="ja-JP" altLang="en-US" dirty="0"/>
              <a:t>マルチタスクの崩壊対策（競合化）</a:t>
            </a:r>
            <a:endParaRPr lang="en-US" altLang="ja-JP" dirty="0"/>
          </a:p>
        </p:txBody>
      </p:sp>
      <p:sp>
        <p:nvSpPr>
          <p:cNvPr id="5" name="タイトル 1">
            <a:extLst>
              <a:ext uri="{FF2B5EF4-FFF2-40B4-BE49-F238E27FC236}">
                <a16:creationId xmlns:a16="http://schemas.microsoft.com/office/drawing/2014/main" id="{5F789CDD-63DC-60D8-53B4-06025A532B6C}"/>
              </a:ext>
            </a:extLst>
          </p:cNvPr>
          <p:cNvSpPr txBox="1">
            <a:spLocks/>
          </p:cNvSpPr>
          <p:nvPr/>
        </p:nvSpPr>
        <p:spPr>
          <a:xfrm>
            <a:off x="1435499" y="1435471"/>
            <a:ext cx="10425577" cy="1787756"/>
          </a:xfrm>
          <a:prstGeom prst="rect">
            <a:avLst/>
          </a:prstGeom>
        </p:spPr>
        <p:txBody>
          <a:bodyPr vert="horz" lIns="91440" tIns="45720" rIns="91440" bIns="45720" rtlCol="0" anchor="b">
            <a:normAutofit fontScale="97500" lnSpcReduction="1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nSpc>
                <a:spcPct val="110000"/>
              </a:lnSpc>
            </a:pPr>
            <a:r>
              <a:rPr lang="ja-JP" altLang="en-US" sz="3600" b="1" dirty="0"/>
              <a:t>アドレス変換（マッピング）</a:t>
            </a:r>
            <a:r>
              <a:rPr lang="ja-JP" altLang="en-US" sz="3600" dirty="0"/>
              <a:t>：各プログラムに</a:t>
            </a:r>
            <a:r>
              <a:rPr lang="en-US" altLang="ja-JP" sz="3600" dirty="0"/>
              <a:t>『</a:t>
            </a:r>
            <a:r>
              <a:rPr lang="ja-JP" altLang="en-US" sz="3600" dirty="0"/>
              <a:t>自分専用のアドレス空間）</a:t>
            </a:r>
            <a:r>
              <a:rPr lang="en-US" altLang="ja-JP" sz="3600" dirty="0"/>
              <a:t>』</a:t>
            </a:r>
            <a:r>
              <a:rPr lang="ja-JP" altLang="en-US" sz="3600" dirty="0"/>
              <a:t>を渡し、</a:t>
            </a:r>
            <a:r>
              <a:rPr lang="en-US" altLang="ja-JP" sz="3600" dirty="0"/>
              <a:t>OS</a:t>
            </a:r>
            <a:r>
              <a:rPr lang="ja-JP" altLang="en-US" sz="3600" dirty="0"/>
              <a:t>が裏で物理的な居場所をズラして配置すること。</a:t>
            </a:r>
          </a:p>
        </p:txBody>
      </p:sp>
      <p:pic>
        <p:nvPicPr>
          <p:cNvPr id="6" name="図 5">
            <a:extLst>
              <a:ext uri="{FF2B5EF4-FFF2-40B4-BE49-F238E27FC236}">
                <a16:creationId xmlns:a16="http://schemas.microsoft.com/office/drawing/2014/main" id="{8363947B-41FF-9F98-B0A8-0722EBCAF02A}"/>
              </a:ext>
            </a:extLst>
          </p:cNvPr>
          <p:cNvPicPr>
            <a:picLocks noChangeAspect="1"/>
          </p:cNvPicPr>
          <p:nvPr/>
        </p:nvPicPr>
        <p:blipFill>
          <a:blip r:embed="rId3"/>
          <a:stretch>
            <a:fillRect/>
          </a:stretch>
        </p:blipFill>
        <p:spPr>
          <a:xfrm>
            <a:off x="6966811" y="2899955"/>
            <a:ext cx="5225190" cy="3958046"/>
          </a:xfrm>
          <a:prstGeom prst="rect">
            <a:avLst/>
          </a:prstGeom>
        </p:spPr>
      </p:pic>
      <p:sp>
        <p:nvSpPr>
          <p:cNvPr id="8" name="テキスト ボックス 7">
            <a:extLst>
              <a:ext uri="{FF2B5EF4-FFF2-40B4-BE49-F238E27FC236}">
                <a16:creationId xmlns:a16="http://schemas.microsoft.com/office/drawing/2014/main" id="{1A2986E4-2766-2DB6-B469-5DF598E77D92}"/>
              </a:ext>
            </a:extLst>
          </p:cNvPr>
          <p:cNvSpPr txBox="1"/>
          <p:nvPr/>
        </p:nvSpPr>
        <p:spPr>
          <a:xfrm>
            <a:off x="1320009" y="3429000"/>
            <a:ext cx="5328278" cy="3338863"/>
          </a:xfrm>
          <a:prstGeom prst="rect">
            <a:avLst/>
          </a:prstGeom>
          <a:noFill/>
        </p:spPr>
        <p:txBody>
          <a:bodyPr wrap="square">
            <a:spAutoFit/>
          </a:bodyPr>
          <a:lstStyle/>
          <a:p>
            <a:pPr algn="ctr">
              <a:lnSpc>
                <a:spcPct val="110000"/>
              </a:lnSpc>
            </a:pPr>
            <a:r>
              <a:rPr lang="ja-JP" altLang="en-US" sz="2400" dirty="0">
                <a:solidFill>
                  <a:schemeClr val="bg1"/>
                </a:solidFill>
              </a:rPr>
              <a:t>仮想メモリアドレス（番地</a:t>
            </a:r>
            <a:r>
              <a:rPr lang="en-US" altLang="ja-JP" sz="2400" dirty="0">
                <a:solidFill>
                  <a:schemeClr val="bg1"/>
                </a:solidFill>
              </a:rPr>
              <a:t>0</a:t>
            </a:r>
            <a:r>
              <a:rPr lang="ja-JP" altLang="en-US" sz="2400" dirty="0">
                <a:solidFill>
                  <a:schemeClr val="bg1"/>
                </a:solidFill>
              </a:rPr>
              <a:t>割り当て）</a:t>
            </a:r>
            <a:endParaRPr lang="en-US" altLang="ja-JP" sz="2400" dirty="0">
              <a:solidFill>
                <a:schemeClr val="bg1"/>
              </a:solidFill>
            </a:endParaRPr>
          </a:p>
          <a:p>
            <a:pPr algn="ctr">
              <a:lnSpc>
                <a:spcPct val="150000"/>
              </a:lnSpc>
            </a:pPr>
            <a:r>
              <a:rPr lang="ja-JP" altLang="en-US" sz="2400" dirty="0">
                <a:solidFill>
                  <a:schemeClr val="bg1"/>
                </a:solidFill>
              </a:rPr>
              <a:t>↓</a:t>
            </a:r>
            <a:endParaRPr lang="en-US" altLang="ja-JP" sz="2400" dirty="0">
              <a:solidFill>
                <a:schemeClr val="bg1"/>
              </a:solidFill>
            </a:endParaRPr>
          </a:p>
          <a:p>
            <a:pPr algn="ctr"/>
            <a:r>
              <a:rPr lang="en-US" altLang="ja-JP" sz="2400" dirty="0">
                <a:solidFill>
                  <a:schemeClr val="bg1"/>
                </a:solidFill>
              </a:rPr>
              <a:t>OS</a:t>
            </a:r>
            <a:r>
              <a:rPr lang="ja-JP" altLang="en-US" sz="2400" dirty="0">
                <a:solidFill>
                  <a:schemeClr val="bg1"/>
                </a:solidFill>
              </a:rPr>
              <a:t>アドレス変換</a:t>
            </a:r>
            <a:endParaRPr lang="en-US" altLang="ja-JP" sz="2400" dirty="0">
              <a:solidFill>
                <a:schemeClr val="bg1"/>
              </a:solidFill>
            </a:endParaRPr>
          </a:p>
          <a:p>
            <a:pPr algn="ctr">
              <a:lnSpc>
                <a:spcPct val="150000"/>
              </a:lnSpc>
            </a:pPr>
            <a:r>
              <a:rPr lang="ja-JP" altLang="en-US" sz="2400" dirty="0">
                <a:solidFill>
                  <a:schemeClr val="bg1"/>
                </a:solidFill>
              </a:rPr>
              <a:t>（仮想メモリ　→　物理メモリ）</a:t>
            </a:r>
            <a:br>
              <a:rPr lang="en-US" altLang="ja-JP" sz="2400" dirty="0">
                <a:solidFill>
                  <a:schemeClr val="bg1"/>
                </a:solidFill>
              </a:rPr>
            </a:br>
            <a:r>
              <a:rPr lang="ja-JP" altLang="en-US" sz="2400" dirty="0">
                <a:solidFill>
                  <a:schemeClr val="bg1"/>
                </a:solidFill>
              </a:rPr>
              <a:t>↓</a:t>
            </a:r>
            <a:endParaRPr lang="en-US" altLang="ja-JP" sz="2400" dirty="0">
              <a:solidFill>
                <a:schemeClr val="bg1"/>
              </a:solidFill>
            </a:endParaRPr>
          </a:p>
          <a:p>
            <a:pPr algn="ctr">
              <a:lnSpc>
                <a:spcPct val="110000"/>
              </a:lnSpc>
            </a:pPr>
            <a:r>
              <a:rPr lang="ja-JP" altLang="en-US" sz="2400" b="1" dirty="0">
                <a:solidFill>
                  <a:schemeClr val="bg1"/>
                </a:solidFill>
                <a:latin typeface="Meiryo UI" panose="020B0604030504040204" pitchFamily="50" charset="-128"/>
                <a:ea typeface="Meiryo UI" panose="020B0604030504040204" pitchFamily="50" charset="-128"/>
              </a:rPr>
              <a:t>毎度メモリ番地を気にすることなく、「コードを記述」「実行」することができる。</a:t>
            </a:r>
            <a:endParaRPr lang="ja-JP" altLang="en-US" sz="2400" dirty="0">
              <a:solidFill>
                <a:schemeClr val="bg1"/>
              </a:solidFill>
            </a:endParaRPr>
          </a:p>
        </p:txBody>
      </p:sp>
    </p:spTree>
    <p:extLst>
      <p:ext uri="{BB962C8B-B14F-4D97-AF65-F5344CB8AC3E}">
        <p14:creationId xmlns:p14="http://schemas.microsoft.com/office/powerpoint/2010/main" val="382530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66319-69C5-F51C-EC83-197F43941938}"/>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8677F04F-3DD5-8648-C469-E68446F35A54}"/>
              </a:ext>
            </a:extLst>
          </p:cNvPr>
          <p:cNvPicPr>
            <a:picLocks noChangeAspect="1"/>
          </p:cNvPicPr>
          <p:nvPr/>
        </p:nvPicPr>
        <p:blipFill>
          <a:blip r:embed="rId3"/>
          <a:stretch>
            <a:fillRect/>
          </a:stretch>
        </p:blipFill>
        <p:spPr>
          <a:xfrm>
            <a:off x="927463" y="3565786"/>
            <a:ext cx="11264537" cy="3292214"/>
          </a:xfrm>
          <a:prstGeom prst="rect">
            <a:avLst/>
          </a:prstGeom>
        </p:spPr>
      </p:pic>
      <p:sp>
        <p:nvSpPr>
          <p:cNvPr id="4" name="タイトル 1">
            <a:extLst>
              <a:ext uri="{FF2B5EF4-FFF2-40B4-BE49-F238E27FC236}">
                <a16:creationId xmlns:a16="http://schemas.microsoft.com/office/drawing/2014/main" id="{7EC5CC17-735B-1C62-2A02-A8F4635D98DD}"/>
              </a:ext>
            </a:extLst>
          </p:cNvPr>
          <p:cNvSpPr>
            <a:spLocks noGrp="1"/>
          </p:cNvSpPr>
          <p:nvPr>
            <p:ph type="title"/>
          </p:nvPr>
        </p:nvSpPr>
        <p:spPr>
          <a:xfrm>
            <a:off x="1134141" y="150586"/>
            <a:ext cx="10425577" cy="989432"/>
          </a:xfrm>
        </p:spPr>
        <p:txBody>
          <a:bodyPr rtlCol="0">
            <a:normAutofit/>
          </a:bodyPr>
          <a:lstStyle>
            <a:defPPr>
              <a:defRPr lang="ja-JP"/>
            </a:defPPr>
          </a:lstStyle>
          <a:p>
            <a:pPr algn="ctr"/>
            <a:r>
              <a:rPr lang="ja-JP" altLang="en-US" dirty="0"/>
              <a:t>メモリ効率の崩壊（断片化）</a:t>
            </a:r>
            <a:endParaRPr lang="en-US" altLang="ja-JP" dirty="0"/>
          </a:p>
        </p:txBody>
      </p:sp>
      <p:sp>
        <p:nvSpPr>
          <p:cNvPr id="5" name="タイトル 1">
            <a:extLst>
              <a:ext uri="{FF2B5EF4-FFF2-40B4-BE49-F238E27FC236}">
                <a16:creationId xmlns:a16="http://schemas.microsoft.com/office/drawing/2014/main" id="{737B9D3D-7CB5-DACC-161A-5F217B26A003}"/>
              </a:ext>
            </a:extLst>
          </p:cNvPr>
          <p:cNvSpPr txBox="1">
            <a:spLocks/>
          </p:cNvSpPr>
          <p:nvPr/>
        </p:nvSpPr>
        <p:spPr>
          <a:xfrm>
            <a:off x="1461624" y="1525218"/>
            <a:ext cx="10544054" cy="1084317"/>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600" b="1" dirty="0"/>
              <a:t>ページング</a:t>
            </a:r>
            <a:r>
              <a:rPr lang="ja-JP" altLang="en-US" sz="3600" dirty="0"/>
              <a:t>：メモリを「固定サイズ」に切り刻み管理、虫食い</a:t>
            </a:r>
            <a:endParaRPr lang="en-US" altLang="ja-JP" sz="3600" dirty="0"/>
          </a:p>
          <a:p>
            <a:r>
              <a:rPr lang="ja-JP" altLang="en-US" sz="3600" dirty="0"/>
              <a:t>　　　　　　　 状態（断片化）を物理的に不可能にする。</a:t>
            </a:r>
          </a:p>
        </p:txBody>
      </p:sp>
    </p:spTree>
    <p:extLst>
      <p:ext uri="{BB962C8B-B14F-4D97-AF65-F5344CB8AC3E}">
        <p14:creationId xmlns:p14="http://schemas.microsoft.com/office/powerpoint/2010/main" val="1142149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7FC01-BD28-59A1-4F11-C2F195015F83}"/>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C0A4183D-4975-0F9E-B7D7-17E111ACC481}"/>
              </a:ext>
            </a:extLst>
          </p:cNvPr>
          <p:cNvSpPr>
            <a:spLocks noGrp="1"/>
          </p:cNvSpPr>
          <p:nvPr>
            <p:ph type="title"/>
          </p:nvPr>
        </p:nvSpPr>
        <p:spPr>
          <a:xfrm>
            <a:off x="1134141" y="150586"/>
            <a:ext cx="10425577" cy="989432"/>
          </a:xfrm>
        </p:spPr>
        <p:txBody>
          <a:bodyPr rtlCol="0">
            <a:normAutofit/>
          </a:bodyPr>
          <a:lstStyle>
            <a:defPPr>
              <a:defRPr lang="ja-JP"/>
            </a:defPPr>
          </a:lstStyle>
          <a:p>
            <a:pPr algn="ctr"/>
            <a:r>
              <a:rPr lang="ja-JP" altLang="en-US" sz="5400" dirty="0"/>
              <a:t>安全の崩壊（セキュリティの欠如）</a:t>
            </a:r>
            <a:endParaRPr lang="en-US" altLang="ja-JP" sz="5400" dirty="0"/>
          </a:p>
        </p:txBody>
      </p:sp>
      <p:sp>
        <p:nvSpPr>
          <p:cNvPr id="5" name="タイトル 1">
            <a:extLst>
              <a:ext uri="{FF2B5EF4-FFF2-40B4-BE49-F238E27FC236}">
                <a16:creationId xmlns:a16="http://schemas.microsoft.com/office/drawing/2014/main" id="{A46FD798-D171-AAA8-7CC0-CC15CFE99912}"/>
              </a:ext>
            </a:extLst>
          </p:cNvPr>
          <p:cNvSpPr txBox="1">
            <a:spLocks/>
          </p:cNvSpPr>
          <p:nvPr/>
        </p:nvSpPr>
        <p:spPr>
          <a:xfrm>
            <a:off x="1461624" y="1525218"/>
            <a:ext cx="10425577" cy="1903782"/>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spcBef>
                <a:spcPts val="4800"/>
              </a:spcBef>
            </a:pPr>
            <a:r>
              <a:rPr lang="ja-JP" altLang="en-US" sz="3600" b="1" dirty="0"/>
              <a:t>ページテーブル（隔離）</a:t>
            </a:r>
            <a:r>
              <a:rPr lang="ja-JP" altLang="en-US" sz="3600" dirty="0"/>
              <a:t>：プロセスごとに独立した住所録を管理し、他から見えないようにして隔離すること。</a:t>
            </a:r>
            <a:endParaRPr lang="en-US" altLang="ja-JP" sz="3600" dirty="0"/>
          </a:p>
          <a:p>
            <a:pPr>
              <a:spcBef>
                <a:spcPts val="1200"/>
              </a:spcBef>
            </a:pPr>
            <a:r>
              <a:rPr lang="en-US" altLang="ja-JP" sz="3600" dirty="0"/>
              <a:t>	</a:t>
            </a:r>
            <a:r>
              <a:rPr lang="ja-JP" altLang="en-US" sz="3600" dirty="0"/>
              <a:t>→　他のプロセスから見えないためアクセスができない。</a:t>
            </a:r>
            <a:endParaRPr lang="en-US" altLang="ja-JP" sz="3600" dirty="0"/>
          </a:p>
        </p:txBody>
      </p:sp>
      <p:pic>
        <p:nvPicPr>
          <p:cNvPr id="10" name="図 9">
            <a:extLst>
              <a:ext uri="{FF2B5EF4-FFF2-40B4-BE49-F238E27FC236}">
                <a16:creationId xmlns:a16="http://schemas.microsoft.com/office/drawing/2014/main" id="{E07A3095-1184-71D6-5DA6-032784DEAEB0}"/>
              </a:ext>
            </a:extLst>
          </p:cNvPr>
          <p:cNvPicPr>
            <a:picLocks noChangeAspect="1"/>
          </p:cNvPicPr>
          <p:nvPr/>
        </p:nvPicPr>
        <p:blipFill>
          <a:blip r:embed="rId3"/>
          <a:stretch>
            <a:fillRect/>
          </a:stretch>
        </p:blipFill>
        <p:spPr>
          <a:xfrm>
            <a:off x="2285404" y="3717274"/>
            <a:ext cx="8535591" cy="2819794"/>
          </a:xfrm>
          <a:prstGeom prst="rect">
            <a:avLst/>
          </a:prstGeom>
        </p:spPr>
      </p:pic>
    </p:spTree>
    <p:extLst>
      <p:ext uri="{BB962C8B-B14F-4D97-AF65-F5344CB8AC3E}">
        <p14:creationId xmlns:p14="http://schemas.microsoft.com/office/powerpoint/2010/main" val="3388137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C742E-B5DE-9905-2528-15169E5AC9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C46B23-B442-A5CC-C3CB-B25E9F3CDBD0}"/>
              </a:ext>
            </a:extLst>
          </p:cNvPr>
          <p:cNvSpPr>
            <a:spLocks noGrp="1"/>
          </p:cNvSpPr>
          <p:nvPr>
            <p:ph type="title"/>
          </p:nvPr>
        </p:nvSpPr>
        <p:spPr>
          <a:xfrm>
            <a:off x="1508051" y="0"/>
            <a:ext cx="9175897" cy="989432"/>
          </a:xfrm>
        </p:spPr>
        <p:txBody>
          <a:bodyPr rtlCol="0">
            <a:normAutofit/>
          </a:bodyPr>
          <a:lstStyle>
            <a:defPPr>
              <a:defRPr lang="ja-JP"/>
            </a:defPPr>
          </a:lstStyle>
          <a:p>
            <a:pPr algn="ctr"/>
            <a:r>
              <a:rPr lang="ja-JP" altLang="en-US" dirty="0"/>
              <a:t>まとめ</a:t>
            </a:r>
            <a:endParaRPr lang="en-US" altLang="ja-JP" dirty="0"/>
          </a:p>
        </p:txBody>
      </p:sp>
      <p:sp>
        <p:nvSpPr>
          <p:cNvPr id="8" name="タイトル 1">
            <a:extLst>
              <a:ext uri="{FF2B5EF4-FFF2-40B4-BE49-F238E27FC236}">
                <a16:creationId xmlns:a16="http://schemas.microsoft.com/office/drawing/2014/main" id="{832AF7BD-6E74-FE29-6BDC-522880C6A078}"/>
              </a:ext>
            </a:extLst>
          </p:cNvPr>
          <p:cNvSpPr txBox="1">
            <a:spLocks/>
          </p:cNvSpPr>
          <p:nvPr/>
        </p:nvSpPr>
        <p:spPr>
          <a:xfrm>
            <a:off x="1134140" y="1132359"/>
            <a:ext cx="10975129" cy="5582714"/>
          </a:xfrm>
          <a:prstGeom prst="rect">
            <a:avLst/>
          </a:prstGeom>
        </p:spPr>
        <p:txBody>
          <a:bodyPr vert="horz" lIns="91440" tIns="45720" rIns="91440" bIns="45720" rtlCol="0" anchor="b">
            <a:no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nSpc>
                <a:spcPct val="100000"/>
              </a:lnSpc>
              <a:spcAft>
                <a:spcPts val="1800"/>
              </a:spcAft>
            </a:pPr>
            <a:r>
              <a:rPr lang="en-US" altLang="ja-JP" sz="3600" b="1" dirty="0"/>
              <a:t>OS</a:t>
            </a:r>
            <a:r>
              <a:rPr lang="ja-JP" altLang="en-US" sz="3600" b="1" dirty="0"/>
              <a:t>によるメモリ管理の仕組みは主に</a:t>
            </a:r>
            <a:r>
              <a:rPr lang="en-US" altLang="ja-JP" sz="3600" b="1" dirty="0"/>
              <a:t>3</a:t>
            </a:r>
            <a:r>
              <a:rPr lang="ja-JP" altLang="en-US" sz="3600" b="1" dirty="0"/>
              <a:t>つの崩壊を防ぐため</a:t>
            </a:r>
            <a:endParaRPr lang="en-US" altLang="ja-JP" sz="3600" b="1" dirty="0"/>
          </a:p>
          <a:p>
            <a:pPr>
              <a:lnSpc>
                <a:spcPct val="150000"/>
              </a:lnSpc>
            </a:pPr>
            <a:r>
              <a:rPr lang="ja-JP" altLang="en-US" sz="3200" b="1" dirty="0"/>
              <a:t>１．マルチタスクの崩壊（競合化）</a:t>
            </a:r>
          </a:p>
          <a:p>
            <a:pPr>
              <a:lnSpc>
                <a:spcPct val="100000"/>
              </a:lnSpc>
            </a:pPr>
            <a:r>
              <a:rPr lang="en-US" altLang="ja-JP" sz="3200" b="1" dirty="0"/>
              <a:t>	</a:t>
            </a:r>
            <a:r>
              <a:rPr lang="ja-JP" altLang="en-US" sz="3200" b="1" dirty="0"/>
              <a:t>→　</a:t>
            </a:r>
            <a:r>
              <a:rPr lang="ja-JP" altLang="en-US" sz="3200" dirty="0"/>
              <a:t>アドレス変換により自分専用の仮想メモリ番地</a:t>
            </a:r>
            <a:endParaRPr lang="en-US" altLang="ja-JP" sz="3200" dirty="0"/>
          </a:p>
          <a:p>
            <a:pPr>
              <a:spcAft>
                <a:spcPts val="1200"/>
              </a:spcAft>
            </a:pPr>
            <a:r>
              <a:rPr lang="ja-JP" altLang="en-US" sz="3200" dirty="0"/>
              <a:t>　　　　　  を与え物理アドレスに変換</a:t>
            </a:r>
            <a:endParaRPr lang="en-US" altLang="ja-JP" sz="3200" dirty="0"/>
          </a:p>
          <a:p>
            <a:pPr>
              <a:lnSpc>
                <a:spcPct val="100000"/>
              </a:lnSpc>
            </a:pPr>
            <a:r>
              <a:rPr lang="ja-JP" altLang="en-US" sz="3200" b="1" dirty="0"/>
              <a:t>２．効率の崩壊（断片化）</a:t>
            </a:r>
            <a:br>
              <a:rPr lang="en-US" altLang="ja-JP" sz="3200" b="1" dirty="0"/>
            </a:br>
            <a:r>
              <a:rPr lang="en-US" altLang="ja-JP" sz="3200" b="1" dirty="0"/>
              <a:t>	</a:t>
            </a:r>
            <a:r>
              <a:rPr lang="ja-JP" altLang="en-US" sz="3200" b="1" dirty="0"/>
              <a:t>→　</a:t>
            </a:r>
            <a:r>
              <a:rPr lang="ja-JP" altLang="en-US" sz="3200" dirty="0"/>
              <a:t>メモリを「固定サイズ」に切り刻み管理し、隙間なく</a:t>
            </a:r>
            <a:endParaRPr lang="en-US" altLang="ja-JP" sz="3200" dirty="0"/>
          </a:p>
          <a:p>
            <a:pPr>
              <a:spcAft>
                <a:spcPts val="1200"/>
              </a:spcAft>
            </a:pPr>
            <a:r>
              <a:rPr lang="ja-JP" altLang="en-US" sz="3200" dirty="0"/>
              <a:t>　　　　　  メモリを効率的に使用する。</a:t>
            </a:r>
            <a:endParaRPr lang="en-US" altLang="ja-JP" sz="3200" dirty="0"/>
          </a:p>
          <a:p>
            <a:r>
              <a:rPr lang="ja-JP" altLang="en-US" sz="3200" b="1" dirty="0"/>
              <a:t>３．安全の崩壊</a:t>
            </a:r>
            <a:r>
              <a:rPr lang="ja-JP" altLang="en-US" sz="3200" dirty="0"/>
              <a:t>（</a:t>
            </a:r>
            <a:r>
              <a:rPr lang="ja-JP" altLang="en-US" sz="3200" b="1" dirty="0"/>
              <a:t>セキュリティの欠如</a:t>
            </a:r>
            <a:r>
              <a:rPr lang="ja-JP" altLang="en-US" sz="3200" dirty="0"/>
              <a:t>）</a:t>
            </a:r>
            <a:endParaRPr lang="en-US" altLang="ja-JP" sz="3200" dirty="0"/>
          </a:p>
          <a:p>
            <a:pPr>
              <a:lnSpc>
                <a:spcPct val="100000"/>
              </a:lnSpc>
            </a:pPr>
            <a:r>
              <a:rPr lang="en-US" altLang="ja-JP" sz="3200" dirty="0"/>
              <a:t>	</a:t>
            </a:r>
            <a:r>
              <a:rPr lang="ja-JP" altLang="en-US" sz="3200" dirty="0"/>
              <a:t>→　他のプロセスから自身のプロセスを見えなくすること</a:t>
            </a:r>
            <a:endParaRPr lang="en-US" altLang="ja-JP" sz="3200" dirty="0"/>
          </a:p>
          <a:p>
            <a:r>
              <a:rPr lang="ja-JP" altLang="en-US" sz="3200" dirty="0"/>
              <a:t>　　　　　  で干渉を防ぐ。</a:t>
            </a:r>
            <a:endParaRPr lang="en-US" altLang="ja-JP" sz="3200" dirty="0"/>
          </a:p>
        </p:txBody>
      </p:sp>
    </p:spTree>
    <p:extLst>
      <p:ext uri="{BB962C8B-B14F-4D97-AF65-F5344CB8AC3E}">
        <p14:creationId xmlns:p14="http://schemas.microsoft.com/office/powerpoint/2010/main" val="2575436936"/>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2.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7069</TotalTime>
  <Words>1485</Words>
  <Application>Microsoft Office PowerPoint</Application>
  <PresentationFormat>ワイド画面</PresentationFormat>
  <Paragraphs>65</Paragraphs>
  <Slides>8</Slides>
  <Notes>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Meiryo UI</vt:lpstr>
      <vt:lpstr>Arial</vt:lpstr>
      <vt:lpstr>ユーザー設定</vt:lpstr>
      <vt:lpstr>メモリもプログラムごとにＯＳに割り当てられる。 ～これはどういう仕組みなのか？～</vt:lpstr>
      <vt:lpstr>PowerPoint プレゼンテーション</vt:lpstr>
      <vt:lpstr>PowerPoint プレゼンテーション</vt:lpstr>
      <vt:lpstr>なぜOSが管理する必要があるのか？</vt:lpstr>
      <vt:lpstr>マルチタスクの崩壊対策（競合化）</vt:lpstr>
      <vt:lpstr>メモリ効率の崩壊（断片化）</vt:lpstr>
      <vt:lpstr>安全の崩壊（セキュリティの欠如）</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和真 西村</cp:lastModifiedBy>
  <cp:revision>232</cp:revision>
  <dcterms:created xsi:type="dcterms:W3CDTF">2026-04-22T00:57:43Z</dcterms:created>
  <dcterms:modified xsi:type="dcterms:W3CDTF">2026-05-18T04:17:29Z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