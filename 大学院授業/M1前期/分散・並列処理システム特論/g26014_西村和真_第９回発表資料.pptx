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322" r:id="rId5"/>
    <p:sldId id="329" r:id="rId6"/>
    <p:sldId id="330" r:id="rId7"/>
    <p:sldId id="331" r:id="rId8"/>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51" d="100"/>
          <a:sy n="51" d="100"/>
        </p:scale>
        <p:origin x="1256" y="48"/>
      </p:cViewPr>
      <p:guideLst/>
    </p:cSldViewPr>
  </p:slideViewPr>
  <p:outlineViewPr>
    <p:cViewPr>
      <p:scale>
        <a:sx n="33" d="100"/>
        <a:sy n="33" d="100"/>
      </p:scale>
      <p:origin x="0" y="-7776"/>
    </p:cViewPr>
  </p:outlineViewPr>
  <p:notesTextViewPr>
    <p:cViewPr>
      <p:scale>
        <a:sx n="125" d="100"/>
        <a:sy n="125" d="100"/>
      </p:scale>
      <p:origin x="0" y="-112"/>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2026/6/19</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6/19/2026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en-US" altLang="ja-JP" sz="1200" dirty="0" err="1"/>
              <a:t>InterruptedException</a:t>
            </a:r>
            <a:r>
              <a:rPr lang="ja-JP" altLang="en-US" sz="1200" dirty="0"/>
              <a:t>とは何か？</a:t>
            </a:r>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b="0" dirty="0" err="1"/>
              <a:t>InterrptedException</a:t>
            </a:r>
            <a:r>
              <a:rPr kumimoji="1" lang="ja-JP" altLang="en-US" b="0" dirty="0"/>
              <a:t>、こいつは中断例外と呼ばれています。</a:t>
            </a:r>
            <a:br>
              <a:rPr kumimoji="1" lang="en-US" altLang="ja-JP" b="0" dirty="0"/>
            </a:br>
            <a:r>
              <a:rPr kumimoji="1" lang="ja-JP" altLang="en-US" b="0" dirty="0"/>
              <a:t>まずこれは何か。</a:t>
            </a:r>
            <a:r>
              <a:rPr lang="ja-JP" altLang="ja-JP" dirty="0"/>
              <a:t>スレッドが </a:t>
            </a:r>
            <a:r>
              <a:rPr lang="ja-JP" altLang="ja-JP" sz="1200" kern="1200" dirty="0">
                <a:solidFill>
                  <a:schemeClr val="tx1"/>
                </a:solidFill>
                <a:latin typeface="Meiryo UI" panose="020B0604030504040204" pitchFamily="50" charset="-128"/>
                <a:ea typeface="Meiryo UI" panose="020B0604030504040204" pitchFamily="50" charset="-128"/>
                <a:cs typeface="+mn-cs"/>
              </a:rPr>
              <a:t>sleep</a:t>
            </a:r>
            <a:r>
              <a:rPr lang="ja-JP" altLang="ja-JP" dirty="0"/>
              <a:t> や </a:t>
            </a:r>
            <a:r>
              <a:rPr lang="ja-JP" altLang="ja-JP" sz="1200" kern="1200" dirty="0">
                <a:solidFill>
                  <a:schemeClr val="tx1"/>
                </a:solidFill>
                <a:latin typeface="Meiryo UI" panose="020B0604030504040204" pitchFamily="50" charset="-128"/>
                <a:ea typeface="Meiryo UI" panose="020B0604030504040204" pitchFamily="50" charset="-128"/>
                <a:cs typeface="+mn-cs"/>
              </a:rPr>
              <a:t>wait</a:t>
            </a:r>
            <a:r>
              <a:rPr lang="ja-JP" altLang="ja-JP" dirty="0"/>
              <a:t> といったメソッドで処理を一時停止し、『待機状態』にあるとき、外部から </a:t>
            </a:r>
            <a:r>
              <a:rPr lang="ja-JP" altLang="ja-JP" sz="1200" kern="1200" dirty="0">
                <a:solidFill>
                  <a:schemeClr val="tx1"/>
                </a:solidFill>
                <a:latin typeface="Meiryo UI" panose="020B0604030504040204" pitchFamily="50" charset="-128"/>
                <a:ea typeface="Meiryo UI" panose="020B0604030504040204" pitchFamily="50" charset="-128"/>
                <a:cs typeface="+mn-cs"/>
              </a:rPr>
              <a:t>interrupt()</a:t>
            </a:r>
            <a:r>
              <a:rPr lang="ja-JP" altLang="ja-JP" dirty="0"/>
              <a:t> メソッドによって割り込み要求を受けた瞬間にスローされる例外</a:t>
            </a:r>
            <a:r>
              <a:rPr lang="ja-JP" altLang="en-US" dirty="0"/>
              <a:t>です。（</a:t>
            </a:r>
            <a:r>
              <a:rPr lang="en-US" altLang="ja-JP" dirty="0"/>
              <a:t>Enter</a:t>
            </a:r>
            <a:r>
              <a:rPr lang="ja-JP" altLang="en-US" dirty="0"/>
              <a:t>）要は待機状態にあるスレッドを強制的に動かそうとしたら出るエラーです。</a:t>
            </a:r>
            <a:br>
              <a:rPr lang="en-US" altLang="ja-JP" dirty="0"/>
            </a:br>
            <a:r>
              <a:rPr lang="ja-JP" altLang="en-US" dirty="0"/>
              <a:t>何のためにあるのかというと、待機中のスレッドに対して意図的なキャンセル通知を行うためです。待機中スレッドって、要はコード実行できない状態ですよね。そこでエラーを発生させることにより、強制的に待機状態を解除して、別ルートで処理投げて続けるって感じですね。</a:t>
            </a:r>
            <a:br>
              <a:rPr lang="en-US" altLang="ja-JP" dirty="0"/>
            </a:br>
            <a:r>
              <a:rPr lang="ja-JP" altLang="en-US" dirty="0"/>
              <a:t>（</a:t>
            </a:r>
            <a:r>
              <a:rPr lang="en-US" altLang="ja-JP" dirty="0"/>
              <a:t>Enter</a:t>
            </a:r>
            <a:r>
              <a:rPr lang="ja-JP" altLang="en-US" dirty="0"/>
              <a:t>）つまりバグや不具合の処理目的ではなく、別の処理に移行させるための手段って感じです。</a:t>
            </a:r>
            <a:endParaRPr lang="ja-JP" altLang="ja-JP" dirty="0"/>
          </a:p>
          <a:p>
            <a:pPr marL="0" lvl="0" indent="0">
              <a:buFont typeface="Arial" panose="020B0604020202020204" pitchFamily="34" charset="0"/>
              <a:buNone/>
              <a:defRPr/>
            </a:pPr>
            <a:endParaRPr kumimoji="1" lang="ja-JP" altLang="en-US" b="0"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98AB-F835-5E14-8AF1-E0D0131E4D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8EFDF5-4A1D-770F-CD2C-25BFFBCCF5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65E8C4-8A20-719B-8B2C-A0088BB8059A}"/>
              </a:ext>
            </a:extLst>
          </p:cNvPr>
          <p:cNvSpPr>
            <a:spLocks noGrp="1"/>
          </p:cNvSpPr>
          <p:nvPr>
            <p:ph type="body" idx="1"/>
          </p:nvPr>
        </p:nvSpPr>
        <p:spPr/>
        <p:txBody>
          <a:bodyPr rtlCol="0"/>
          <a:lstStyle>
            <a:defPPr>
              <a:defRPr lang="ja-JP"/>
            </a:defPPr>
          </a:lstStyle>
          <a:p>
            <a:r>
              <a:rPr lang="ja-JP" altLang="en-US" dirty="0"/>
              <a:t>正直先ほどのスライドで終わりでいいと思いましたがもう少しだけ。</a:t>
            </a:r>
            <a:br>
              <a:rPr lang="en-US" altLang="ja-JP" dirty="0"/>
            </a:br>
            <a:r>
              <a:rPr lang="ja-JP" altLang="ja-JP" dirty="0"/>
              <a:t>実際のコードで表すとこのようになります。</a:t>
            </a:r>
          </a:p>
          <a:p>
            <a:r>
              <a:rPr lang="ja-JP" altLang="ja-JP" sz="1200" kern="1200" dirty="0">
                <a:solidFill>
                  <a:schemeClr val="tx1"/>
                </a:solidFill>
                <a:latin typeface="Meiryo UI" panose="020B0604030504040204" pitchFamily="50" charset="-128"/>
                <a:ea typeface="Meiryo UI" panose="020B0604030504040204" pitchFamily="50" charset="-128"/>
                <a:cs typeface="+mn-cs"/>
              </a:rPr>
              <a:t>Thread.sleep()</a:t>
            </a:r>
            <a:r>
              <a:rPr lang="ja-JP" altLang="ja-JP" dirty="0"/>
              <a:t>、</a:t>
            </a:r>
            <a:r>
              <a:rPr lang="ja-JP" altLang="ja-JP" sz="1200" kern="1200" dirty="0">
                <a:solidFill>
                  <a:schemeClr val="tx1"/>
                </a:solidFill>
                <a:latin typeface="Meiryo UI" panose="020B0604030504040204" pitchFamily="50" charset="-128"/>
                <a:ea typeface="Meiryo UI" panose="020B0604030504040204" pitchFamily="50" charset="-128"/>
                <a:cs typeface="+mn-cs"/>
              </a:rPr>
              <a:t>Object.wait()</a:t>
            </a:r>
            <a:r>
              <a:rPr lang="ja-JP" altLang="ja-JP" dirty="0"/>
              <a:t>、</a:t>
            </a:r>
            <a:r>
              <a:rPr lang="ja-JP" altLang="ja-JP" sz="1200" kern="1200" dirty="0">
                <a:solidFill>
                  <a:schemeClr val="tx1"/>
                </a:solidFill>
                <a:latin typeface="Meiryo UI" panose="020B0604030504040204" pitchFamily="50" charset="-128"/>
                <a:ea typeface="Meiryo UI" panose="020B0604030504040204" pitchFamily="50" charset="-128"/>
                <a:cs typeface="+mn-cs"/>
              </a:rPr>
              <a:t>Thread.join()</a:t>
            </a:r>
            <a:r>
              <a:rPr lang="ja-JP" altLang="ja-JP" dirty="0"/>
              <a:t>。 スレッドがこの３つのいずれかのメソッドによって待機状態にあるときに、それを強制的に中断させたい場合、外部から </a:t>
            </a:r>
            <a:r>
              <a:rPr lang="ja-JP" altLang="ja-JP" sz="1200" kern="1200" dirty="0">
                <a:solidFill>
                  <a:schemeClr val="tx1"/>
                </a:solidFill>
                <a:latin typeface="Meiryo UI" panose="020B0604030504040204" pitchFamily="50" charset="-128"/>
                <a:ea typeface="Meiryo UI" panose="020B0604030504040204" pitchFamily="50" charset="-128"/>
                <a:cs typeface="+mn-cs"/>
              </a:rPr>
              <a:t>interrupt()</a:t>
            </a:r>
            <a:r>
              <a:rPr lang="ja-JP" altLang="ja-JP" dirty="0"/>
              <a:t> メソッドを呼び出します。</a:t>
            </a:r>
          </a:p>
          <a:p>
            <a:r>
              <a:rPr lang="ja-JP" altLang="ja-JP" dirty="0"/>
              <a:t>すると待機がキャンセルされ、意図的にエラーが発生して下の </a:t>
            </a:r>
            <a:r>
              <a:rPr lang="ja-JP" altLang="ja-JP" sz="1200" kern="1200" dirty="0">
                <a:solidFill>
                  <a:schemeClr val="tx1"/>
                </a:solidFill>
                <a:latin typeface="Meiryo UI" panose="020B0604030504040204" pitchFamily="50" charset="-128"/>
                <a:ea typeface="Meiryo UI" panose="020B0604030504040204" pitchFamily="50" charset="-128"/>
                <a:cs typeface="+mn-cs"/>
              </a:rPr>
              <a:t>catch</a:t>
            </a:r>
            <a:r>
              <a:rPr lang="ja-JP" altLang="ja-JP" dirty="0"/>
              <a:t> ブロックへと処理が移る、という流れです。」</a:t>
            </a:r>
          </a:p>
          <a:p>
            <a:pPr marL="0" lvl="0" indent="0">
              <a:buFont typeface="Arial" panose="020B0604020202020204" pitchFamily="34" charset="0"/>
              <a:buNone/>
              <a:defRPr/>
            </a:pPr>
            <a:endParaRPr kumimoji="1" lang="ja-JP" altLang="en-US" b="0" dirty="0"/>
          </a:p>
        </p:txBody>
      </p:sp>
      <p:sp>
        <p:nvSpPr>
          <p:cNvPr id="4" name="スライド番号プレースホルダー 3">
            <a:extLst>
              <a:ext uri="{FF2B5EF4-FFF2-40B4-BE49-F238E27FC236}">
                <a16:creationId xmlns:a16="http://schemas.microsoft.com/office/drawing/2014/main" id="{859084B1-6886-E496-F1E2-4056D3B807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8041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7FCA-283D-3B2E-4600-07B6D95631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57CCDC-E65C-94F6-756D-4057977526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95BAC8-33C7-44E1-13F5-817B39D0FA37}"/>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b="0" dirty="0"/>
              <a:t>まとめです。</a:t>
            </a:r>
            <a:br>
              <a:rPr kumimoji="1" lang="en-US" altLang="ja-JP" b="0" dirty="0"/>
            </a:br>
            <a:r>
              <a:rPr lang="en-US" altLang="ja-JP" sz="1200" dirty="0" err="1"/>
              <a:t>InterruptedException</a:t>
            </a:r>
            <a:r>
              <a:rPr lang="ja-JP" altLang="en-US" sz="1200" dirty="0"/>
              <a:t>とは、</a:t>
            </a:r>
            <a:r>
              <a:rPr lang="ja-JP" altLang="ja-JP" dirty="0"/>
              <a:t>『待機状態』にあるとき、外部から </a:t>
            </a:r>
            <a:r>
              <a:rPr lang="ja-JP" altLang="ja-JP" sz="1200" kern="1200" dirty="0">
                <a:solidFill>
                  <a:schemeClr val="tx1"/>
                </a:solidFill>
                <a:latin typeface="Meiryo UI" panose="020B0604030504040204" pitchFamily="50" charset="-128"/>
                <a:ea typeface="Meiryo UI" panose="020B0604030504040204" pitchFamily="50" charset="-128"/>
                <a:cs typeface="+mn-cs"/>
              </a:rPr>
              <a:t>interrupt()</a:t>
            </a:r>
            <a:r>
              <a:rPr lang="ja-JP" altLang="ja-JP" dirty="0"/>
              <a:t> メソッドによって割り込み要求を受けた</a:t>
            </a:r>
            <a:r>
              <a:rPr lang="ja-JP" altLang="en-US" dirty="0"/>
              <a:t>際に投げられる例外です。</a:t>
            </a:r>
            <a:br>
              <a:rPr lang="en-US" altLang="ja-JP" dirty="0"/>
            </a:br>
            <a:r>
              <a:rPr lang="ja-JP" altLang="en-US" dirty="0"/>
              <a:t>仕組みは</a:t>
            </a:r>
            <a:r>
              <a:rPr lang="ja-JP" altLang="ja-JP" sz="1200" dirty="0">
                <a:solidFill>
                  <a:schemeClr val="bg1"/>
                </a:solidFill>
              </a:rPr>
              <a:t>割り込み</a:t>
            </a:r>
            <a:r>
              <a:rPr lang="ja-JP" altLang="ja-JP" sz="1200">
                <a:solidFill>
                  <a:schemeClr val="bg1"/>
                </a:solidFill>
              </a:rPr>
              <a:t>（interrupt</a:t>
            </a:r>
            <a:r>
              <a:rPr lang="ja-JP" altLang="en-US" sz="1200">
                <a:solidFill>
                  <a:schemeClr val="bg1"/>
                </a:solidFill>
              </a:rPr>
              <a:t>メソッド</a:t>
            </a:r>
            <a:r>
              <a:rPr lang="ja-JP" altLang="ja-JP" sz="1200">
                <a:solidFill>
                  <a:schemeClr val="bg1"/>
                </a:solidFill>
              </a:rPr>
              <a:t>）</a:t>
            </a:r>
            <a:r>
              <a:rPr lang="ja-JP" altLang="ja-JP" sz="1200" dirty="0">
                <a:solidFill>
                  <a:schemeClr val="bg1"/>
                </a:solidFill>
              </a:rPr>
              <a:t>により例外を発生させ、待機を強制解除</a:t>
            </a:r>
            <a:r>
              <a:rPr lang="ja-JP" altLang="en-US" sz="1200" dirty="0">
                <a:solidFill>
                  <a:schemeClr val="bg1"/>
                </a:solidFill>
              </a:rPr>
              <a:t>します。目的はバグや不具合の処理目的ではなく、別の処理に移行させるための手段として使われます。ご清聴ありがとうございました。</a:t>
            </a:r>
            <a:endParaRPr lang="ja-JP"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1E6C013A-ECE1-9CF0-10F1-92B81A8DD82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195460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en-US" altLang="ja-JP" sz="3600" dirty="0" err="1"/>
              <a:t>InterruptedException</a:t>
            </a:r>
            <a:r>
              <a:rPr lang="ja-JP" altLang="en-US" sz="3600" dirty="0"/>
              <a:t>とは何か？</a:t>
            </a:r>
            <a:endParaRPr lang="ja-JP" sz="3600"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ja-JP" altLang="en-US" sz="3200" dirty="0"/>
              <a:t>博士前期課程</a:t>
            </a:r>
            <a:br>
              <a:rPr lang="en-US" altLang="ja-JP" sz="3200" dirty="0"/>
            </a:br>
            <a:r>
              <a:rPr lang="ja-JP" altLang="en-US" sz="3200" dirty="0"/>
              <a:t>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073933" y="134308"/>
            <a:ext cx="6391579" cy="1446550"/>
          </a:xfrm>
          <a:prstGeom prst="rect">
            <a:avLst/>
          </a:prstGeom>
          <a:noFill/>
        </p:spPr>
        <p:txBody>
          <a:bodyPr wrap="square">
            <a:spAutoFit/>
          </a:bodyPr>
          <a:lstStyle/>
          <a:p>
            <a:pPr lvl="0">
              <a:defRPr/>
            </a:pPr>
            <a:r>
              <a:rPr lang="en-US" altLang="ja-JP" sz="4400" dirty="0" err="1">
                <a:solidFill>
                  <a:schemeClr val="bg1"/>
                </a:solidFill>
              </a:rPr>
              <a:t>InterruptedException</a:t>
            </a:r>
            <a:r>
              <a:rPr lang="ja-JP" altLang="en-US" sz="4400" dirty="0">
                <a:solidFill>
                  <a:schemeClr val="bg1"/>
                </a:solidFill>
              </a:rPr>
              <a:t>（中断例外）</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011F558D-50A9-61F0-F408-8CD15787565E}"/>
              </a:ext>
            </a:extLst>
          </p:cNvPr>
          <p:cNvSpPr txBox="1"/>
          <p:nvPr/>
        </p:nvSpPr>
        <p:spPr>
          <a:xfrm>
            <a:off x="1370346" y="1580858"/>
            <a:ext cx="10253807" cy="4832092"/>
          </a:xfrm>
          <a:prstGeom prst="rect">
            <a:avLst/>
          </a:prstGeom>
          <a:noFill/>
        </p:spPr>
        <p:txBody>
          <a:bodyPr wrap="square">
            <a:spAutoFit/>
          </a:bodyPr>
          <a:lstStyle/>
          <a:p>
            <a:pPr>
              <a:spcAft>
                <a:spcPts val="1200"/>
              </a:spcAft>
            </a:pPr>
            <a:r>
              <a:rPr lang="ja-JP" altLang="en-US" sz="3200" dirty="0">
                <a:solidFill>
                  <a:schemeClr val="bg1"/>
                </a:solidFill>
              </a:rPr>
              <a:t>これは何か？</a:t>
            </a:r>
            <a:endParaRPr lang="en-US" altLang="ja-JP" sz="3200" dirty="0">
              <a:solidFill>
                <a:schemeClr val="bg1"/>
              </a:solidFill>
            </a:endParaRPr>
          </a:p>
          <a:p>
            <a:r>
              <a:rPr lang="ja-JP" altLang="en-US" sz="2800" dirty="0">
                <a:solidFill>
                  <a:schemeClr val="bg1"/>
                </a:solidFill>
              </a:rPr>
              <a:t>　　→　スレッドが「</a:t>
            </a:r>
            <a:r>
              <a:rPr lang="en-US" altLang="ja-JP" sz="2800" dirty="0">
                <a:solidFill>
                  <a:schemeClr val="bg1"/>
                </a:solidFill>
              </a:rPr>
              <a:t>sleep</a:t>
            </a:r>
            <a:r>
              <a:rPr lang="ja-JP" altLang="en-US" sz="2800" dirty="0">
                <a:solidFill>
                  <a:schemeClr val="bg1"/>
                </a:solidFill>
              </a:rPr>
              <a:t>」や「</a:t>
            </a:r>
            <a:r>
              <a:rPr lang="en-US" altLang="ja-JP" sz="2800" dirty="0">
                <a:solidFill>
                  <a:schemeClr val="bg1"/>
                </a:solidFill>
              </a:rPr>
              <a:t>wait</a:t>
            </a:r>
            <a:r>
              <a:rPr lang="ja-JP" altLang="en-US" sz="2800" dirty="0">
                <a:solidFill>
                  <a:schemeClr val="bg1"/>
                </a:solidFill>
              </a:rPr>
              <a:t>」などで</a:t>
            </a:r>
            <a:r>
              <a:rPr lang="ja-JP" altLang="en-US" sz="2800" b="1" dirty="0">
                <a:solidFill>
                  <a:schemeClr val="bg1"/>
                </a:solidFill>
              </a:rPr>
              <a:t>待機状態にある際、</a:t>
            </a:r>
            <a:r>
              <a:rPr lang="ja-JP" altLang="en-US" sz="2800" dirty="0">
                <a:solidFill>
                  <a:schemeClr val="bg1"/>
                </a:solidFill>
              </a:rPr>
              <a:t>外部</a:t>
            </a:r>
            <a:br>
              <a:rPr lang="en-US" altLang="ja-JP" sz="2800" dirty="0">
                <a:solidFill>
                  <a:schemeClr val="bg1"/>
                </a:solidFill>
              </a:rPr>
            </a:br>
            <a:r>
              <a:rPr lang="ja-JP" altLang="en-US" sz="2800" dirty="0">
                <a:solidFill>
                  <a:schemeClr val="bg1"/>
                </a:solidFill>
              </a:rPr>
              <a:t>　　　　 から</a:t>
            </a:r>
            <a:r>
              <a:rPr lang="en-US" altLang="ja-JP" sz="2800" dirty="0" err="1">
                <a:solidFill>
                  <a:schemeClr val="bg1"/>
                </a:solidFill>
              </a:rPr>
              <a:t>interrpt</a:t>
            </a:r>
            <a:r>
              <a:rPr lang="en-US" altLang="ja-JP" sz="2800" dirty="0">
                <a:solidFill>
                  <a:schemeClr val="bg1"/>
                </a:solidFill>
              </a:rPr>
              <a:t>()</a:t>
            </a:r>
            <a:r>
              <a:rPr lang="ja-JP" altLang="en-US" sz="2800" dirty="0">
                <a:solidFill>
                  <a:schemeClr val="bg1"/>
                </a:solidFill>
              </a:rPr>
              <a:t>によって割り込み要求を受けた瞬間に発生する</a:t>
            </a:r>
            <a:br>
              <a:rPr lang="en-US" altLang="ja-JP" sz="2800" dirty="0">
                <a:solidFill>
                  <a:schemeClr val="bg1"/>
                </a:solidFill>
              </a:rPr>
            </a:br>
            <a:r>
              <a:rPr lang="ja-JP" altLang="en-US" sz="2800" dirty="0">
                <a:solidFill>
                  <a:schemeClr val="bg1"/>
                </a:solidFill>
              </a:rPr>
              <a:t>　　　　 例外（エラー）である。　</a:t>
            </a:r>
            <a:endParaRPr lang="en-US" altLang="ja-JP" sz="2800" dirty="0">
              <a:solidFill>
                <a:schemeClr val="bg1"/>
              </a:solidFill>
            </a:endParaRPr>
          </a:p>
          <a:p>
            <a:pPr>
              <a:spcAft>
                <a:spcPts val="1200"/>
              </a:spcAft>
            </a:pPr>
            <a:br>
              <a:rPr lang="en-US" altLang="ja-JP" sz="2800" dirty="0">
                <a:solidFill>
                  <a:schemeClr val="bg1"/>
                </a:solidFill>
              </a:rPr>
            </a:br>
            <a:r>
              <a:rPr lang="ja-JP" altLang="en-US" sz="3200" dirty="0">
                <a:solidFill>
                  <a:schemeClr val="bg1"/>
                </a:solidFill>
              </a:rPr>
              <a:t>何のためにあるのか？</a:t>
            </a:r>
            <a:endParaRPr lang="en-US" altLang="ja-JP" sz="3200" dirty="0">
              <a:solidFill>
                <a:schemeClr val="bg1"/>
              </a:solidFill>
            </a:endParaRPr>
          </a:p>
          <a:p>
            <a:r>
              <a:rPr lang="ja-JP" altLang="en-US" sz="2800" dirty="0">
                <a:solidFill>
                  <a:schemeClr val="bg1"/>
                </a:solidFill>
              </a:rPr>
              <a:t>　　→</a:t>
            </a:r>
            <a:r>
              <a:rPr lang="ja-JP" altLang="ja-JP" sz="2800" dirty="0">
                <a:solidFill>
                  <a:schemeClr val="bg1"/>
                </a:solidFill>
              </a:rPr>
              <a:t>待機中のスレッドに対</a:t>
            </a:r>
            <a:r>
              <a:rPr lang="ja-JP" altLang="en-US" sz="2800" dirty="0">
                <a:solidFill>
                  <a:schemeClr val="bg1"/>
                </a:solidFill>
              </a:rPr>
              <a:t>し、「意図的なキャンセル通知」を行うため。</a:t>
            </a:r>
            <a:br>
              <a:rPr lang="en-US" altLang="ja-JP" sz="2800" dirty="0">
                <a:solidFill>
                  <a:schemeClr val="bg1"/>
                </a:solidFill>
              </a:rPr>
            </a:br>
            <a:r>
              <a:rPr lang="ja-JP" altLang="en-US" sz="2800" dirty="0">
                <a:solidFill>
                  <a:schemeClr val="bg1"/>
                </a:solidFill>
              </a:rPr>
              <a:t>　　　 スレッドが待機中でコードを実行できない　→　エラーを発生させる</a:t>
            </a:r>
            <a:br>
              <a:rPr lang="en-US" altLang="ja-JP" sz="2800" dirty="0">
                <a:solidFill>
                  <a:schemeClr val="bg1"/>
                </a:solidFill>
              </a:rPr>
            </a:br>
            <a:r>
              <a:rPr lang="en-US" altLang="ja-JP" sz="2800" dirty="0">
                <a:solidFill>
                  <a:schemeClr val="bg1"/>
                </a:solidFill>
              </a:rPr>
              <a:t>      </a:t>
            </a:r>
            <a:r>
              <a:rPr lang="ja-JP" altLang="en-US" sz="2800" dirty="0">
                <a:solidFill>
                  <a:schemeClr val="bg1"/>
                </a:solidFill>
              </a:rPr>
              <a:t>→で強制的に待機状態を解除　→　別ルートで処理なげる。</a:t>
            </a:r>
            <a:endParaRPr lang="en-US" altLang="ja-JP" sz="2800" dirty="0">
              <a:solidFill>
                <a:schemeClr val="bg1"/>
              </a:solidFill>
            </a:endParaRPr>
          </a:p>
          <a:p>
            <a:endParaRPr lang="en-US" altLang="ja-JP" sz="2800" dirty="0">
              <a:solidFill>
                <a:schemeClr val="bg1"/>
              </a:solidFill>
            </a:endParaRPr>
          </a:p>
        </p:txBody>
      </p:sp>
      <p:sp>
        <p:nvSpPr>
          <p:cNvPr id="5" name="テキスト ボックス 4">
            <a:extLst>
              <a:ext uri="{FF2B5EF4-FFF2-40B4-BE49-F238E27FC236}">
                <a16:creationId xmlns:a16="http://schemas.microsoft.com/office/drawing/2014/main" id="{F1DBBAD9-F4B6-2156-893D-1BD20448CBC7}"/>
              </a:ext>
            </a:extLst>
          </p:cNvPr>
          <p:cNvSpPr txBox="1"/>
          <p:nvPr/>
        </p:nvSpPr>
        <p:spPr>
          <a:xfrm>
            <a:off x="2388258" y="2228671"/>
            <a:ext cx="8592856" cy="1200329"/>
          </a:xfrm>
          <a:prstGeom prst="rect">
            <a:avLst/>
          </a:prstGeom>
          <a:solidFill>
            <a:schemeClr val="accent6">
              <a:lumMod val="60000"/>
              <a:lumOff val="4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3600" dirty="0">
                <a:ln w="0"/>
                <a:effectLst>
                  <a:outerShdw blurRad="38100" dist="19050" dir="2700000" algn="tl" rotWithShape="0">
                    <a:schemeClr val="dk1">
                      <a:alpha val="40000"/>
                    </a:schemeClr>
                  </a:outerShdw>
                </a:effectLst>
              </a:rPr>
              <a:t>要は待機状態にあるスレッドを強制的に動かそうとしたら出るエラー（例外）</a:t>
            </a:r>
            <a:endParaRPr kumimoji="1" lang="ja-JP" altLang="en-US" sz="3600" dirty="0">
              <a:ln w="0"/>
              <a:effectLst>
                <a:outerShdw blurRad="38100" dist="19050" dir="2700000" algn="tl" rotWithShape="0">
                  <a:schemeClr val="dk1">
                    <a:alpha val="40000"/>
                  </a:schemeClr>
                </a:outerShdw>
              </a:effectLst>
            </a:endParaRPr>
          </a:p>
        </p:txBody>
      </p:sp>
      <p:sp>
        <p:nvSpPr>
          <p:cNvPr id="7" name="テキスト ボックス 6">
            <a:extLst>
              <a:ext uri="{FF2B5EF4-FFF2-40B4-BE49-F238E27FC236}">
                <a16:creationId xmlns:a16="http://schemas.microsoft.com/office/drawing/2014/main" id="{355B4F8F-C21C-2E61-56CA-504AB066737E}"/>
              </a:ext>
            </a:extLst>
          </p:cNvPr>
          <p:cNvSpPr txBox="1"/>
          <p:nvPr/>
        </p:nvSpPr>
        <p:spPr>
          <a:xfrm>
            <a:off x="2388258" y="4676977"/>
            <a:ext cx="8592856" cy="1200329"/>
          </a:xfrm>
          <a:prstGeom prst="rect">
            <a:avLst/>
          </a:prstGeom>
          <a:solidFill>
            <a:schemeClr val="accent6">
              <a:lumMod val="60000"/>
              <a:lumOff val="4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3600" dirty="0">
                <a:ln w="0"/>
                <a:effectLst>
                  <a:outerShdw blurRad="38100" dist="19050" dir="2700000" algn="tl" rotWithShape="0">
                    <a:schemeClr val="dk1">
                      <a:alpha val="40000"/>
                    </a:schemeClr>
                  </a:outerShdw>
                </a:effectLst>
              </a:rPr>
              <a:t>バグや不具合の処理目的ではなく、別の処理に移行させるための手段。</a:t>
            </a:r>
          </a:p>
        </p:txBody>
      </p:sp>
    </p:spTree>
    <p:extLst>
      <p:ext uri="{BB962C8B-B14F-4D97-AF65-F5344CB8AC3E}">
        <p14:creationId xmlns:p14="http://schemas.microsoft.com/office/powerpoint/2010/main" val="327485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9D22-AA88-C120-184B-97E88A4DF54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0236E5C5-D4B5-46BD-7EB7-E40C7B731B8C}"/>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詳細</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855730CC-CC98-B1BA-F2AC-7EC177F0C3C9}"/>
              </a:ext>
            </a:extLst>
          </p:cNvPr>
          <p:cNvSpPr txBox="1"/>
          <p:nvPr/>
        </p:nvSpPr>
        <p:spPr>
          <a:xfrm>
            <a:off x="1307716" y="903749"/>
            <a:ext cx="10253807" cy="830997"/>
          </a:xfrm>
          <a:prstGeom prst="rect">
            <a:avLst/>
          </a:prstGeom>
          <a:noFill/>
        </p:spPr>
        <p:txBody>
          <a:bodyPr wrap="square">
            <a:spAutoFit/>
          </a:bodyPr>
          <a:lstStyle/>
          <a:p>
            <a:r>
              <a:rPr lang="ja-JP" altLang="ja-JP" sz="2400" b="1" dirty="0">
                <a:solidFill>
                  <a:schemeClr val="bg1"/>
                </a:solidFill>
              </a:rPr>
              <a:t>Docs:</a:t>
            </a:r>
            <a:r>
              <a:rPr lang="ja-JP" altLang="ja-JP" sz="2400" dirty="0">
                <a:solidFill>
                  <a:schemeClr val="bg1"/>
                </a:solidFill>
              </a:rPr>
              <a:t> あるスレッドが待ち状態、休止状態にあるとき、割込みが発生した場合に</a:t>
            </a:r>
            <a:br>
              <a:rPr lang="en-US" altLang="ja-JP" sz="2400" dirty="0">
                <a:solidFill>
                  <a:schemeClr val="bg1"/>
                </a:solidFill>
              </a:rPr>
            </a:br>
            <a:r>
              <a:rPr lang="ja-JP" altLang="en-US" sz="2400" dirty="0">
                <a:solidFill>
                  <a:schemeClr val="bg1"/>
                </a:solidFill>
              </a:rPr>
              <a:t>　　　　　</a:t>
            </a:r>
            <a:r>
              <a:rPr lang="ja-JP" altLang="ja-JP" sz="2400" dirty="0">
                <a:solidFill>
                  <a:schemeClr val="bg1"/>
                </a:solidFill>
              </a:rPr>
              <a:t>スローされます。</a:t>
            </a:r>
            <a:r>
              <a:rPr lang="ja-JP" altLang="en-US" sz="2400" dirty="0">
                <a:solidFill>
                  <a:schemeClr val="bg1"/>
                </a:solidFill>
              </a:rPr>
              <a:t>（要約）</a:t>
            </a:r>
            <a:endParaRPr lang="ja-JP" altLang="ja-JP" sz="2200" dirty="0">
              <a:solidFill>
                <a:schemeClr val="bg1"/>
              </a:solidFill>
            </a:endParaRPr>
          </a:p>
        </p:txBody>
      </p:sp>
      <p:pic>
        <p:nvPicPr>
          <p:cNvPr id="4" name="図 3">
            <a:extLst>
              <a:ext uri="{FF2B5EF4-FFF2-40B4-BE49-F238E27FC236}">
                <a16:creationId xmlns:a16="http://schemas.microsoft.com/office/drawing/2014/main" id="{51C3DEB3-595A-588E-3A39-D14B7F965AB9}"/>
              </a:ext>
            </a:extLst>
          </p:cNvPr>
          <p:cNvPicPr>
            <a:picLocks noChangeAspect="1"/>
          </p:cNvPicPr>
          <p:nvPr/>
        </p:nvPicPr>
        <p:blipFill>
          <a:blip r:embed="rId3"/>
          <a:stretch>
            <a:fillRect/>
          </a:stretch>
        </p:blipFill>
        <p:spPr>
          <a:xfrm>
            <a:off x="1523765" y="1756685"/>
            <a:ext cx="9144470" cy="4197566"/>
          </a:xfrm>
          <a:prstGeom prst="rect">
            <a:avLst/>
          </a:prstGeom>
        </p:spPr>
      </p:pic>
    </p:spTree>
    <p:extLst>
      <p:ext uri="{BB962C8B-B14F-4D97-AF65-F5344CB8AC3E}">
        <p14:creationId xmlns:p14="http://schemas.microsoft.com/office/powerpoint/2010/main" val="209019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D7BC-2F4E-31ED-72D0-61EFF91AD0F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82639-0971-02B0-4118-E6F46C84968F}"/>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まとめ</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039BD9AB-9001-B99B-28EC-2D59AA6253DF}"/>
              </a:ext>
            </a:extLst>
          </p:cNvPr>
          <p:cNvSpPr txBox="1"/>
          <p:nvPr/>
        </p:nvSpPr>
        <p:spPr>
          <a:xfrm>
            <a:off x="1470554" y="1217603"/>
            <a:ext cx="10721446" cy="5109091"/>
          </a:xfrm>
          <a:prstGeom prst="rect">
            <a:avLst/>
          </a:prstGeom>
          <a:noFill/>
        </p:spPr>
        <p:txBody>
          <a:bodyPr wrap="square">
            <a:spAutoFit/>
          </a:bodyPr>
          <a:lstStyle/>
          <a:p>
            <a:pPr>
              <a:spcAft>
                <a:spcPts val="1200"/>
              </a:spcAft>
            </a:pPr>
            <a:r>
              <a:rPr lang="en-US" altLang="ja-JP" sz="3400" b="1" dirty="0" err="1">
                <a:solidFill>
                  <a:schemeClr val="bg1"/>
                </a:solidFill>
              </a:rPr>
              <a:t>InterruptedException</a:t>
            </a:r>
            <a:r>
              <a:rPr lang="ja-JP" altLang="en-US" sz="3400" b="1" dirty="0">
                <a:solidFill>
                  <a:schemeClr val="bg1"/>
                </a:solidFill>
              </a:rPr>
              <a:t>とは</a:t>
            </a:r>
            <a:endParaRPr lang="en-US" altLang="ja-JP" sz="2400" dirty="0">
              <a:solidFill>
                <a:schemeClr val="bg1"/>
              </a:solidFill>
            </a:endParaRPr>
          </a:p>
          <a:p>
            <a:pPr marL="800100" lvl="1" indent="-342900">
              <a:buFont typeface="Arial" panose="020B0604020202020204" pitchFamily="34" charset="0"/>
              <a:buChar char="•"/>
            </a:pPr>
            <a:r>
              <a:rPr lang="ja-JP" altLang="ja-JP" sz="3000" dirty="0">
                <a:solidFill>
                  <a:schemeClr val="bg1"/>
                </a:solidFill>
              </a:rPr>
              <a:t>待機状態（sleep/wait等）にあるとき、外部から</a:t>
            </a:r>
            <a:r>
              <a:rPr lang="en-US" altLang="ja-JP" sz="3000" dirty="0">
                <a:solidFill>
                  <a:schemeClr val="bg1"/>
                </a:solidFill>
              </a:rPr>
              <a:t>in</a:t>
            </a:r>
            <a:r>
              <a:rPr lang="ja-JP" altLang="ja-JP" sz="3000" dirty="0">
                <a:solidFill>
                  <a:schemeClr val="bg1"/>
                </a:solidFill>
              </a:rPr>
              <a:t>terrupt() メソッドによって割り込み要求を受けた</a:t>
            </a:r>
            <a:r>
              <a:rPr lang="ja-JP" altLang="en-US" sz="3000" dirty="0">
                <a:solidFill>
                  <a:schemeClr val="bg1"/>
                </a:solidFill>
              </a:rPr>
              <a:t>際に投げられる例外</a:t>
            </a:r>
            <a:endParaRPr lang="en-US" altLang="ja-JP" sz="3000" dirty="0">
              <a:solidFill>
                <a:schemeClr val="bg1"/>
              </a:solidFill>
            </a:endParaRPr>
          </a:p>
          <a:p>
            <a:r>
              <a:rPr lang="ja-JP" altLang="ja-JP" sz="3400" b="1" dirty="0">
                <a:solidFill>
                  <a:schemeClr val="bg1"/>
                </a:solidFill>
              </a:rPr>
              <a:t>仕組み</a:t>
            </a:r>
            <a:endParaRPr lang="en-US" altLang="ja-JP" sz="3400" b="1" dirty="0">
              <a:solidFill>
                <a:schemeClr val="bg1"/>
              </a:solidFill>
            </a:endParaRPr>
          </a:p>
          <a:p>
            <a:pPr marL="800100" lvl="1" indent="-342900">
              <a:buFont typeface="Arial" panose="020B0604020202020204" pitchFamily="34" charset="0"/>
              <a:buChar char="•"/>
            </a:pPr>
            <a:r>
              <a:rPr lang="ja-JP" altLang="ja-JP" sz="3000" dirty="0">
                <a:solidFill>
                  <a:schemeClr val="bg1"/>
                </a:solidFill>
              </a:rPr>
              <a:t>割り込み（interrupt）により例外を発生させ、待機を強制</a:t>
            </a:r>
            <a:br>
              <a:rPr lang="en-US" altLang="ja-JP" sz="3000" dirty="0">
                <a:solidFill>
                  <a:schemeClr val="bg1"/>
                </a:solidFill>
              </a:rPr>
            </a:br>
            <a:r>
              <a:rPr lang="ja-JP" altLang="ja-JP" sz="3000" dirty="0">
                <a:solidFill>
                  <a:schemeClr val="bg1"/>
                </a:solidFill>
              </a:rPr>
              <a:t>解除する</a:t>
            </a:r>
          </a:p>
          <a:p>
            <a:pPr>
              <a:spcAft>
                <a:spcPts val="1200"/>
              </a:spcAft>
            </a:pPr>
            <a:r>
              <a:rPr lang="ja-JP" altLang="en-US" sz="3400" b="1" dirty="0">
                <a:solidFill>
                  <a:schemeClr val="bg1"/>
                </a:solidFill>
              </a:rPr>
              <a:t>目的</a:t>
            </a:r>
            <a:r>
              <a:rPr lang="ja-JP" altLang="ja-JP" sz="2400" dirty="0">
                <a:solidFill>
                  <a:schemeClr val="bg1"/>
                </a:solidFill>
              </a:rPr>
              <a:t>　 </a:t>
            </a:r>
            <a:endParaRPr lang="en-US" altLang="ja-JP" sz="2400" dirty="0">
              <a:solidFill>
                <a:schemeClr val="bg1"/>
              </a:solidFill>
            </a:endParaRPr>
          </a:p>
          <a:p>
            <a:pPr marL="800100" lvl="1" indent="-342900">
              <a:buFont typeface="Arial" panose="020B0604020202020204" pitchFamily="34" charset="0"/>
              <a:buChar char="•"/>
            </a:pPr>
            <a:r>
              <a:rPr lang="ja-JP" altLang="en-US" sz="3000" dirty="0">
                <a:solidFill>
                  <a:schemeClr val="bg1"/>
                </a:solidFill>
              </a:rPr>
              <a:t>バグや不具合の処理目的ではなく、別の処理に移行させるための手段。</a:t>
            </a:r>
            <a:br>
              <a:rPr lang="en-US" altLang="ja-JP" sz="2400" dirty="0">
                <a:solidFill>
                  <a:schemeClr val="bg1"/>
                </a:solidFill>
              </a:rPr>
            </a:br>
            <a:endParaRPr lang="ja-JP" altLang="ja-JP" sz="2400" dirty="0">
              <a:solidFill>
                <a:schemeClr val="bg1"/>
              </a:solidFill>
            </a:endParaRPr>
          </a:p>
        </p:txBody>
      </p:sp>
    </p:spTree>
    <p:extLst>
      <p:ext uri="{BB962C8B-B14F-4D97-AF65-F5344CB8AC3E}">
        <p14:creationId xmlns:p14="http://schemas.microsoft.com/office/powerpoint/2010/main" val="2162761959"/>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9037</TotalTime>
  <Words>648</Words>
  <Application>Microsoft Office PowerPoint</Application>
  <PresentationFormat>ワイド画面</PresentationFormat>
  <Paragraphs>28</Paragraphs>
  <Slides>4</Slides>
  <Notes>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4</vt:i4>
      </vt:variant>
    </vt:vector>
  </HeadingPairs>
  <TitlesOfParts>
    <vt:vector size="7" baseType="lpstr">
      <vt:lpstr>Meiryo UI</vt:lpstr>
      <vt:lpstr>Arial</vt:lpstr>
      <vt:lpstr>ユーザー設定</vt:lpstr>
      <vt:lpstr>InterruptedExceptionとは何か？</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341</cp:revision>
  <dcterms:created xsi:type="dcterms:W3CDTF">2026-04-22T00:57:43Z</dcterms:created>
  <dcterms:modified xsi:type="dcterms:W3CDTF">2026-06-19T08:31:58Z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