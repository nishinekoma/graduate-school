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handoutMasterIdLst>
    <p:handoutMasterId r:id="rId11"/>
  </p:handoutMasterIdLst>
  <p:sldIdLst>
    <p:sldId id="322" r:id="rId5"/>
    <p:sldId id="329" r:id="rId6"/>
    <p:sldId id="330" r:id="rId7"/>
    <p:sldId id="332" r:id="rId8"/>
    <p:sldId id="331" r:id="rId9"/>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51" d="100"/>
          <a:sy n="51" d="100"/>
        </p:scale>
        <p:origin x="1256" y="48"/>
      </p:cViewPr>
      <p:guideLst/>
    </p:cSldViewPr>
  </p:slideViewPr>
  <p:outlineViewPr>
    <p:cViewPr>
      <p:scale>
        <a:sx n="33" d="100"/>
        <a:sy n="33" d="100"/>
      </p:scale>
      <p:origin x="0" y="-7776"/>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2026/6/29</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6/29/2026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b="0" dirty="0"/>
              <a:t>ロックの概念は、</a:t>
            </a:r>
            <a:r>
              <a:rPr lang="ja-JP" altLang="en-US" sz="1200" dirty="0">
                <a:solidFill>
                  <a:schemeClr val="bg1"/>
                </a:solidFill>
              </a:rPr>
              <a:t>排他制御を実現するための手段のことです。排他的制御とは複数人に同時に触らせないことであり排他制御の仕組みの一つと言えます。必要性としては、複数スレッドの同時アクセスによって、データが壊れる（最終的な結果が変わること）を防ぐため。</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98AB-F835-5E14-8AF1-E0D0131E4D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8EFDF5-4A1D-770F-CD2C-25BFFBCCF5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65E8C4-8A20-719B-8B2C-A0088BB8059A}"/>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指定されたお部屋とカギという例で話します。ロックがない場合、つまり部屋に鍵がない状態ですね。スレッド、ここでは作業員とします。ＡとＢは数字に１足すというタスクを持っています。ＡとＢは１０を同時に認識しました。しかし結果は２回足したはずなのに１１になってしまいました。どちらも１０を認識してしまったからです。次に鍵がある場合です。先ほどのタスクの状態で、Ａが入室後、カギをかけ、Ｂは入れません。Ａが１１にして</a:t>
            </a:r>
            <a:br>
              <a:rPr kumimoji="1" lang="en-US" altLang="ja-JP" b="0" dirty="0"/>
            </a:br>
            <a:r>
              <a:rPr kumimoji="1" lang="ja-JP" altLang="en-US" b="0" dirty="0"/>
              <a:t>退室し、カギをＢに渡し、入室して１２にします。結果、</a:t>
            </a:r>
            <a:r>
              <a:rPr kumimoji="1" lang="en-US" altLang="ja-JP" b="0" dirty="0"/>
              <a:t>10</a:t>
            </a:r>
            <a:r>
              <a:rPr kumimoji="1" lang="ja-JP" altLang="en-US" b="0" dirty="0"/>
              <a:t>を</a:t>
            </a:r>
            <a:r>
              <a:rPr kumimoji="1" lang="en-US" altLang="ja-JP" b="0" dirty="0"/>
              <a:t>2</a:t>
            </a:r>
            <a:r>
              <a:rPr kumimoji="1" lang="ja-JP" altLang="en-US" b="0" dirty="0"/>
              <a:t>回足した</a:t>
            </a:r>
            <a:r>
              <a:rPr kumimoji="1" lang="en-US" altLang="ja-JP" b="0" dirty="0"/>
              <a:t>12</a:t>
            </a:r>
            <a:r>
              <a:rPr kumimoji="1" lang="ja-JP" altLang="en-US" b="0" dirty="0"/>
              <a:t>になりデータが守られます。このようにロックを使用することで、データによる競合状態を防ぎ、不整合なくデータを安全に守っているわけです。</a:t>
            </a:r>
          </a:p>
        </p:txBody>
      </p:sp>
      <p:sp>
        <p:nvSpPr>
          <p:cNvPr id="4" name="スライド番号プレースホルダー 3">
            <a:extLst>
              <a:ext uri="{FF2B5EF4-FFF2-40B4-BE49-F238E27FC236}">
                <a16:creationId xmlns:a16="http://schemas.microsoft.com/office/drawing/2014/main" id="{859084B1-6886-E496-F1E2-4056D3B807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8041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5AE81-FF2C-0FA1-ED08-8F14A9570E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55DDB1-3E1F-CA8F-3546-A3723B54CF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009076-D0E3-2D79-C3B9-4C1CD627971E}"/>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おまけでちょっとだけ。＋１というタスクの時、具体的に</a:t>
            </a:r>
            <a:r>
              <a:rPr kumimoji="1" lang="en-US" altLang="ja-JP" b="0" dirty="0"/>
              <a:t>CPU</a:t>
            </a:r>
            <a:r>
              <a:rPr kumimoji="1" lang="ja-JP" altLang="en-US" b="0" dirty="0"/>
              <a:t>レベルで言うと、</a:t>
            </a:r>
            <a:r>
              <a:rPr lang="ja-JP" altLang="ja-JP" dirty="0"/>
              <a:t>「①数字を読む → ②足し算する → ③書き込む」という3つのステップに分かれています。</a:t>
            </a:r>
            <a:r>
              <a:rPr lang="en-US" altLang="ja-JP" dirty="0"/>
              <a:t>(Enter)</a:t>
            </a:r>
            <a:r>
              <a:rPr lang="ja-JP" altLang="en-US" dirty="0"/>
              <a:t>この➀と➁の状態に際に別スレッドが介入してしまうと、</a:t>
            </a:r>
            <a:r>
              <a:rPr lang="en-US" altLang="ja-JP" dirty="0"/>
              <a:t>(Enter)</a:t>
            </a:r>
            <a:r>
              <a:rPr lang="ja-JP" altLang="en-US" dirty="0"/>
              <a:t>上書きになって整合性が取れなくなってしまうって感じですね。この処理の隙間に割り込まれるのを防ぐのが排他制御であり、その具体的な手段である鍵かけという概念がロックって感じですね。</a:t>
            </a:r>
            <a:endParaRPr kumimoji="1" lang="ja-JP" altLang="en-US" b="0" dirty="0"/>
          </a:p>
        </p:txBody>
      </p:sp>
      <p:sp>
        <p:nvSpPr>
          <p:cNvPr id="4" name="スライド番号プレースホルダー 3">
            <a:extLst>
              <a:ext uri="{FF2B5EF4-FFF2-40B4-BE49-F238E27FC236}">
                <a16:creationId xmlns:a16="http://schemas.microsoft.com/office/drawing/2014/main" id="{8C67C200-3921-67AA-7944-78135B70F550}"/>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480834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7FCA-283D-3B2E-4600-07B6D95631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57CCDC-E65C-94F6-756D-4057977526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95BAC8-33C7-44E1-13F5-817B39D0FA37}"/>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まとめです。</a:t>
            </a:r>
            <a:endParaRPr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ロックの概念は、排他制御の一つであり、鍵かけによって実現する手段であること。必要性は複数スレッドの同時アクセスによってデータが壊れること、つまり不整合を防ぐこと。仕組みとしては</a:t>
            </a:r>
            <a:r>
              <a:rPr lang="ja-JP" altLang="ja-JP" dirty="0"/>
              <a:t>カギを取得した1つのスレッドだけが処理を行い、</a:t>
            </a:r>
            <a:r>
              <a:rPr lang="ja-JP" altLang="en-US" dirty="0"/>
              <a:t>他は</a:t>
            </a:r>
            <a:r>
              <a:rPr lang="ja-JP" altLang="ja-JP" dirty="0"/>
              <a:t>外で待機させる仕組み</a:t>
            </a:r>
            <a:r>
              <a:rPr lang="ja-JP" altLang="en-US" dirty="0"/>
              <a:t>であること。</a:t>
            </a:r>
            <a:br>
              <a:rPr lang="en-US" altLang="ja-JP" dirty="0"/>
            </a:br>
            <a:r>
              <a:rPr lang="ja-JP" altLang="en-US" dirty="0"/>
              <a:t>ご清聴ありがとうございました</a:t>
            </a:r>
            <a:endParaRPr lang="ja-JP"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1E6C013A-ECE1-9CF0-10F1-92B81A8DD82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95460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ja-JP" altLang="en-US" sz="5400" dirty="0"/>
              <a:t>ロックについて</a:t>
            </a:r>
            <a:endParaRPr lang="ja-JP" sz="5400"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ja-JP" altLang="en-US" sz="3200" dirty="0"/>
              <a:t>博士前期課程</a:t>
            </a:r>
            <a:br>
              <a:rPr lang="en-US" altLang="ja-JP" sz="3200" dirty="0"/>
            </a:br>
            <a:r>
              <a:rPr lang="ja-JP" altLang="en-US" sz="3200" dirty="0"/>
              <a:t>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073933" y="134308"/>
            <a:ext cx="6391579"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ロック</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011F558D-50A9-61F0-F408-8CD15787565E}"/>
              </a:ext>
            </a:extLst>
          </p:cNvPr>
          <p:cNvSpPr txBox="1"/>
          <p:nvPr/>
        </p:nvSpPr>
        <p:spPr>
          <a:xfrm>
            <a:off x="1370346" y="1580858"/>
            <a:ext cx="10253807" cy="3724096"/>
          </a:xfrm>
          <a:prstGeom prst="rect">
            <a:avLst/>
          </a:prstGeom>
          <a:noFill/>
        </p:spPr>
        <p:txBody>
          <a:bodyPr wrap="square">
            <a:spAutoFit/>
          </a:bodyPr>
          <a:lstStyle/>
          <a:p>
            <a:pPr>
              <a:spcAft>
                <a:spcPts val="1200"/>
              </a:spcAft>
            </a:pPr>
            <a:r>
              <a:rPr lang="ja-JP" altLang="en-US" sz="2800" dirty="0">
                <a:solidFill>
                  <a:schemeClr val="bg1"/>
                </a:solidFill>
              </a:rPr>
              <a:t>概念</a:t>
            </a:r>
            <a:r>
              <a:rPr lang="en-US" altLang="ja-JP" sz="2800" dirty="0">
                <a:solidFill>
                  <a:schemeClr val="bg1"/>
                </a:solidFill>
              </a:rPr>
              <a:t>		</a:t>
            </a:r>
          </a:p>
          <a:p>
            <a:pPr marL="914400" lvl="1" indent="-457200">
              <a:spcAft>
                <a:spcPts val="1200"/>
              </a:spcAft>
              <a:buFont typeface="Arial" panose="020B0604020202020204" pitchFamily="34" charset="0"/>
              <a:buChar char="•"/>
            </a:pPr>
            <a:r>
              <a:rPr lang="ja-JP" altLang="en-US" sz="2800" dirty="0">
                <a:solidFill>
                  <a:schemeClr val="bg1"/>
                </a:solidFill>
              </a:rPr>
              <a:t>排他制御を実現するための手段のこと。排他的制御とは複数人に同時に触らせないこと。</a:t>
            </a:r>
            <a:endParaRPr lang="en-US" altLang="ja-JP" sz="2800" dirty="0">
              <a:solidFill>
                <a:schemeClr val="bg1"/>
              </a:solidFill>
            </a:endParaRPr>
          </a:p>
          <a:p>
            <a:pPr lvl="2">
              <a:spcAft>
                <a:spcPts val="1200"/>
              </a:spcAft>
            </a:pPr>
            <a:r>
              <a:rPr lang="en-US" altLang="ja-JP" sz="2800" dirty="0">
                <a:solidFill>
                  <a:schemeClr val="bg1"/>
                </a:solidFill>
              </a:rPr>
              <a:t>	</a:t>
            </a:r>
            <a:r>
              <a:rPr lang="ja-JP" altLang="en-US" sz="2800" dirty="0">
                <a:solidFill>
                  <a:schemeClr val="bg1"/>
                </a:solidFill>
              </a:rPr>
              <a:t>→つまりは排他制御の仕組みの一つ</a:t>
            </a:r>
            <a:endParaRPr lang="en-US" altLang="ja-JP" sz="2800" dirty="0">
              <a:solidFill>
                <a:schemeClr val="bg1"/>
              </a:solidFill>
            </a:endParaRPr>
          </a:p>
          <a:p>
            <a:pPr>
              <a:spcAft>
                <a:spcPts val="1200"/>
              </a:spcAft>
            </a:pPr>
            <a:r>
              <a:rPr lang="ja-JP" altLang="en-US" sz="2800" dirty="0">
                <a:solidFill>
                  <a:schemeClr val="bg1"/>
                </a:solidFill>
              </a:rPr>
              <a:t>必要性</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複数スレッドの同時アクセスによって、データが壊れる（最終的な結果が変わること）を防ぐため。</a:t>
            </a:r>
            <a:endParaRPr lang="en-US" altLang="ja-JP" sz="2800" dirty="0">
              <a:solidFill>
                <a:schemeClr val="bg1"/>
              </a:solidFill>
            </a:endParaRPr>
          </a:p>
        </p:txBody>
      </p:sp>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9D22-AA88-C120-184B-97E88A4DF54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0236E5C5-D4B5-46BD-7EB7-E40C7B731B8C}"/>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お部屋とカギ（ロックの例）</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FBBDBD85-2692-4115-E051-1FB6EEDE4223}"/>
              </a:ext>
            </a:extLst>
          </p:cNvPr>
          <p:cNvSpPr txBox="1"/>
          <p:nvPr/>
        </p:nvSpPr>
        <p:spPr>
          <a:xfrm>
            <a:off x="1390389" y="1127342"/>
            <a:ext cx="10346499" cy="5370701"/>
          </a:xfrm>
          <a:prstGeom prst="rect">
            <a:avLst/>
          </a:prstGeom>
          <a:noFill/>
        </p:spPr>
        <p:txBody>
          <a:bodyPr wrap="square" rtlCol="0">
            <a:spAutoFit/>
          </a:bodyPr>
          <a:lstStyle/>
          <a:p>
            <a:pPr>
              <a:spcAft>
                <a:spcPts val="1200"/>
              </a:spcAft>
            </a:pPr>
            <a:r>
              <a:rPr lang="ja-JP" altLang="ja-JP" sz="2800" b="1" dirty="0">
                <a:solidFill>
                  <a:schemeClr val="bg1"/>
                </a:solidFill>
              </a:rPr>
              <a:t>ロックなし（競合状態）</a:t>
            </a:r>
            <a:endParaRPr lang="ja-JP" altLang="ja-JP" sz="2800" dirty="0">
              <a:solidFill>
                <a:schemeClr val="bg1"/>
              </a:solidFill>
            </a:endParaRPr>
          </a:p>
          <a:p>
            <a:pPr marL="914400" lvl="1" indent="-457200">
              <a:spcAft>
                <a:spcPts val="600"/>
              </a:spcAft>
              <a:buFont typeface="Arial" panose="020B0604020202020204" pitchFamily="34" charset="0"/>
              <a:buChar char="•"/>
            </a:pPr>
            <a:r>
              <a:rPr lang="ja-JP" altLang="ja-JP" sz="2800" dirty="0">
                <a:solidFill>
                  <a:schemeClr val="bg1"/>
                </a:solidFill>
              </a:rPr>
              <a:t>作業員AとBが</a:t>
            </a:r>
            <a:r>
              <a:rPr lang="ja-JP" altLang="ja-JP" sz="2800" b="1" dirty="0">
                <a:solidFill>
                  <a:schemeClr val="bg1"/>
                </a:solidFill>
              </a:rPr>
              <a:t>同時に</a:t>
            </a:r>
            <a:r>
              <a:rPr lang="ja-JP" altLang="ja-JP" sz="2800" dirty="0">
                <a:solidFill>
                  <a:schemeClr val="bg1"/>
                </a:solidFill>
              </a:rPr>
              <a:t>部屋に入る。</a:t>
            </a:r>
          </a:p>
          <a:p>
            <a:pPr marL="914400" lvl="1" indent="-457200">
              <a:spcAft>
                <a:spcPts val="600"/>
              </a:spcAft>
              <a:buFont typeface="Arial" panose="020B0604020202020204" pitchFamily="34" charset="0"/>
              <a:buChar char="•"/>
            </a:pPr>
            <a:r>
              <a:rPr lang="ja-JP" altLang="ja-JP" sz="2800" dirty="0">
                <a:solidFill>
                  <a:schemeClr val="bg1"/>
                </a:solidFill>
              </a:rPr>
              <a:t>両方とも「10」を見て両方とも「11」に書き換える。</a:t>
            </a:r>
          </a:p>
          <a:p>
            <a:pPr marL="914400" lvl="1" indent="-457200">
              <a:spcAft>
                <a:spcPts val="600"/>
              </a:spcAft>
              <a:buFont typeface="Arial" panose="020B0604020202020204" pitchFamily="34" charset="0"/>
              <a:buChar char="•"/>
            </a:pPr>
            <a:r>
              <a:rPr lang="ja-JP" altLang="ja-JP" sz="2800" dirty="0">
                <a:solidFill>
                  <a:schemeClr val="bg1"/>
                </a:solidFill>
              </a:rPr>
              <a:t>結果：2回足したのに「11」になる（</a:t>
            </a:r>
            <a:r>
              <a:rPr lang="ja-JP" altLang="en-US" sz="2800" dirty="0">
                <a:solidFill>
                  <a:schemeClr val="bg1"/>
                </a:solidFill>
              </a:rPr>
              <a:t>データ崩壊</a:t>
            </a:r>
            <a:r>
              <a:rPr lang="ja-JP" altLang="ja-JP" sz="2800" dirty="0">
                <a:solidFill>
                  <a:schemeClr val="bg1"/>
                </a:solidFill>
              </a:rPr>
              <a:t>）</a:t>
            </a:r>
          </a:p>
          <a:p>
            <a:pPr>
              <a:spcAft>
                <a:spcPts val="1200"/>
              </a:spcAft>
            </a:pPr>
            <a:r>
              <a:rPr lang="ja-JP" altLang="ja-JP" sz="2800" b="1" dirty="0">
                <a:solidFill>
                  <a:schemeClr val="bg1"/>
                </a:solidFill>
              </a:rPr>
              <a:t>ロックあり（排他制御）</a:t>
            </a:r>
            <a:endParaRPr lang="ja-JP" altLang="ja-JP" sz="2800" dirty="0">
              <a:solidFill>
                <a:schemeClr val="bg1"/>
              </a:solidFill>
            </a:endParaRPr>
          </a:p>
          <a:p>
            <a:pPr marL="914400" lvl="1" indent="-457200">
              <a:buFont typeface="Arial" panose="020B0604020202020204" pitchFamily="34" charset="0"/>
              <a:buChar char="•"/>
            </a:pPr>
            <a:r>
              <a:rPr lang="ja-JP" altLang="ja-JP" sz="2800" dirty="0">
                <a:solidFill>
                  <a:schemeClr val="bg1"/>
                </a:solidFill>
              </a:rPr>
              <a:t>部屋に「1つしかないカギ」を設置</a:t>
            </a:r>
            <a:r>
              <a:rPr lang="ja-JP" altLang="en-US" sz="2800" dirty="0">
                <a:solidFill>
                  <a:schemeClr val="bg1"/>
                </a:solidFill>
              </a:rPr>
              <a:t>し</a:t>
            </a:r>
            <a:r>
              <a:rPr lang="ja-JP" altLang="ja-JP" sz="2800" dirty="0">
                <a:solidFill>
                  <a:schemeClr val="bg1"/>
                </a:solidFill>
              </a:rPr>
              <a:t>Aがカギをかけて入室中、</a:t>
            </a:r>
            <a:endParaRPr lang="en-US" altLang="ja-JP" sz="2800" dirty="0">
              <a:solidFill>
                <a:schemeClr val="bg1"/>
              </a:solidFill>
            </a:endParaRPr>
          </a:p>
          <a:p>
            <a:pPr lvl="1">
              <a:spcAft>
                <a:spcPts val="600"/>
              </a:spcAft>
            </a:pPr>
            <a:r>
              <a:rPr lang="ja-JP" altLang="en-US" sz="2800" dirty="0">
                <a:solidFill>
                  <a:schemeClr val="bg1"/>
                </a:solidFill>
              </a:rPr>
              <a:t>　　</a:t>
            </a:r>
            <a:r>
              <a:rPr lang="ja-JP" altLang="ja-JP" sz="2800" dirty="0">
                <a:solidFill>
                  <a:schemeClr val="bg1"/>
                </a:solidFill>
              </a:rPr>
              <a:t>Bは外で待機。</a:t>
            </a:r>
          </a:p>
          <a:p>
            <a:pPr marL="914400" lvl="1" indent="-457200">
              <a:spcAft>
                <a:spcPts val="600"/>
              </a:spcAft>
              <a:buFont typeface="Arial" panose="020B0604020202020204" pitchFamily="34" charset="0"/>
              <a:buChar char="•"/>
            </a:pPr>
            <a:r>
              <a:rPr lang="ja-JP" altLang="ja-JP" sz="2800" dirty="0">
                <a:solidFill>
                  <a:schemeClr val="bg1"/>
                </a:solidFill>
              </a:rPr>
              <a:t>Aが「11」にして退室</a:t>
            </a:r>
            <a:r>
              <a:rPr lang="ja-JP" altLang="en-US" sz="2800" dirty="0">
                <a:solidFill>
                  <a:schemeClr val="bg1"/>
                </a:solidFill>
              </a:rPr>
              <a:t>、</a:t>
            </a:r>
            <a:r>
              <a:rPr lang="ja-JP" altLang="ja-JP" sz="2800" dirty="0">
                <a:solidFill>
                  <a:schemeClr val="bg1"/>
                </a:solidFill>
              </a:rPr>
              <a:t>その後カギを得たBが入室して「12」</a:t>
            </a:r>
            <a:br>
              <a:rPr lang="en-US" altLang="ja-JP" sz="2800" dirty="0">
                <a:solidFill>
                  <a:schemeClr val="bg1"/>
                </a:solidFill>
              </a:rPr>
            </a:br>
            <a:r>
              <a:rPr lang="ja-JP" altLang="ja-JP" sz="2800" dirty="0">
                <a:solidFill>
                  <a:schemeClr val="bg1"/>
                </a:solidFill>
              </a:rPr>
              <a:t>にする。</a:t>
            </a:r>
          </a:p>
          <a:p>
            <a:pPr marL="914400" lvl="1" indent="-457200">
              <a:buFont typeface="Arial" panose="020B0604020202020204" pitchFamily="34" charset="0"/>
              <a:buChar char="•"/>
            </a:pPr>
            <a:r>
              <a:rPr lang="ja-JP" altLang="ja-JP" sz="2800" dirty="0">
                <a:solidFill>
                  <a:schemeClr val="bg1"/>
                </a:solidFill>
              </a:rPr>
              <a:t>結果：強制的に1人ずつ作業させることでデータが守られる。</a:t>
            </a:r>
          </a:p>
          <a:p>
            <a:endParaRPr kumimoji="1" lang="ja-JP" altLang="en-US" dirty="0">
              <a:solidFill>
                <a:schemeClr val="bg1"/>
              </a:solidFill>
            </a:endParaRPr>
          </a:p>
        </p:txBody>
      </p:sp>
    </p:spTree>
    <p:extLst>
      <p:ext uri="{BB962C8B-B14F-4D97-AF65-F5344CB8AC3E}">
        <p14:creationId xmlns:p14="http://schemas.microsoft.com/office/powerpoint/2010/main" val="209019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1516-DDAF-1F0A-E8F9-6CE0DF624421}"/>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0ED4F-41BD-662F-D9E2-6D7AB2942752}"/>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おまけ</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4" name="テキスト ボックス 3">
            <a:extLst>
              <a:ext uri="{FF2B5EF4-FFF2-40B4-BE49-F238E27FC236}">
                <a16:creationId xmlns:a16="http://schemas.microsoft.com/office/drawing/2014/main" id="{DFA9FAF6-12AB-84E5-0CDE-22EDA3EF6E71}"/>
              </a:ext>
            </a:extLst>
          </p:cNvPr>
          <p:cNvSpPr txBox="1"/>
          <p:nvPr/>
        </p:nvSpPr>
        <p:spPr>
          <a:xfrm>
            <a:off x="4058433" y="1114816"/>
            <a:ext cx="4509370" cy="646331"/>
          </a:xfrm>
          <a:prstGeom prst="rect">
            <a:avLst/>
          </a:prstGeom>
          <a:solidFill>
            <a:schemeClr val="accent3">
              <a:lumMod val="90000"/>
            </a:schemeClr>
          </a:solidFill>
        </p:spPr>
        <p:txBody>
          <a:bodyPr wrap="square" rtlCol="0">
            <a:spAutoFit/>
          </a:bodyPr>
          <a:lstStyle/>
          <a:p>
            <a:pPr algn="ctr"/>
            <a:r>
              <a:rPr lang="ja-JP" altLang="ja-JP" sz="3600" dirty="0"/>
              <a:t>①数字を読む </a:t>
            </a:r>
            <a:endParaRPr kumimoji="1" lang="ja-JP" altLang="en-US" sz="3600" dirty="0"/>
          </a:p>
        </p:txBody>
      </p:sp>
      <p:sp>
        <p:nvSpPr>
          <p:cNvPr id="5" name="テキスト ボックス 4">
            <a:extLst>
              <a:ext uri="{FF2B5EF4-FFF2-40B4-BE49-F238E27FC236}">
                <a16:creationId xmlns:a16="http://schemas.microsoft.com/office/drawing/2014/main" id="{6A686647-E9ED-84B2-9270-BAEE49B883C1}"/>
              </a:ext>
            </a:extLst>
          </p:cNvPr>
          <p:cNvSpPr txBox="1"/>
          <p:nvPr/>
        </p:nvSpPr>
        <p:spPr>
          <a:xfrm>
            <a:off x="4058433" y="3044279"/>
            <a:ext cx="4509370" cy="646331"/>
          </a:xfrm>
          <a:prstGeom prst="rect">
            <a:avLst/>
          </a:prstGeom>
          <a:solidFill>
            <a:schemeClr val="accent3">
              <a:lumMod val="90000"/>
            </a:schemeClr>
          </a:solidFill>
        </p:spPr>
        <p:txBody>
          <a:bodyPr wrap="square" rtlCol="0">
            <a:spAutoFit/>
          </a:bodyPr>
          <a:lstStyle/>
          <a:p>
            <a:pPr algn="ctr"/>
            <a:r>
              <a:rPr lang="ja-JP" altLang="ja-JP" sz="3600" dirty="0"/>
              <a:t>②足し算する </a:t>
            </a:r>
            <a:endParaRPr lang="ja-JP" altLang="en-US" sz="3600" dirty="0"/>
          </a:p>
        </p:txBody>
      </p:sp>
      <p:sp>
        <p:nvSpPr>
          <p:cNvPr id="6" name="テキスト ボックス 5">
            <a:extLst>
              <a:ext uri="{FF2B5EF4-FFF2-40B4-BE49-F238E27FC236}">
                <a16:creationId xmlns:a16="http://schemas.microsoft.com/office/drawing/2014/main" id="{D3FF530A-A4CA-1868-E993-40EB9FB47C71}"/>
              </a:ext>
            </a:extLst>
          </p:cNvPr>
          <p:cNvSpPr txBox="1"/>
          <p:nvPr/>
        </p:nvSpPr>
        <p:spPr>
          <a:xfrm>
            <a:off x="4058433" y="4973743"/>
            <a:ext cx="4509370" cy="646331"/>
          </a:xfrm>
          <a:prstGeom prst="rect">
            <a:avLst/>
          </a:prstGeom>
          <a:solidFill>
            <a:schemeClr val="accent3">
              <a:lumMod val="90000"/>
            </a:schemeClr>
          </a:solidFill>
        </p:spPr>
        <p:txBody>
          <a:bodyPr wrap="square" rtlCol="0">
            <a:spAutoFit/>
          </a:bodyPr>
          <a:lstStyle/>
          <a:p>
            <a:pPr algn="ctr"/>
            <a:r>
              <a:rPr lang="ja-JP" altLang="ja-JP" sz="3600" dirty="0"/>
              <a:t>③書き込む</a:t>
            </a:r>
            <a:endParaRPr lang="ja-JP" altLang="en-US" sz="3600" dirty="0"/>
          </a:p>
        </p:txBody>
      </p:sp>
      <p:cxnSp>
        <p:nvCxnSpPr>
          <p:cNvPr id="8" name="直線矢印コネクタ 7">
            <a:extLst>
              <a:ext uri="{FF2B5EF4-FFF2-40B4-BE49-F238E27FC236}">
                <a16:creationId xmlns:a16="http://schemas.microsoft.com/office/drawing/2014/main" id="{C48537B2-A519-A5F8-F2DD-78EE1C5C39E4}"/>
              </a:ext>
            </a:extLst>
          </p:cNvPr>
          <p:cNvCxnSpPr>
            <a:cxnSpLocks/>
          </p:cNvCxnSpPr>
          <p:nvPr/>
        </p:nvCxnSpPr>
        <p:spPr>
          <a:xfrm>
            <a:off x="6325644" y="1899479"/>
            <a:ext cx="0" cy="1144800"/>
          </a:xfrm>
          <a:prstGeom prst="straightConnector1">
            <a:avLst/>
          </a:pr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直線矢印コネクタ 10">
            <a:extLst>
              <a:ext uri="{FF2B5EF4-FFF2-40B4-BE49-F238E27FC236}">
                <a16:creationId xmlns:a16="http://schemas.microsoft.com/office/drawing/2014/main" id="{17CB6326-7299-E37B-0FE4-6CFB81660697}"/>
              </a:ext>
            </a:extLst>
          </p:cNvPr>
          <p:cNvCxnSpPr>
            <a:cxnSpLocks/>
          </p:cNvCxnSpPr>
          <p:nvPr/>
        </p:nvCxnSpPr>
        <p:spPr>
          <a:xfrm>
            <a:off x="6325644" y="3829307"/>
            <a:ext cx="0" cy="1144436"/>
          </a:xfrm>
          <a:prstGeom prst="straightConnector1">
            <a:avLst/>
          </a:pr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四角形: 角を丸くする 17">
            <a:extLst>
              <a:ext uri="{FF2B5EF4-FFF2-40B4-BE49-F238E27FC236}">
                <a16:creationId xmlns:a16="http://schemas.microsoft.com/office/drawing/2014/main" id="{267893BB-FF6D-C9B1-6477-D5CE57D3D37F}"/>
              </a:ext>
            </a:extLst>
          </p:cNvPr>
          <p:cNvSpPr/>
          <p:nvPr/>
        </p:nvSpPr>
        <p:spPr>
          <a:xfrm>
            <a:off x="3131507" y="661703"/>
            <a:ext cx="6363222" cy="3423663"/>
          </a:xfrm>
          <a:prstGeom prst="roundRect">
            <a:avLst/>
          </a:prstGeom>
          <a:noFill/>
          <a:ln w="38100" cap="flat" cmpd="sng" algn="ctr">
            <a:solidFill>
              <a:schemeClr val="accent6">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ED4AA2E-B37D-0A13-6F39-153AB8D0627E}"/>
              </a:ext>
            </a:extLst>
          </p:cNvPr>
          <p:cNvSpPr txBox="1"/>
          <p:nvPr/>
        </p:nvSpPr>
        <p:spPr>
          <a:xfrm>
            <a:off x="8804371" y="1137312"/>
            <a:ext cx="553998" cy="2714491"/>
          </a:xfrm>
          <a:prstGeom prst="rect">
            <a:avLst/>
          </a:prstGeom>
          <a:noFill/>
        </p:spPr>
        <p:txBody>
          <a:bodyPr vert="eaVert" wrap="square" rtlCol="0">
            <a:spAutoFit/>
          </a:bodyPr>
          <a:lstStyle/>
          <a:p>
            <a:r>
              <a:rPr lang="ja-JP" altLang="en-US" sz="2400" dirty="0">
                <a:solidFill>
                  <a:schemeClr val="bg1"/>
                </a:solidFill>
              </a:rPr>
              <a:t>別スレッドが介入</a:t>
            </a:r>
          </a:p>
        </p:txBody>
      </p:sp>
      <p:sp>
        <p:nvSpPr>
          <p:cNvPr id="24" name="テキスト ボックス 23">
            <a:extLst>
              <a:ext uri="{FF2B5EF4-FFF2-40B4-BE49-F238E27FC236}">
                <a16:creationId xmlns:a16="http://schemas.microsoft.com/office/drawing/2014/main" id="{C9C2A02A-193A-06C2-AB6B-1170615D078B}"/>
              </a:ext>
            </a:extLst>
          </p:cNvPr>
          <p:cNvSpPr txBox="1"/>
          <p:nvPr/>
        </p:nvSpPr>
        <p:spPr>
          <a:xfrm>
            <a:off x="2806542" y="4973742"/>
            <a:ext cx="7288723" cy="707886"/>
          </a:xfrm>
          <a:prstGeom prst="rect">
            <a:avLst/>
          </a:prstGeom>
          <a:solidFill>
            <a:schemeClr val="accent3">
              <a:lumMod val="90000"/>
            </a:schemeClr>
          </a:solidFill>
        </p:spPr>
        <p:txBody>
          <a:bodyPr wrap="square" rtlCol="0">
            <a:spAutoFit/>
          </a:bodyPr>
          <a:lstStyle/>
          <a:p>
            <a:pPr algn="ctr"/>
            <a:r>
              <a:rPr lang="ja-JP" altLang="en-US" sz="4000" b="1" dirty="0"/>
              <a:t>上書きになってしまい不整合性に</a:t>
            </a:r>
            <a:endParaRPr lang="ja-JP" altLang="en-US" sz="4000" b="1" dirty="0">
              <a:solidFill>
                <a:schemeClr val="bg1"/>
              </a:solidFill>
            </a:endParaRPr>
          </a:p>
        </p:txBody>
      </p:sp>
    </p:spTree>
    <p:extLst>
      <p:ext uri="{BB962C8B-B14F-4D97-AF65-F5344CB8AC3E}">
        <p14:creationId xmlns:p14="http://schemas.microsoft.com/office/powerpoint/2010/main" val="158809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D7BC-2F4E-31ED-72D0-61EFF91AD0F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82639-0971-02B0-4118-E6F46C84968F}"/>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まとめ</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039BD9AB-9001-B99B-28EC-2D59AA6253DF}"/>
              </a:ext>
            </a:extLst>
          </p:cNvPr>
          <p:cNvSpPr txBox="1"/>
          <p:nvPr/>
        </p:nvSpPr>
        <p:spPr>
          <a:xfrm>
            <a:off x="1470554" y="1217603"/>
            <a:ext cx="10721446" cy="3631763"/>
          </a:xfrm>
          <a:prstGeom prst="rect">
            <a:avLst/>
          </a:prstGeom>
          <a:noFill/>
        </p:spPr>
        <p:txBody>
          <a:bodyPr wrap="square">
            <a:spAutoFit/>
          </a:bodyPr>
          <a:lstStyle/>
          <a:p>
            <a:pPr>
              <a:spcAft>
                <a:spcPts val="1200"/>
              </a:spcAft>
            </a:pPr>
            <a:r>
              <a:rPr lang="ja-JP" altLang="en-US" sz="2800" b="1" dirty="0">
                <a:solidFill>
                  <a:schemeClr val="bg1"/>
                </a:solidFill>
              </a:rPr>
              <a:t>概念</a:t>
            </a:r>
            <a:endParaRPr lang="en-US" altLang="ja-JP" sz="2800" b="1" dirty="0">
              <a:solidFill>
                <a:schemeClr val="bg1"/>
              </a:solidFill>
            </a:endParaRPr>
          </a:p>
          <a:p>
            <a:pPr marL="800100" lvl="1" indent="-342900">
              <a:spcAft>
                <a:spcPts val="1200"/>
              </a:spcAft>
              <a:buFont typeface="Arial" panose="020B0604020202020204" pitchFamily="34" charset="0"/>
              <a:buChar char="•"/>
            </a:pPr>
            <a:r>
              <a:rPr lang="ja-JP" altLang="en-US" sz="2400" dirty="0">
                <a:solidFill>
                  <a:schemeClr val="bg1"/>
                </a:solidFill>
              </a:rPr>
              <a:t>排他制御の一つであり鍵かけによって実現する手段であること。</a:t>
            </a:r>
            <a:endParaRPr lang="en-US" altLang="ja-JP" sz="2400" dirty="0">
              <a:solidFill>
                <a:schemeClr val="bg1"/>
              </a:solidFill>
            </a:endParaRPr>
          </a:p>
          <a:p>
            <a:pPr>
              <a:spcAft>
                <a:spcPts val="1200"/>
              </a:spcAft>
            </a:pPr>
            <a:r>
              <a:rPr lang="ja-JP" altLang="en-US" sz="2800" b="1" dirty="0">
                <a:solidFill>
                  <a:schemeClr val="bg1"/>
                </a:solidFill>
              </a:rPr>
              <a:t>必要性</a:t>
            </a:r>
            <a:endParaRPr lang="en-US" altLang="ja-JP" sz="2800" b="1" dirty="0">
              <a:solidFill>
                <a:schemeClr val="bg1"/>
              </a:solidFill>
            </a:endParaRPr>
          </a:p>
          <a:p>
            <a:pPr marL="800100" lvl="1" indent="-342900">
              <a:spcAft>
                <a:spcPts val="1200"/>
              </a:spcAft>
              <a:buFont typeface="Arial" panose="020B0604020202020204" pitchFamily="34" charset="0"/>
              <a:buChar char="•"/>
            </a:pPr>
            <a:r>
              <a:rPr lang="ja-JP" altLang="en-US" sz="2400" dirty="0">
                <a:solidFill>
                  <a:schemeClr val="bg1"/>
                </a:solidFill>
              </a:rPr>
              <a:t>複数スレッドの同時アクセスによりデータが壊れること（不整合）を防ぐこと。</a:t>
            </a:r>
            <a:endParaRPr lang="en-US" altLang="ja-JP" sz="2400" dirty="0">
              <a:solidFill>
                <a:schemeClr val="bg1"/>
              </a:solidFill>
            </a:endParaRPr>
          </a:p>
          <a:p>
            <a:pPr>
              <a:spcAft>
                <a:spcPts val="1200"/>
              </a:spcAft>
            </a:pPr>
            <a:r>
              <a:rPr lang="ja-JP" altLang="en-US" sz="2800" b="1" dirty="0">
                <a:solidFill>
                  <a:schemeClr val="bg1"/>
                </a:solidFill>
              </a:rPr>
              <a:t>仕組み</a:t>
            </a:r>
            <a:endParaRPr lang="en-US" altLang="ja-JP" sz="2800" b="1" dirty="0">
              <a:solidFill>
                <a:schemeClr val="bg1"/>
              </a:solidFill>
            </a:endParaRPr>
          </a:p>
          <a:p>
            <a:pPr marL="800100" lvl="1" indent="-342900">
              <a:spcAft>
                <a:spcPts val="1200"/>
              </a:spcAft>
              <a:buFont typeface="Arial" panose="020B0604020202020204" pitchFamily="34" charset="0"/>
              <a:buChar char="•"/>
            </a:pPr>
            <a:r>
              <a:rPr lang="ja-JP" altLang="ja-JP" sz="2400" dirty="0">
                <a:solidFill>
                  <a:schemeClr val="bg1"/>
                </a:solidFill>
              </a:rPr>
              <a:t>カギを取得した1つのスレッドだけが処理を行い、</a:t>
            </a:r>
            <a:r>
              <a:rPr lang="ja-JP" altLang="en-US" sz="2400" dirty="0">
                <a:solidFill>
                  <a:schemeClr val="bg1"/>
                </a:solidFill>
              </a:rPr>
              <a:t>他は</a:t>
            </a:r>
            <a:r>
              <a:rPr lang="ja-JP" altLang="ja-JP" sz="2400" dirty="0">
                <a:solidFill>
                  <a:schemeClr val="bg1"/>
                </a:solidFill>
              </a:rPr>
              <a:t>外で待機（ブロック）させる仕組み。</a:t>
            </a:r>
            <a:endParaRPr lang="en-US" altLang="ja-JP" sz="2400" dirty="0">
              <a:solidFill>
                <a:schemeClr val="bg1"/>
              </a:solidFill>
            </a:endParaRPr>
          </a:p>
        </p:txBody>
      </p:sp>
    </p:spTree>
    <p:extLst>
      <p:ext uri="{BB962C8B-B14F-4D97-AF65-F5344CB8AC3E}">
        <p14:creationId xmlns:p14="http://schemas.microsoft.com/office/powerpoint/2010/main" val="2162761959"/>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9128</TotalTime>
  <Words>717</Words>
  <Application>Microsoft Office PowerPoint</Application>
  <PresentationFormat>ワイド画面</PresentationFormat>
  <Paragraphs>41</Paragraphs>
  <Slides>5</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Meiryo UI</vt:lpstr>
      <vt:lpstr>Arial</vt:lpstr>
      <vt:lpstr>ユーザー設定</vt:lpstr>
      <vt:lpstr>ロックについて</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375</cp:revision>
  <dcterms:created xsi:type="dcterms:W3CDTF">2026-04-22T00:57:43Z</dcterms:created>
  <dcterms:modified xsi:type="dcterms:W3CDTF">2026-06-29T04:09:26Z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