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84" r:id="rId9"/>
    <p:sldId id="260" r:id="rId10"/>
    <p:sldId id="261" r:id="rId11"/>
    <p:sldId id="262" r:id="rId12"/>
    <p:sldId id="263" r:id="rId13"/>
    <p:sldId id="266" r:id="rId14"/>
    <p:sldId id="267" r:id="rId15"/>
    <p:sldId id="285" r:id="rId16"/>
    <p:sldId id="268" r:id="rId17"/>
    <p:sldId id="269" r:id="rId18"/>
    <p:sldId id="270" r:id="rId19"/>
    <p:sldId id="278" r:id="rId20"/>
    <p:sldId id="271" r:id="rId21"/>
    <p:sldId id="27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16527-5F03-44F0-889D-456C146F6FFB}" v="10" dt="2025-12-01T05:28:12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8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71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84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90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841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36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6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9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8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54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92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659A775-6325-4700-9B15-94142B3D992F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76834A-237A-4FA9-8AED-FE48F46DA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92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vrwqkPdEViCvAs2KpbdUCGovH6B_8tmb0zdfIIwn_Be2gXQ/viewform?usp=sharing&amp;ouid=10636889165127271705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66338-703D-0DD6-E220-DC14AA9B6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232" y="889460"/>
            <a:ext cx="10058400" cy="3566160"/>
          </a:xfrm>
        </p:spPr>
        <p:txBody>
          <a:bodyPr/>
          <a:lstStyle/>
          <a:p>
            <a:r>
              <a:rPr kumimoji="1" lang="ja-JP" altLang="en-US"/>
              <a:t>研究協力のお願い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2350C1-4F3B-E973-90F3-9CF67E760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2232" y="4644806"/>
            <a:ext cx="10058400" cy="1143000"/>
          </a:xfrm>
        </p:spPr>
        <p:txBody>
          <a:bodyPr>
            <a:normAutofit/>
          </a:bodyPr>
          <a:lstStyle/>
          <a:p>
            <a:r>
              <a:rPr kumimoji="1" lang="ja-JP" altLang="en-US" sz="4000"/>
              <a:t>～プラットフォームの使い方について～</a:t>
            </a:r>
          </a:p>
        </p:txBody>
      </p:sp>
    </p:spTree>
    <p:extLst>
      <p:ext uri="{BB962C8B-B14F-4D97-AF65-F5344CB8AC3E}">
        <p14:creationId xmlns:p14="http://schemas.microsoft.com/office/powerpoint/2010/main" val="111316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46448-F8C7-954C-3B89-454F8B73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10DEEE-D72C-BEFC-164A-2057ACF25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38774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4200"/>
              <a:t>マンガを通じた学びの効果を検証</a:t>
            </a:r>
            <a:endParaRPr lang="en-US" altLang="ja-JP" sz="420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4200"/>
              <a:t>グリット</a:t>
            </a:r>
            <a:r>
              <a:rPr lang="en-US" altLang="ja-JP" sz="4200"/>
              <a:t>(</a:t>
            </a:r>
            <a:r>
              <a:rPr lang="ja-JP" altLang="en-US" sz="4200"/>
              <a:t>やり抜く力</a:t>
            </a:r>
            <a:r>
              <a:rPr lang="en-US" altLang="ja-JP" sz="4200"/>
              <a:t>)</a:t>
            </a:r>
            <a:r>
              <a:rPr lang="ja-JP" altLang="en-US" sz="4200"/>
              <a:t>を測定・向上</a:t>
            </a:r>
            <a:endParaRPr lang="en-US" altLang="ja-JP" sz="420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4200"/>
              <a:t>コミュニティでの交流を通じた成長</a:t>
            </a:r>
            <a:endParaRPr kumimoji="1" lang="ja-JP" altLang="en-US" sz="4200"/>
          </a:p>
        </p:txBody>
      </p:sp>
    </p:spTree>
    <p:extLst>
      <p:ext uri="{BB962C8B-B14F-4D97-AF65-F5344CB8AC3E}">
        <p14:creationId xmlns:p14="http://schemas.microsoft.com/office/powerpoint/2010/main" val="423202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84ED9C-7918-D16F-EA14-E3E06BAE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なにをするの？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B8C357-5512-ADC2-EA72-FB0390F0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396" y="2122457"/>
            <a:ext cx="10058400" cy="625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sz="4000" b="1" u="sng"/>
              <a:t>プラットフォームを使ってほしい！</a:t>
            </a: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F1D0F082-1885-D888-0F9A-91CB5CE469A9}"/>
              </a:ext>
            </a:extLst>
          </p:cNvPr>
          <p:cNvSpPr/>
          <p:nvPr/>
        </p:nvSpPr>
        <p:spPr>
          <a:xfrm>
            <a:off x="4610910" y="2913950"/>
            <a:ext cx="1076528" cy="11965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F19C5E-597F-827F-E07D-17783FE840EB}"/>
              </a:ext>
            </a:extLst>
          </p:cNvPr>
          <p:cNvSpPr txBox="1"/>
          <p:nvPr/>
        </p:nvSpPr>
        <p:spPr>
          <a:xfrm>
            <a:off x="1637165" y="4276853"/>
            <a:ext cx="8978630" cy="1485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ja-JP" altLang="en-US" sz="3200"/>
              <a:t>マンガから学んだシーンなどを投稿・共有　</a:t>
            </a:r>
            <a:endParaRPr lang="en-US" altLang="ja-JP" sz="32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ja-JP" altLang="en-US" sz="3200"/>
              <a:t>他の人の投稿にコメント・いいね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178656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19C71-73E7-A10A-30CB-65481D58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プラットフォームの特徴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6D9B99-E0E1-EBA9-ECB3-11DF0EF1D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74323"/>
            <a:ext cx="10058400" cy="455586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3200"/>
              <a:t>マンガシーンの投稿・共有</a:t>
            </a:r>
            <a:endParaRPr lang="en-US" altLang="ja-JP" sz="3200"/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3200"/>
              <a:t>ポイント制度</a:t>
            </a:r>
            <a:endParaRPr lang="en-US" altLang="ja-JP" sz="3200"/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3200"/>
              <a:t>グリット測定</a:t>
            </a:r>
            <a:endParaRPr kumimoji="1" lang="ja-JP" altLang="en-US" sz="32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AEE439-0E88-324E-E3B5-0FECA0E1D18D}"/>
              </a:ext>
            </a:extLst>
          </p:cNvPr>
          <p:cNvSpPr txBox="1"/>
          <p:nvPr/>
        </p:nvSpPr>
        <p:spPr>
          <a:xfrm>
            <a:off x="1475362" y="2531066"/>
            <a:ext cx="4721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ja-JP" altLang="en-US" sz="2400"/>
              <a:t>他の人の投稿にコメント・いいね</a:t>
            </a:r>
            <a:endParaRPr kumimoji="1" lang="ja-JP" altLang="en-US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014746-31D5-E654-3056-D049A29E42A4}"/>
              </a:ext>
            </a:extLst>
          </p:cNvPr>
          <p:cNvSpPr txBox="1"/>
          <p:nvPr/>
        </p:nvSpPr>
        <p:spPr>
          <a:xfrm>
            <a:off x="1475362" y="3717423"/>
            <a:ext cx="6763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ja-JP" altLang="en-US" sz="2400"/>
              <a:t>投稿・コメント・いいねでポイント獲得</a:t>
            </a:r>
            <a:endParaRPr lang="en-US" altLang="ja-JP" sz="240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ja-JP" altLang="en-US" sz="2400"/>
              <a:t>デイリー</a:t>
            </a:r>
            <a:r>
              <a:rPr lang="en-US" altLang="ja-JP" sz="2400"/>
              <a:t>/</a:t>
            </a:r>
            <a:r>
              <a:rPr lang="ja-JP" altLang="en-US" sz="2400"/>
              <a:t>ウィークリーミッション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C584C4-D51A-85D6-5F2B-C27B0E76CFD5}"/>
              </a:ext>
            </a:extLst>
          </p:cNvPr>
          <p:cNvSpPr txBox="1"/>
          <p:nvPr/>
        </p:nvSpPr>
        <p:spPr>
          <a:xfrm>
            <a:off x="1475362" y="5224569"/>
            <a:ext cx="6763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ja-JP" altLang="en-US" sz="2400"/>
              <a:t>事前・事後でやり抜く力を測定 </a:t>
            </a:r>
            <a:endParaRPr lang="en-US" altLang="ja-JP" sz="2400"/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ja-JP" altLang="en-US" sz="2400"/>
              <a:t>自分の成長を可視化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06511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BF32-798B-1845-D079-F09188C9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20BCB-77CC-8FFB-C14D-1D1088B4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F4C023-8EEA-5C92-F8CC-A6960312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74323"/>
            <a:ext cx="10058400" cy="4555860"/>
          </a:xfrm>
        </p:spPr>
        <p:txBody>
          <a:bodyPr>
            <a:noAutofit/>
          </a:bodyPr>
          <a:lstStyle/>
          <a:p>
            <a:pPr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ja-JP" altLang="en-US" sz="4000"/>
              <a:t>事前アンケート、事前測定</a:t>
            </a:r>
            <a:endParaRPr lang="en-US" altLang="ja-JP" sz="4000"/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en-US" altLang="ja-JP" sz="4000"/>
              <a:t>1</a:t>
            </a:r>
            <a:r>
              <a:rPr lang="ja-JP" altLang="en-US" sz="4000"/>
              <a:t>ヶ月（</a:t>
            </a:r>
            <a:r>
              <a:rPr lang="en-US" altLang="ja-JP" sz="4000"/>
              <a:t>12/1</a:t>
            </a:r>
            <a:r>
              <a:rPr lang="ja-JP" altLang="en-US" sz="4000"/>
              <a:t>～）使ってもらう</a:t>
            </a:r>
            <a:endParaRPr lang="en-US" altLang="ja-JP" sz="4000"/>
          </a:p>
          <a:p>
            <a:pPr>
              <a:lnSpc>
                <a:spcPct val="250000"/>
              </a:lnSpc>
            </a:pPr>
            <a:r>
              <a:rPr kumimoji="1" lang="ja-JP" altLang="en-US" sz="4000"/>
              <a:t>事後アンケート、事後測定</a:t>
            </a: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21604D75-33F2-418E-44AC-D12DBA7D47A3}"/>
              </a:ext>
            </a:extLst>
          </p:cNvPr>
          <p:cNvSpPr/>
          <p:nvPr/>
        </p:nvSpPr>
        <p:spPr>
          <a:xfrm>
            <a:off x="3978613" y="2725080"/>
            <a:ext cx="950211" cy="898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02891E99-A122-0AF7-B4E6-BE008D991317}"/>
              </a:ext>
            </a:extLst>
          </p:cNvPr>
          <p:cNvSpPr/>
          <p:nvPr/>
        </p:nvSpPr>
        <p:spPr>
          <a:xfrm>
            <a:off x="3978612" y="4515361"/>
            <a:ext cx="950211" cy="8988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150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D052C3-E63C-2D62-DCFD-0C02BBBE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最初にやってほしいこと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3DBDB4-40C9-AD3A-A412-776932F0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374" y="1845734"/>
            <a:ext cx="5274337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4400"/>
              <a:t>事前</a:t>
            </a:r>
            <a:r>
              <a:rPr kumimoji="1" lang="ja-JP" altLang="en-US" sz="4400"/>
              <a:t>アンケート</a:t>
            </a:r>
            <a:endParaRPr kumimoji="1" lang="en-US" altLang="ja-JP" sz="44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ja-JP" altLang="en-US" sz="4400"/>
              <a:t>アカウントの作成</a:t>
            </a:r>
            <a:endParaRPr kumimoji="1" lang="en-US" altLang="ja-JP" sz="44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ja-JP" altLang="en-US" sz="4400"/>
              <a:t>事前測定</a:t>
            </a:r>
            <a:endParaRPr kumimoji="1" lang="ja-JP" altLang="en-US" sz="4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C62220-843C-98C7-4E1D-D569625319FB}"/>
              </a:ext>
            </a:extLst>
          </p:cNvPr>
          <p:cNvSpPr txBox="1"/>
          <p:nvPr/>
        </p:nvSpPr>
        <p:spPr>
          <a:xfrm>
            <a:off x="7422205" y="3857414"/>
            <a:ext cx="3944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事前アンケートはこちらから</a:t>
            </a:r>
            <a:endParaRPr kumimoji="1" lang="en-US" altLang="ja-JP"/>
          </a:p>
          <a:p>
            <a:r>
              <a:rPr kumimoji="1" lang="en-US" altLang="ja-JP">
                <a:hlinkClick r:id="rId2"/>
              </a:rPr>
              <a:t>https://docs.google.com/forms/d/e/1FAIpQLSevrwqkPdEViCvAs2KpbdUCGovH6B_8tmb0zdfIIwn_Be2gXQ/viewform?usp=sharing&amp;ouid=106368891651272717052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39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DC4C09-7316-F172-8DEE-BD781169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アカウント作成の仕方①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418736A-CFCF-CA8A-7E04-A530E4694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944" y="1737360"/>
            <a:ext cx="4274653" cy="40227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C7E5D25-2981-4202-02DF-D619E0EAD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511" y="1926811"/>
            <a:ext cx="3934485" cy="4022725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5965CE69-DE2E-C96D-E52C-7BA54EE047BD}"/>
              </a:ext>
            </a:extLst>
          </p:cNvPr>
          <p:cNvSpPr/>
          <p:nvPr/>
        </p:nvSpPr>
        <p:spPr>
          <a:xfrm rot="7697667">
            <a:off x="3445398" y="4999161"/>
            <a:ext cx="492369" cy="7010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9C9C848B-9528-D9D0-86FC-F6AE02E8FE3C}"/>
              </a:ext>
            </a:extLst>
          </p:cNvPr>
          <p:cNvSpPr/>
          <p:nvPr/>
        </p:nvSpPr>
        <p:spPr>
          <a:xfrm rot="16200000">
            <a:off x="5603134" y="3049619"/>
            <a:ext cx="690664" cy="992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5F2ADA3F-A294-74C6-1C4B-E45243C0915D}"/>
              </a:ext>
            </a:extLst>
          </p:cNvPr>
          <p:cNvSpPr/>
          <p:nvPr/>
        </p:nvSpPr>
        <p:spPr>
          <a:xfrm rot="7697667">
            <a:off x="9326748" y="5820004"/>
            <a:ext cx="492369" cy="7010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7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CC55B-BF1E-7DA4-A296-77D2D227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アカウント作成の仕方②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140F966-933D-AE05-ABF1-A7038AF1D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1737360"/>
            <a:ext cx="3692593" cy="5084467"/>
          </a:xfrm>
          <a:prstGeom prst="rect">
            <a:avLst/>
          </a:prstGeom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180BBB25-7050-77E5-FF34-E17BF47BD45B}"/>
              </a:ext>
            </a:extLst>
          </p:cNvPr>
          <p:cNvSpPr/>
          <p:nvPr/>
        </p:nvSpPr>
        <p:spPr>
          <a:xfrm rot="7697667">
            <a:off x="4585350" y="4584634"/>
            <a:ext cx="492369" cy="701005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B40B8BE-EBB6-F7E0-8B88-47F5262C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188" y="2091647"/>
            <a:ext cx="5430974" cy="2899624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7BC25053-F7C5-084A-8540-B0A49F101F46}"/>
              </a:ext>
            </a:extLst>
          </p:cNvPr>
          <p:cNvSpPr/>
          <p:nvPr/>
        </p:nvSpPr>
        <p:spPr>
          <a:xfrm rot="16200000">
            <a:off x="5146719" y="2932889"/>
            <a:ext cx="690664" cy="992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F8766014-04F6-671F-3822-0AF107D7BDA2}"/>
              </a:ext>
            </a:extLst>
          </p:cNvPr>
          <p:cNvSpPr/>
          <p:nvPr/>
        </p:nvSpPr>
        <p:spPr>
          <a:xfrm rot="7697667">
            <a:off x="4563526" y="6155861"/>
            <a:ext cx="492369" cy="7010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DDBC5D-610F-7429-F7E6-C809AAD42BCF}"/>
              </a:ext>
            </a:extLst>
          </p:cNvPr>
          <p:cNvSpPr txBox="1"/>
          <p:nvPr/>
        </p:nvSpPr>
        <p:spPr>
          <a:xfrm>
            <a:off x="5237359" y="5726609"/>
            <a:ext cx="25201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/>
              <a:t>kawano_grit_2024</a:t>
            </a:r>
            <a:endParaRPr kumimoji="1" lang="ja-JP" altLang="en-US" sz="2400"/>
          </a:p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5A39CA-9880-262A-E354-5432B6F58DE9}"/>
              </a:ext>
            </a:extLst>
          </p:cNvPr>
          <p:cNvSpPr txBox="1"/>
          <p:nvPr/>
        </p:nvSpPr>
        <p:spPr>
          <a:xfrm>
            <a:off x="3727298" y="5127442"/>
            <a:ext cx="4347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ja-JP" altLang="en-US" sz="2400" u="sng"/>
              <a:t>ゼミ参加パスワード</a:t>
            </a:r>
            <a:endParaRPr lang="en-US" altLang="ja-JP" sz="2400" u="sng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47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67C5E-5EF0-95AA-9D52-CFC1D431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測定の仕方</a:t>
            </a:r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C571A290-D82D-CF92-2435-04AFFEBD7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8387" y="2265785"/>
            <a:ext cx="4814337" cy="69066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0EEC1FA-A995-3F0A-8122-8E18AB566035}"/>
              </a:ext>
            </a:extLst>
          </p:cNvPr>
          <p:cNvSpPr txBox="1"/>
          <p:nvPr/>
        </p:nvSpPr>
        <p:spPr>
          <a:xfrm>
            <a:off x="1177048" y="2149452"/>
            <a:ext cx="4377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画面左上のマイページをクリック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38DAC42A-E046-8803-A39E-21A46A716E0F}"/>
              </a:ext>
            </a:extLst>
          </p:cNvPr>
          <p:cNvSpPr/>
          <p:nvPr/>
        </p:nvSpPr>
        <p:spPr>
          <a:xfrm rot="6436901">
            <a:off x="9070972" y="1684002"/>
            <a:ext cx="982493" cy="42179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C7B95EF2-C307-58E6-4E1A-12DD64721EAC}"/>
              </a:ext>
            </a:extLst>
          </p:cNvPr>
          <p:cNvSpPr/>
          <p:nvPr/>
        </p:nvSpPr>
        <p:spPr>
          <a:xfrm>
            <a:off x="4600445" y="2934895"/>
            <a:ext cx="690664" cy="9882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1DA5614-068D-8210-A2DA-401B75362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69" y="4880298"/>
            <a:ext cx="9891624" cy="895475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ADFB80B-04BC-1C21-078D-84EC9D3C8CA5}"/>
              </a:ext>
            </a:extLst>
          </p:cNvPr>
          <p:cNvSpPr txBox="1"/>
          <p:nvPr/>
        </p:nvSpPr>
        <p:spPr>
          <a:xfrm>
            <a:off x="1252923" y="4016049"/>
            <a:ext cx="4377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測定タブをクリック</a:t>
            </a: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ED0DCB6F-BE7C-4A59-6043-E443BBC06F8C}"/>
              </a:ext>
            </a:extLst>
          </p:cNvPr>
          <p:cNvSpPr/>
          <p:nvPr/>
        </p:nvSpPr>
        <p:spPr>
          <a:xfrm rot="6436901">
            <a:off x="9418281" y="4468111"/>
            <a:ext cx="982493" cy="421791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02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FB86B-FF75-47DE-831A-E24A426F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測定の仕方②</a:t>
            </a:r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D5A53AC-7F04-04C6-1B5C-58058B049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584" y="2221239"/>
            <a:ext cx="7745586" cy="2716971"/>
          </a:xfrm>
          <a:prstGeom prst="rect">
            <a:avLst/>
          </a:prstGeom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ED1AE2D3-C162-07FF-7AAA-38F0A9BC9DC8}"/>
              </a:ext>
            </a:extLst>
          </p:cNvPr>
          <p:cNvSpPr/>
          <p:nvPr/>
        </p:nvSpPr>
        <p:spPr>
          <a:xfrm rot="6987462">
            <a:off x="3313176" y="3431244"/>
            <a:ext cx="552660" cy="88425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30E3D043-D67F-9F95-64D1-2E47211BB1CE}"/>
              </a:ext>
            </a:extLst>
          </p:cNvPr>
          <p:cNvSpPr/>
          <p:nvPr/>
        </p:nvSpPr>
        <p:spPr>
          <a:xfrm rot="6987462">
            <a:off x="3313176" y="4496083"/>
            <a:ext cx="552660" cy="88425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57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0FE5F-3503-0818-5D9C-EA2763CF4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投稿の仕方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C7698AC-83CA-F5F9-0E79-52E2A175C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65189"/>
            <a:ext cx="10058400" cy="4107594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sz="2400" b="1"/>
              <a:t>STEP 1</a:t>
            </a:r>
            <a:r>
              <a:rPr lang="en-US" altLang="ja-JP" sz="2400"/>
              <a:t>: </a:t>
            </a:r>
            <a:r>
              <a:rPr lang="ja-JP" altLang="en-US" sz="2400" u="sng"/>
              <a:t>ジャンル選択 </a:t>
            </a:r>
            <a:endParaRPr lang="en-US" altLang="ja-JP" sz="2400" u="sng"/>
          </a:p>
          <a:p>
            <a:r>
              <a:rPr lang="en-US" altLang="ja-JP" sz="2400" b="1"/>
              <a:t>STEP 2</a:t>
            </a:r>
            <a:r>
              <a:rPr lang="en-US" altLang="ja-JP" sz="2400"/>
              <a:t>: </a:t>
            </a:r>
            <a:r>
              <a:rPr lang="ja-JP" altLang="en-US" sz="2400" u="sng"/>
              <a:t>「新規投稿」ボタンをクリック </a:t>
            </a:r>
            <a:endParaRPr lang="en-US" altLang="ja-JP" sz="2400" u="sng"/>
          </a:p>
          <a:p>
            <a:r>
              <a:rPr lang="en-US" altLang="ja-JP" sz="2400" b="1"/>
              <a:t>STEP 3</a:t>
            </a:r>
            <a:r>
              <a:rPr lang="en-US" altLang="ja-JP" sz="2400"/>
              <a:t>: </a:t>
            </a:r>
            <a:r>
              <a:rPr lang="ja-JP" altLang="en-US" sz="2400" u="sng"/>
              <a:t>必要事項を入力 </a:t>
            </a:r>
            <a:endParaRPr lang="en-US" altLang="ja-JP" sz="2400" u="sng"/>
          </a:p>
          <a:p>
            <a:r>
              <a:rPr lang="en-US" altLang="ja-JP" sz="2400"/>
              <a:t>- </a:t>
            </a:r>
            <a:r>
              <a:rPr lang="ja-JP" altLang="en-US" sz="2400"/>
              <a:t>マンガタイトル</a:t>
            </a:r>
            <a:endParaRPr lang="en-US" altLang="ja-JP" sz="2400"/>
          </a:p>
          <a:p>
            <a:r>
              <a:rPr lang="en-US" altLang="ja-JP" sz="2400"/>
              <a:t>- </a:t>
            </a:r>
            <a:r>
              <a:rPr lang="ja-JP" altLang="en-US" sz="2400"/>
              <a:t>投稿内容</a:t>
            </a:r>
            <a:r>
              <a:rPr lang="en-US" altLang="ja-JP" sz="2400"/>
              <a:t>(</a:t>
            </a:r>
            <a:r>
              <a:rPr lang="ja-JP" altLang="en-US" sz="2400"/>
              <a:t>感想・学んだこと</a:t>
            </a:r>
            <a:r>
              <a:rPr lang="en-US" altLang="ja-JP" sz="2400"/>
              <a:t>)</a:t>
            </a:r>
          </a:p>
          <a:p>
            <a:r>
              <a:rPr lang="en-US" altLang="ja-JP" sz="2400"/>
              <a:t>- </a:t>
            </a:r>
            <a:r>
              <a:rPr lang="ja-JP" altLang="en-US" sz="2400"/>
              <a:t>画像</a:t>
            </a:r>
            <a:r>
              <a:rPr lang="en-US" altLang="ja-JP" sz="2400"/>
              <a:t>(</a:t>
            </a:r>
            <a:r>
              <a:rPr lang="ja-JP" altLang="en-US" sz="2400"/>
              <a:t>任意、</a:t>
            </a:r>
            <a:r>
              <a:rPr lang="en-US" altLang="ja-JP" sz="2400"/>
              <a:t>1</a:t>
            </a:r>
            <a:r>
              <a:rPr lang="ja-JP" altLang="en-US" sz="2400"/>
              <a:t>枚まで　</a:t>
            </a:r>
            <a:endParaRPr lang="en-US" altLang="ja-JP" sz="2400"/>
          </a:p>
          <a:p>
            <a:r>
              <a:rPr lang="ja-JP" altLang="en-US" sz="2400"/>
              <a:t>　１コマでなくても１ページぐらいなら可</a:t>
            </a:r>
            <a:r>
              <a:rPr lang="en-US" altLang="ja-JP" sz="2400"/>
              <a:t>) </a:t>
            </a:r>
          </a:p>
          <a:p>
            <a:r>
              <a:rPr lang="en-US" altLang="ja-JP" sz="2400"/>
              <a:t>- </a:t>
            </a:r>
            <a:r>
              <a:rPr lang="ja-JP" altLang="en-US" sz="2400"/>
              <a:t>出典情報</a:t>
            </a:r>
            <a:r>
              <a:rPr lang="en-US" altLang="ja-JP" sz="2400"/>
              <a:t>(</a:t>
            </a:r>
            <a:r>
              <a:rPr lang="ja-JP" altLang="en-US" sz="2400"/>
              <a:t>画像ありの場合は必須</a:t>
            </a:r>
            <a:r>
              <a:rPr lang="en-US" altLang="ja-JP" sz="2400"/>
              <a:t>)</a:t>
            </a:r>
          </a:p>
          <a:p>
            <a:r>
              <a:rPr lang="en-US" altLang="ja-JP" sz="2400"/>
              <a:t>- </a:t>
            </a:r>
            <a:r>
              <a:rPr lang="ja-JP" altLang="en-US" sz="2400"/>
              <a:t>著者名、出版社、巻数、ページ数 </a:t>
            </a:r>
            <a:r>
              <a:rPr lang="en-US" altLang="ja-JP" sz="2400"/>
              <a:t>- </a:t>
            </a:r>
            <a:r>
              <a:rPr lang="ja-JP" altLang="en-US" sz="2400"/>
              <a:t>タグ</a:t>
            </a:r>
            <a:r>
              <a:rPr lang="en-US" altLang="ja-JP" sz="2400"/>
              <a:t>(</a:t>
            </a:r>
            <a:r>
              <a:rPr lang="ja-JP" altLang="en-US" sz="2400"/>
              <a:t>任意、</a:t>
            </a:r>
            <a:r>
              <a:rPr lang="en-US" altLang="ja-JP" sz="2400"/>
              <a:t>3</a:t>
            </a:r>
            <a:r>
              <a:rPr lang="ja-JP" altLang="en-US" sz="2400"/>
              <a:t>つ以上でボーナス</a:t>
            </a:r>
            <a:r>
              <a:rPr lang="en-US" altLang="ja-JP" sz="2400"/>
              <a:t>!)</a:t>
            </a:r>
            <a:endParaRPr lang="ja-JP" altLang="en-US" sz="240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1557AD2-760F-C3A9-0109-8B28D9074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936" y="286603"/>
            <a:ext cx="5189708" cy="517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4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CAF1-6964-81DD-2543-2FC7F8AD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5507F-5BE1-405D-4A7E-397603F2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715" y="263527"/>
            <a:ext cx="10058400" cy="1450757"/>
          </a:xfrm>
        </p:spPr>
        <p:txBody>
          <a:bodyPr/>
          <a:lstStyle/>
          <a:p>
            <a:r>
              <a:rPr kumimoji="1" lang="ja-JP" altLang="en-US"/>
              <a:t>投稿の</a:t>
            </a:r>
            <a:r>
              <a:rPr lang="ja-JP" altLang="en-US"/>
              <a:t>例</a:t>
            </a:r>
            <a:endParaRPr kumimoji="1" lang="ja-JP" altLang="en-US"/>
          </a:p>
        </p:txBody>
      </p:sp>
      <p:pic>
        <p:nvPicPr>
          <p:cNvPr id="5" name="図 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E4FEF345-01F6-EEC7-F946-2E0D8D93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15" y="1693867"/>
            <a:ext cx="4770958" cy="4921024"/>
          </a:xfrm>
          <a:prstGeom prst="rect">
            <a:avLst/>
          </a:prstGeom>
        </p:spPr>
      </p:pic>
      <p:pic>
        <p:nvPicPr>
          <p:cNvPr id="6" name="図 5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29DA7EF-8B56-0DC1-AD73-C009A2B5C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3400"/>
            <a:ext cx="5038369" cy="5221958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9F54B99-73FC-AA75-D9FD-34C686A4079A}"/>
              </a:ext>
            </a:extLst>
          </p:cNvPr>
          <p:cNvSpPr/>
          <p:nvPr/>
        </p:nvSpPr>
        <p:spPr>
          <a:xfrm rot="2573661">
            <a:off x="7151493" y="1329279"/>
            <a:ext cx="1410511" cy="915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A9F41D1-3BB4-CBEF-4F04-450DE5146E51}"/>
              </a:ext>
            </a:extLst>
          </p:cNvPr>
          <p:cNvSpPr txBox="1"/>
          <p:nvPr/>
        </p:nvSpPr>
        <p:spPr>
          <a:xfrm>
            <a:off x="4464996" y="451662"/>
            <a:ext cx="6079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紙のマンガで１コマ取るのが難しい場合、</a:t>
            </a:r>
            <a:endParaRPr kumimoji="1" lang="en-US" altLang="ja-JP" sz="2000"/>
          </a:p>
          <a:p>
            <a:r>
              <a:rPr kumimoji="1" lang="en-US" altLang="ja-JP" sz="2000"/>
              <a:t>1</a:t>
            </a:r>
            <a:r>
              <a:rPr kumimoji="1" lang="ja-JP" altLang="en-US" sz="2000"/>
              <a:t>ページほどなら映っても大丈夫です。</a:t>
            </a:r>
            <a:endParaRPr kumimoji="1" lang="en-US" altLang="ja-JP" sz="2000"/>
          </a:p>
        </p:txBody>
      </p:sp>
    </p:spTree>
    <p:extLst>
      <p:ext uri="{BB962C8B-B14F-4D97-AF65-F5344CB8AC3E}">
        <p14:creationId xmlns:p14="http://schemas.microsoft.com/office/powerpoint/2010/main" val="25151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E21FC-FDC7-1DB1-0967-9396656C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最後に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A8BDA7-6C3D-CBC1-B311-AF24B8F54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021" y="4944549"/>
            <a:ext cx="10058400" cy="1199023"/>
          </a:xfrm>
        </p:spPr>
        <p:txBody>
          <a:bodyPr/>
          <a:lstStyle/>
          <a:p>
            <a:r>
              <a:rPr kumimoji="1" lang="ja-JP" altLang="en-US" sz="3200"/>
              <a:t>ポイントランキング上位には報酬あります。</a:t>
            </a:r>
            <a:endParaRPr kumimoji="1" lang="en-US" altLang="ja-JP" sz="3200"/>
          </a:p>
          <a:p>
            <a:r>
              <a:rPr lang="ja-JP" altLang="en-US" sz="3200"/>
              <a:t>協力よろしくお願いします！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A5BF06F-DFD9-AE1F-AAE1-755787E7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14" y="1749920"/>
            <a:ext cx="9632572" cy="309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1447" y="2412460"/>
            <a:ext cx="731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latin typeface="メイリオ" panose="020B0604030504040204" pitchFamily="50" charset="-128"/>
                <a:ea typeface="メイリオ" panose="020B0604030504040204" pitchFamily="50" charset="-128"/>
              </a:rPr>
              <a:t>ここから先は</a:t>
            </a:r>
            <a:br>
              <a:rPr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>
                <a:latin typeface="メイリオ" panose="020B0604030504040204" pitchFamily="50" charset="-128"/>
                <a:ea typeface="メイリオ" panose="020B0604030504040204" pitchFamily="50" charset="-128"/>
              </a:rPr>
              <a:t>詳しく知りたい人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向け</a:t>
            </a:r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ポイント獲得方法一覧</a:t>
            </a:r>
            <a:r>
              <a:rPr lang="ja-JP" altLang="en-US"/>
              <a:t>①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3779" y="1893002"/>
            <a:ext cx="938719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基本ポイント</a:t>
            </a:r>
          </a:p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投稿作成 </a:t>
            </a:r>
            <a:r>
              <a:rPr 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+</a:t>
            </a: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10pt</a:t>
            </a:r>
          </a:p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画像付き投稿 +5pt（合計15pt）</a:t>
            </a:r>
          </a:p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コメント投稿</a:t>
            </a:r>
            <a:r>
              <a:rPr lang="ja-JP" alt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800">
                <a:latin typeface="メイリオ" panose="020B0604030504040204" pitchFamily="50" charset="-128"/>
                <a:ea typeface="メイリオ" panose="020B0604030504040204" pitchFamily="50" charset="-128"/>
              </a:rPr>
              <a:t>+</a:t>
            </a: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3pt（自分の投稿へのコメントは0pt）</a:t>
            </a:r>
          </a:p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いいねする</a:t>
            </a:r>
            <a:r>
              <a:rPr 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 +</a:t>
            </a: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1pt</a:t>
            </a:r>
          </a:p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いいね受け取り</a:t>
            </a:r>
            <a:r>
              <a:rPr 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 +</a:t>
            </a: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1pt（自分の投稿へのいいねは0pt）</a:t>
            </a:r>
          </a:p>
          <a:p>
            <a:pPr>
              <a:spcBef>
                <a:spcPts val="600"/>
              </a:spcBef>
              <a:defRPr sz="16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タグ3つ以上</a:t>
            </a:r>
            <a:r>
              <a:rPr 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+2pt</a:t>
            </a:r>
          </a:p>
          <a:p>
            <a:pPr>
              <a:spcBef>
                <a:spcPts val="600"/>
              </a:spcBef>
              <a:defRPr sz="1600"/>
            </a:pPr>
            <a:endParaRPr/>
          </a:p>
          <a:p>
            <a:pPr>
              <a:spcBef>
                <a:spcPts val="600"/>
              </a:spcBef>
              <a:defRPr sz="1600"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8882F-F77A-3BAC-ED3D-86935E7F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ポイント獲得方法一覧②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2169F8-F897-3CBA-E179-C3264A87A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59"/>
            <a:ext cx="10400814" cy="444943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defRPr sz="1600"/>
            </a:pPr>
            <a:r>
              <a:rPr lang="ja-JP" altLang="en-US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デイリーミッション（毎日</a:t>
            </a:r>
            <a:r>
              <a:rPr lang="en-US" altLang="ja-JP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23:59</a:t>
            </a:r>
            <a:r>
              <a:rPr lang="ja-JP" altLang="en-US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リセット）</a:t>
            </a:r>
            <a:endParaRPr lang="en-US" altLang="ja-JP" sz="22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デイリーログイン 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+5pt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1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投稿する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+10pt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3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コメントする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+10pt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5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いいねする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+5pt</a:t>
            </a:r>
          </a:p>
          <a:p>
            <a:pPr marL="0" indent="0">
              <a:spcBef>
                <a:spcPts val="600"/>
              </a:spcBef>
              <a:buNone/>
              <a:defRPr sz="1600"/>
            </a:pPr>
            <a:r>
              <a:rPr lang="ja-JP" altLang="en-US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ウィークリーミッション（毎週日曜</a:t>
            </a:r>
            <a:r>
              <a:rPr lang="en-US" altLang="ja-JP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23:59</a:t>
            </a:r>
            <a:r>
              <a:rPr lang="ja-JP" altLang="en-US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リセット）</a:t>
            </a:r>
            <a:endParaRPr lang="en-US" altLang="ja-JP" sz="22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3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投稿する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+30pt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10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コメントする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+20pt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20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いいねする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+10pt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画像付き投稿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回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+20pt</a:t>
            </a:r>
          </a:p>
          <a:p>
            <a:pPr>
              <a:spcBef>
                <a:spcPts val="600"/>
              </a:spcBef>
              <a:defRPr sz="1600"/>
            </a:pP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3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ジャンル制覇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 (3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つのジャンルに投稿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+30pt</a:t>
            </a:r>
            <a:endParaRPr kumimoji="1" lang="ja-JP" altLang="en-US" sz="2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0641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投稿ルール詳細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6246" y="1902730"/>
            <a:ext cx="4396903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禁止されていること</a:t>
            </a:r>
          </a:p>
          <a:p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2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ページ以上連続での写真投稿</a:t>
            </a:r>
            <a:endParaRPr lang="ja-JP" altLang="ja-JP" sz="2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出典情報なしでの画像投稿</a:t>
            </a:r>
          </a:p>
          <a:p>
            <a:r>
              <a:rPr lang="en-US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ja-JP" sz="2200">
                <a:latin typeface="メイリオ" panose="020B0604030504040204" pitchFamily="50" charset="-128"/>
                <a:ea typeface="メイリオ" panose="020B0604030504040204" pitchFamily="50" charset="-128"/>
              </a:rPr>
              <a:t>誹謗中傷・個人情報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の共有</a:t>
            </a:r>
            <a:endParaRPr lang="ja-JP" altLang="ja-JP" sz="2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400"/>
              </a:spcBef>
              <a:defRPr sz="1400"/>
            </a:pPr>
            <a:endParaRPr lang="ja-JP" alt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ECC50FF-0E9E-D4E9-2D08-B214E1812000}"/>
              </a:ext>
            </a:extLst>
          </p:cNvPr>
          <p:cNvSpPr txBox="1"/>
          <p:nvPr/>
        </p:nvSpPr>
        <p:spPr>
          <a:xfrm>
            <a:off x="1354090" y="1902730"/>
            <a:ext cx="4852156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rPr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許可されていること</a:t>
            </a: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マンガ1コマ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ページぐらいなら　　可</a:t>
            </a:r>
            <a:r>
              <a:rPr lang="ja-JP" altLang="en-US" sz="220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のみアップロード</a:t>
            </a: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画像なし投稿もOK</a:t>
            </a: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同じマンガを複数回投稿してもOK</a:t>
            </a:r>
          </a:p>
          <a:p>
            <a:pPr>
              <a:spcBef>
                <a:spcPts val="400"/>
              </a:spcBef>
              <a:defRPr sz="1400"/>
            </a:pPr>
            <a:endParaRPr sz="2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400"/>
              </a:spcBef>
              <a:defRPr sz="1400"/>
            </a:pPr>
            <a:r>
              <a:rPr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出典情報（画像ありの場合は必須</a:t>
            </a:r>
            <a:r>
              <a:rPr lang="en-US" sz="2200" u="sng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sz="22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著者名</a:t>
            </a: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出版社</a:t>
            </a: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巻数</a:t>
            </a:r>
          </a:p>
          <a:p>
            <a:pPr>
              <a:spcBef>
                <a:spcPts val="400"/>
              </a:spcBef>
              <a:defRPr sz="1400"/>
            </a:pPr>
            <a:r>
              <a:rPr sz="2200">
                <a:latin typeface="メイリオ" panose="020B0604030504040204" pitchFamily="50" charset="-128"/>
                <a:ea typeface="メイリオ" panose="020B0604030504040204" pitchFamily="50" charset="-128"/>
              </a:rPr>
              <a:t>• ページ数</a:t>
            </a:r>
          </a:p>
          <a:p>
            <a:pPr>
              <a:spcBef>
                <a:spcPts val="400"/>
              </a:spcBef>
              <a:defRPr sz="1400"/>
            </a:pPr>
            <a:endParaRPr lang="ja-JP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ランキング・報酬について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61954"/>
            <a:ext cx="4755528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/>
            </a:pPr>
            <a:r>
              <a:rPr sz="2400" u="sng">
                <a:latin typeface="メイリオ" panose="020B0604030504040204" pitchFamily="50" charset="-128"/>
                <a:ea typeface="メイリオ" panose="020B0604030504040204" pitchFamily="50" charset="-128"/>
              </a:rPr>
              <a:t>報酬</a:t>
            </a:r>
            <a:r>
              <a:rPr lang="ja-JP" altLang="en-US" sz="2400" u="sng">
                <a:latin typeface="メイリオ" panose="020B0604030504040204" pitchFamily="50" charset="-128"/>
                <a:ea typeface="メイリオ" panose="020B0604030504040204" pitchFamily="50" charset="-128"/>
              </a:rPr>
              <a:t>（違うギフトカードでも可）</a:t>
            </a:r>
            <a:endParaRPr sz="24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600"/>
              </a:spcBef>
              <a:defRPr sz="1500"/>
            </a:pPr>
            <a:r>
              <a:rPr sz="2400">
                <a:latin typeface="メイリオ" panose="020B0604030504040204" pitchFamily="50" charset="-128"/>
                <a:ea typeface="メイリオ" panose="020B0604030504040204" pitchFamily="50" charset="-128"/>
              </a:rPr>
              <a:t>1位: QUOカード1,000円</a:t>
            </a:r>
          </a:p>
          <a:p>
            <a:pPr>
              <a:spcBef>
                <a:spcPts val="600"/>
              </a:spcBef>
              <a:defRPr sz="1500"/>
            </a:pPr>
            <a:r>
              <a:rPr sz="2400">
                <a:latin typeface="メイリオ" panose="020B0604030504040204" pitchFamily="50" charset="-128"/>
                <a:ea typeface="メイリオ" panose="020B0604030504040204" pitchFamily="50" charset="-128"/>
              </a:rPr>
              <a:t>2位: QUOカード500円</a:t>
            </a:r>
          </a:p>
          <a:p>
            <a:pPr>
              <a:spcBef>
                <a:spcPts val="600"/>
              </a:spcBef>
              <a:defRPr sz="1500"/>
            </a:pPr>
            <a:r>
              <a:rPr sz="2400">
                <a:latin typeface="メイリオ" panose="020B0604030504040204" pitchFamily="50" charset="-128"/>
                <a:ea typeface="メイリオ" panose="020B0604030504040204" pitchFamily="50" charset="-128"/>
              </a:rPr>
              <a:t>3位: QUOカード500円</a:t>
            </a:r>
          </a:p>
          <a:p>
            <a:pPr>
              <a:spcBef>
                <a:spcPts val="600"/>
              </a:spcBef>
              <a:defRPr sz="1500"/>
            </a:pPr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E9CA5AD-39AF-CA79-2D68-BD842CC96109}"/>
              </a:ext>
            </a:extLst>
          </p:cNvPr>
          <p:cNvSpPr txBox="1"/>
          <p:nvPr/>
        </p:nvSpPr>
        <p:spPr>
          <a:xfrm>
            <a:off x="1245140" y="1961744"/>
            <a:ext cx="894681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総合ランキング</a:t>
            </a:r>
          </a:p>
          <a:p>
            <a:pPr>
              <a:spcBef>
                <a:spcPts val="600"/>
              </a:spcBef>
              <a:defRPr sz="15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実験期間全体の累計ポイントで順位決定</a:t>
            </a:r>
          </a:p>
          <a:p>
            <a:pPr>
              <a:spcBef>
                <a:spcPts val="600"/>
              </a:spcBef>
              <a:defRPr sz="1500"/>
            </a:pPr>
            <a:r>
              <a:rPr sz="2800">
                <a:latin typeface="メイリオ" panose="020B0604030504040204" pitchFamily="50" charset="-128"/>
                <a:ea typeface="メイリオ" panose="020B0604030504040204" pitchFamily="50" charset="-128"/>
              </a:rPr>
              <a:t>• リアルタイム更新</a:t>
            </a:r>
          </a:p>
          <a:p>
            <a:pPr>
              <a:spcBef>
                <a:spcPts val="600"/>
              </a:spcBef>
              <a:defRPr sz="1500"/>
            </a:pPr>
            <a:endParaRPr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E77031-E178-CB23-D26D-8A9F05C24000}"/>
              </a:ext>
            </a:extLst>
          </p:cNvPr>
          <p:cNvSpPr txBox="1"/>
          <p:nvPr/>
        </p:nvSpPr>
        <p:spPr>
          <a:xfrm>
            <a:off x="6214656" y="3861954"/>
            <a:ext cx="5437134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 sz="1500"/>
            </a:pPr>
            <a:r>
              <a:rPr lang="ja-JP" altLang="en-US" sz="2400" u="sng">
                <a:latin typeface="メイリオ" panose="020B0604030504040204" pitchFamily="50" charset="-128"/>
                <a:ea typeface="メイリオ" panose="020B0604030504040204" pitchFamily="50" charset="-128"/>
              </a:rPr>
              <a:t>順位の確認方法</a:t>
            </a:r>
            <a:endParaRPr lang="en-US" altLang="ja-JP" sz="24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600"/>
              </a:spcBef>
              <a:defRPr sz="1500"/>
            </a:pPr>
            <a:r>
              <a:rPr lang="en-US" altLang="ja-JP" sz="24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rPr>
              <a:t>トップページの</a:t>
            </a:r>
            <a:r>
              <a:rPr lang="en-US" altLang="ja-JP" sz="2400">
                <a:latin typeface="メイリオ" panose="020B0604030504040204" pitchFamily="50" charset="-128"/>
                <a:ea typeface="メイリオ" panose="020B0604030504040204" pitchFamily="50" charset="-128"/>
              </a:rPr>
              <a:t>Top5</a:t>
            </a:r>
            <a:r>
              <a: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rPr>
              <a:t>ランキング</a:t>
            </a:r>
          </a:p>
          <a:p>
            <a:pPr>
              <a:spcBef>
                <a:spcPts val="600"/>
              </a:spcBef>
              <a:defRPr sz="1500"/>
            </a:pPr>
            <a:r>
              <a:rPr lang="en-US" altLang="ja-JP" sz="24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rPr>
              <a:t>ランキングページで全体順位確認</a:t>
            </a:r>
          </a:p>
          <a:p>
            <a:pPr>
              <a:spcBef>
                <a:spcPts val="600"/>
              </a:spcBef>
              <a:defRPr sz="1500"/>
            </a:pPr>
            <a:r>
              <a:rPr lang="en-US" altLang="ja-JP" sz="2400">
                <a:latin typeface="メイリオ" panose="020B0604030504040204" pitchFamily="50" charset="-128"/>
                <a:ea typeface="メイリオ" panose="020B0604030504040204" pitchFamily="50" charset="-128"/>
              </a:rPr>
              <a:t>• </a:t>
            </a:r>
            <a:r>
              <a: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rPr>
              <a:t>マイページで自分の順位確認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D63AC6-595D-53A8-CE8E-AF7E13B557DF}"/>
              </a:ext>
            </a:extLst>
          </p:cNvPr>
          <p:cNvSpPr txBox="1">
            <a:spLocks/>
          </p:cNvSpPr>
          <p:nvPr/>
        </p:nvSpPr>
        <p:spPr>
          <a:xfrm>
            <a:off x="246434" y="2830386"/>
            <a:ext cx="3177702" cy="5986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b="1">
                <a:latin typeface="メイリオ" panose="020B0604030504040204" pitchFamily="50" charset="-128"/>
                <a:ea typeface="メイリオ" panose="020B0604030504040204" pitchFamily="50" charset="-128"/>
              </a:rPr>
              <a:t>FAQ</a:t>
            </a:r>
            <a:r>
              <a:rPr lang="ja-JP" altLang="en-US" b="1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r>
              <a:rPr lang="en-US" altLang="ja-JP" b="1">
                <a:latin typeface="メイリオ" panose="020B0604030504040204" pitchFamily="50" charset="-128"/>
                <a:ea typeface="メイリオ" panose="020B0604030504040204" pitchFamily="50" charset="-128"/>
              </a:rPr>
              <a:t>?</a:t>
            </a:r>
            <a:endParaRPr lang="ja-JP" altLang="en-US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1BB29A-A870-1DF8-72C8-D064028BF77D}"/>
              </a:ext>
            </a:extLst>
          </p:cNvPr>
          <p:cNvSpPr txBox="1"/>
          <p:nvPr/>
        </p:nvSpPr>
        <p:spPr>
          <a:xfrm>
            <a:off x="3161489" y="97276"/>
            <a:ext cx="8784077" cy="628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Q: 投稿は何回してもいいですか?</a:t>
            </a: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A: 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はい、何回でもOK</a:t>
            </a:r>
            <a:r>
              <a:rPr lang="ja-JP" altLang="en-US"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です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。ただし1日5投稿を超えるとポイント0pt</a:t>
            </a:r>
            <a:r>
              <a:rPr lang="ja-JP" altLang="en-US"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です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  <a:p>
            <a:pPr>
              <a:spcBef>
                <a:spcPts val="300"/>
              </a:spcBef>
              <a:defRPr sz="1200"/>
            </a:pPr>
            <a:endParaRPr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Q: 画像なしでも投稿できますか?</a:t>
            </a: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A: 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はい、できます。ただし画像ありの方がポイント多い</a:t>
            </a:r>
            <a:r>
              <a:rPr lang="ja-JP" altLang="en-US"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です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  <a:p>
            <a:pPr>
              <a:spcBef>
                <a:spcPts val="300"/>
              </a:spcBef>
              <a:defRPr sz="1200"/>
            </a:pPr>
            <a:endParaRPr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Q: 自分の投稿にいいね</a:t>
            </a:r>
            <a:r>
              <a:rPr lang="ja-JP" altLang="en-US" sz="2000">
                <a:latin typeface="メイリオ" panose="020B0604030504040204" pitchFamily="50" charset="-128"/>
                <a:ea typeface="メイリオ" panose="020B0604030504040204" pitchFamily="50" charset="-128"/>
              </a:rPr>
              <a:t>、コメント</a:t>
            </a: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できますか?</a:t>
            </a: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A: 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できますが、ポイントはもらえません。</a:t>
            </a:r>
          </a:p>
          <a:p>
            <a:pPr>
              <a:spcBef>
                <a:spcPts val="300"/>
              </a:spcBef>
              <a:defRPr sz="1200"/>
            </a:pPr>
            <a:endParaRPr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Q: パスワードを忘れました</a:t>
            </a: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A: </a:t>
            </a:r>
            <a:r>
              <a:rPr lang="ja-JP" altLang="en-US"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矢島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に連絡してください。リセット機能はありません。</a:t>
            </a:r>
          </a:p>
          <a:p>
            <a:pPr>
              <a:spcBef>
                <a:spcPts val="300"/>
              </a:spcBef>
              <a:defRPr sz="1200"/>
            </a:pPr>
            <a:endParaRPr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Q: 画像がアップロードできません</a:t>
            </a: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A: 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ファイルサイズ5MB以下、形式JPEG/PNG/GIFのみ</a:t>
            </a:r>
            <a:r>
              <a:rPr lang="ja-JP" altLang="en-US"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です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  <a:p>
            <a:pPr>
              <a:spcBef>
                <a:spcPts val="300"/>
              </a:spcBef>
              <a:defRPr sz="1200"/>
            </a:pPr>
            <a:endParaRPr sz="20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Q: 事後測定を忘れたらどうなりますか?</a:t>
            </a:r>
          </a:p>
          <a:p>
            <a:pPr>
              <a:spcBef>
                <a:spcPts val="300"/>
              </a:spcBef>
              <a:defRPr sz="1200"/>
            </a:pPr>
            <a:r>
              <a:rPr sz="2000"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r>
              <a:rPr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: データ分析に使えなくなるため、必ず受けてください！</a:t>
            </a:r>
            <a:endParaRPr lang="en-US" sz="20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spcBef>
                <a:spcPts val="300"/>
              </a:spcBef>
              <a:defRPr sz="1200"/>
            </a:pPr>
            <a:r>
              <a:rPr lang="ja-JP" altLang="en-US" sz="2000" u="sng">
                <a:latin typeface="メイリオ" panose="020B0604030504040204" pitchFamily="50" charset="-128"/>
                <a:ea typeface="メイリオ" panose="020B0604030504040204" pitchFamily="50" charset="-128"/>
              </a:rPr>
              <a:t>　　頼む！！！！</a:t>
            </a:r>
            <a:endParaRPr sz="2000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1388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a6e0a-bdbf-4b29-ba51-c81ab41ecd5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E7EE91BA36B3E48BF5BDF50185E158B" ma:contentTypeVersion="13" ma:contentTypeDescription="新しいドキュメントを作成します。" ma:contentTypeScope="" ma:versionID="f79c486077b1ed681a206d73ded29f3d">
  <xsd:schema xmlns:xsd="http://www.w3.org/2001/XMLSchema" xmlns:xs="http://www.w3.org/2001/XMLSchema" xmlns:p="http://schemas.microsoft.com/office/2006/metadata/properties" xmlns:ns3="bdca6e0a-bdbf-4b29-ba51-c81ab41ecd50" targetNamespace="http://schemas.microsoft.com/office/2006/metadata/properties" ma:root="true" ma:fieldsID="ee4b50b752c9dc4bdb9be26f55f9082a" ns3:_="">
    <xsd:import namespace="bdca6e0a-bdbf-4b29-ba51-c81ab41ecd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a6e0a-bdbf-4b29-ba51-c81ab41ec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D85359-F7CA-4318-A944-E15C4F9FAD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A81C43-709E-48E8-B06C-EAF5543FE04B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bdca6e0a-bdbf-4b29-ba51-c81ab41ecd50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988AECB-77EC-4EFC-97F5-3B71F04F3F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ca6e0a-bdbf-4b29-ba51-c81ab41ecd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160</TotalTime>
  <Words>676</Words>
  <Application>Microsoft Office PowerPoint</Application>
  <PresentationFormat>ワイド画面</PresentationFormat>
  <Paragraphs>120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メイリオ</vt:lpstr>
      <vt:lpstr>Calibri</vt:lpstr>
      <vt:lpstr>Calibri Light</vt:lpstr>
      <vt:lpstr>Wingdings</vt:lpstr>
      <vt:lpstr>レトロスペクト</vt:lpstr>
      <vt:lpstr>研究協力のお願い</vt:lpstr>
      <vt:lpstr>研究内容</vt:lpstr>
      <vt:lpstr>なにをするの？</vt:lpstr>
      <vt:lpstr>プラットフォームの特徴</vt:lpstr>
      <vt:lpstr>全体の流れ</vt:lpstr>
      <vt:lpstr>最初にやってほしいこと</vt:lpstr>
      <vt:lpstr>アカウント作成の仕方①</vt:lpstr>
      <vt:lpstr>アカウント作成の仕方②</vt:lpstr>
      <vt:lpstr>測定の仕方</vt:lpstr>
      <vt:lpstr>測定の仕方②</vt:lpstr>
      <vt:lpstr>投稿の仕方</vt:lpstr>
      <vt:lpstr>投稿の例</vt:lpstr>
      <vt:lpstr>最後に</vt:lpstr>
      <vt:lpstr>PowerPoint プレゼンテーション</vt:lpstr>
      <vt:lpstr>ポイント獲得方法一覧①</vt:lpstr>
      <vt:lpstr>ポイント獲得方法一覧②</vt:lpstr>
      <vt:lpstr>投稿ルール詳細</vt:lpstr>
      <vt:lpstr>ランキング・報酬について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j22436yr</dc:creator>
  <cp:lastModifiedBy>j22436yr</cp:lastModifiedBy>
  <cp:revision>5</cp:revision>
  <dcterms:created xsi:type="dcterms:W3CDTF">2025-11-29T10:56:51Z</dcterms:created>
  <dcterms:modified xsi:type="dcterms:W3CDTF">2025-12-01T05:29:36Z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0x010100DE7EE91BA36B3E48BF5BDF50185E158B</vt:lpwstr>
  </property>
</Properties>
</file>