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0"/>
  </p:notesMasterIdLst>
  <p:handoutMasterIdLst>
    <p:handoutMasterId r:id="rId11"/>
  </p:handoutMasterIdLst>
  <p:sldIdLst>
    <p:sldId id="272" r:id="rId2"/>
    <p:sldId id="273" r:id="rId3"/>
    <p:sldId id="274" r:id="rId4"/>
    <p:sldId id="280" r:id="rId5"/>
    <p:sldId id="281" r:id="rId6"/>
    <p:sldId id="282" r:id="rId7"/>
    <p:sldId id="283" r:id="rId8"/>
    <p:sldId id="284" r:id="rId9"/>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211" autoAdjust="0"/>
    <p:restoredTop sz="69801" autoAdjust="0"/>
  </p:normalViewPr>
  <p:slideViewPr>
    <p:cSldViewPr snapToGrid="0">
      <p:cViewPr varScale="1">
        <p:scale>
          <a:sx n="34" d="100"/>
          <a:sy n="34" d="100"/>
        </p:scale>
        <p:origin x="900" y="40"/>
      </p:cViewPr>
      <p:guideLst/>
    </p:cSldViewPr>
  </p:slid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87" d="100"/>
          <a:sy n="87" d="100"/>
        </p:scale>
        <p:origin x="3090"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dirty="0">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94DA88A-700E-4959-AD05-3C421866BDC6}" type="datetime4">
              <a:rPr kumimoji="1" lang="ja-JP" altLang="en-US" smtClean="0">
                <a:latin typeface="Meiryo UI" panose="020B0604030504040204" pitchFamily="50" charset="-128"/>
                <a:ea typeface="Meiryo UI" panose="020B0604030504040204" pitchFamily="50" charset="-128"/>
              </a:rPr>
              <a:t>2026年6月17日</a:t>
            </a:fld>
            <a:endParaRPr kumimoji="1" lang="ja-JP" altLang="en-US" dirty="0">
              <a:latin typeface="Meiryo UI" panose="020B0604030504040204" pitchFamily="50" charset="-128"/>
              <a:ea typeface="Meiryo UI" panose="020B0604030504040204" pitchFamily="50" charset="-128"/>
            </a:endParaRPr>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dirty="0">
              <a:latin typeface="Meiryo UI" panose="020B0604030504040204" pitchFamily="50" charset="-128"/>
              <a:ea typeface="Meiryo UI" panose="020B0604030504040204" pitchFamily="50" charset="-128"/>
            </a:endParaRPr>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09A4F4-89FA-4551-A9F4-ECDBD52C06D6}" type="slidenum">
              <a:rPr kumimoji="1" lang="en-US" altLang="ja-JP" smtClean="0">
                <a:latin typeface="Meiryo UI" panose="020B0604030504040204" pitchFamily="50" charset="-128"/>
                <a:ea typeface="Meiryo UI" panose="020B0604030504040204" pitchFamily="50" charset="-128"/>
              </a:rPr>
              <a:t>‹#›</a:t>
            </a:fld>
            <a:endParaRPr kumimoji="1"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248109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Meiryo UI" panose="020B0604030504040204" pitchFamily="50" charset="-128"/>
                <a:ea typeface="Meiryo UI" panose="020B0604030504040204" pitchFamily="50" charset="-128"/>
              </a:defRPr>
            </a:lvl1pPr>
          </a:lstStyle>
          <a:p>
            <a:endParaRPr lang="ja-JP" altLang="en-US" dirty="0"/>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Meiryo UI" panose="020B0604030504040204" pitchFamily="50" charset="-128"/>
                <a:ea typeface="Meiryo UI" panose="020B0604030504040204" pitchFamily="50" charset="-128"/>
              </a:defRPr>
            </a:lvl1pPr>
          </a:lstStyle>
          <a:p>
            <a:fld id="{EECA54F6-A409-4052-BA8C-D33E3AF8AD29}" type="datetime4">
              <a:rPr lang="ja-JP" altLang="en-US" smtClean="0"/>
              <a:pPr/>
              <a:t>2026年6月17日</a:t>
            </a:fld>
            <a:endParaRPr lang="ja-JP" altLang="en-US" dirty="0"/>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dirty="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Meiryo UI" panose="020B0604030504040204" pitchFamily="50" charset="-128"/>
                <a:ea typeface="Meiryo UI" panose="020B0604030504040204" pitchFamily="50" charset="-128"/>
              </a:defRPr>
            </a:lvl1pPr>
          </a:lstStyle>
          <a:p>
            <a:endParaRPr lang="ja-JP" altLang="en-US" dirty="0"/>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Meiryo UI" panose="020B0604030504040204" pitchFamily="50" charset="-128"/>
                <a:ea typeface="Meiryo UI" panose="020B0604030504040204" pitchFamily="50" charset="-128"/>
              </a:defRPr>
            </a:lvl1pPr>
          </a:lstStyle>
          <a:p>
            <a:fld id="{893B0CF2-7F87-4E02-A248-870047730F99}" type="slidenum">
              <a:rPr lang="en-US" altLang="ja-JP" smtClean="0"/>
              <a:pPr/>
              <a:t>‹#›</a:t>
            </a:fld>
            <a:endParaRPr lang="ja-JP" altLang="en-US" dirty="0"/>
          </a:p>
        </p:txBody>
      </p:sp>
    </p:spTree>
    <p:extLst>
      <p:ext uri="{BB962C8B-B14F-4D97-AF65-F5344CB8AC3E}">
        <p14:creationId xmlns:p14="http://schemas.microsoft.com/office/powerpoint/2010/main" val="3614981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10"/>
          </p:nvPr>
        </p:nvSpPr>
        <p:spPr/>
        <p:txBody>
          <a:bodyPr rtlCol="0"/>
          <a:lstStyle/>
          <a:p>
            <a:pPr rtl="0"/>
            <a:fld id="{893B0CF2-7F87-4E02-A248-870047730F99}" type="slidenum">
              <a:rPr lang="en-US" altLang="ja-JP" smtClean="0">
                <a:latin typeface="Meiryo UI" panose="020B0604030504040204" pitchFamily="50" charset="-128"/>
                <a:ea typeface="Meiryo UI" panose="020B0604030504040204" pitchFamily="50" charset="-128"/>
              </a:rPr>
              <a:t>1</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951338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2</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663518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ダークパターンとは，ユーザを意図しない意思決定へ誘導するために設計された操作的なUIやUX</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デザイン</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のことで</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さまざまなオンラインサービスで広く利用されています。</a:t>
            </a:r>
            <a:b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例えば，</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知らないうちに</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サブスクリプション加入</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していたこと</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や</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不要な商品の購入，個人情報提供などを誘導するケースが報告されています。</a:t>
            </a:r>
            <a:b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こうした背景の中で，消費者庁掲載資料では，ダークパターンによる国内の推定被害額は年間で約1兆円から1兆6000億円程度と試算されており，無視できない規模の問題となっています。</a:t>
            </a:r>
          </a:p>
          <a:p>
            <a:br>
              <a:rPr kumimoji="1" lang="en-US" altLang="ja-JP" dirty="0">
                <a:latin typeface="Meiryo UI" panose="020B0604030504040204" pitchFamily="50" charset="-128"/>
                <a:ea typeface="Meiryo UI" panose="020B0604030504040204" pitchFamily="50" charset="-128"/>
              </a:rPr>
            </a:br>
            <a:br>
              <a:rPr kumimoji="1" lang="en-US" altLang="ja-JP" dirty="0">
                <a:latin typeface="Meiryo UI" panose="020B0604030504040204" pitchFamily="50" charset="-128"/>
                <a:ea typeface="Meiryo UI" panose="020B0604030504040204" pitchFamily="50" charset="-128"/>
              </a:rPr>
            </a:br>
            <a:r>
              <a:rPr kumimoji="1" lang="en-US" altLang="ja-JP" dirty="0">
                <a:latin typeface="Meiryo UI" panose="020B0604030504040204" pitchFamily="50" charset="-128"/>
                <a:ea typeface="Meiryo UI" panose="020B0604030504040204" pitchFamily="50" charset="-128"/>
              </a:rPr>
              <a:t>memo</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 [1] FTC, </a:t>
            </a:r>
            <a:r>
              <a:rPr lang="ja-JP" altLang="ja-JP" sz="1200" b="0" i="1" kern="1200" dirty="0">
                <a:solidFill>
                  <a:schemeClr val="tx1"/>
                </a:solidFill>
                <a:effectLst/>
                <a:latin typeface="Meiryo UI" panose="020B0604030504040204" pitchFamily="50" charset="-128"/>
                <a:ea typeface="Meiryo UI" panose="020B0604030504040204" pitchFamily="50" charset="-128"/>
                <a:cs typeface="+mn-cs"/>
              </a:rPr>
              <a:t>Bringing Dark Patterns to Light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 2022.</a:t>
            </a:r>
            <a:b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https://www.ftc.gov/reports/bringing-dark-patterns-light</a:t>
            </a:r>
          </a:p>
          <a:p>
            <a:br>
              <a:rPr kumimoji="1" lang="en-US" altLang="ja-JP" dirty="0">
                <a:latin typeface="Meiryo UI" panose="020B0604030504040204" pitchFamily="50" charset="-128"/>
                <a:ea typeface="Meiryo UI" panose="020B0604030504040204" pitchFamily="50" charset="-128"/>
              </a:rPr>
            </a:br>
            <a:r>
              <a:rPr kumimoji="1" lang="en-US" altLang="ja-JP" dirty="0">
                <a:latin typeface="Meiryo UI" panose="020B0604030504040204" pitchFamily="50" charset="-128"/>
                <a:ea typeface="Meiryo UI" panose="020B0604030504040204" pitchFamily="50" charset="-128"/>
              </a:rPr>
              <a:t>[2] </a:t>
            </a:r>
            <a:r>
              <a:rPr lang="ja-JP" altLang="ja-JP" dirty="0"/>
              <a:t>デジタル時代におけるより良い消費生活を支える信頼の構築に係る官民共創ラウンドテーブル 第1回</a:t>
            </a:r>
            <a:br>
              <a:rPr kumimoji="1" lang="en-US" altLang="ja-JP" dirty="0">
                <a:latin typeface="Meiryo UI" panose="020B0604030504040204" pitchFamily="50" charset="-128"/>
                <a:ea typeface="Meiryo UI" panose="020B0604030504040204" pitchFamily="50" charset="-128"/>
              </a:rPr>
            </a:br>
            <a:r>
              <a:rPr kumimoji="1" lang="en-US" altLang="ja-JP" dirty="0">
                <a:latin typeface="Meiryo UI" panose="020B0604030504040204" pitchFamily="50" charset="-128"/>
                <a:ea typeface="Meiryo UI" panose="020B0604030504040204" pitchFamily="50" charset="-128"/>
              </a:rPr>
              <a:t>https://www.caa.go.jp/policies/future/ppi/assets/caa_futurer101_250129_1.pdf</a:t>
            </a:r>
            <a:endParaRPr kumimoji="1" lang="ja-JP" altLang="en-US"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3</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898244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EBEDD-CFF0-D923-E18E-FDA1729882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3EB5E7-085F-6976-1CBC-4AA7A444965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72A947-40DC-0A4B-7E97-F918E2D4E87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ダークパターンの対策として、広告ブロックの</a:t>
            </a:r>
            <a:r>
              <a:rPr lang="en-US" altLang="ja-JP" dirty="0"/>
              <a:t>AdBlock</a:t>
            </a:r>
            <a:r>
              <a:rPr lang="ja-JP" altLang="en-US" dirty="0"/>
              <a:t>などがあります。しかし</a:t>
            </a:r>
            <a:r>
              <a:rPr lang="ja-JP" altLang="ja-JP" dirty="0"/>
              <a:t>Mathur</a:t>
            </a:r>
            <a:r>
              <a:rPr lang="ja-JP" altLang="en-US" dirty="0"/>
              <a:t>（</a:t>
            </a:r>
            <a:r>
              <a:rPr lang="ja-JP" altLang="ja-JP" dirty="0"/>
              <a:t>マトゥール</a:t>
            </a:r>
            <a:r>
              <a:rPr lang="ja-JP" altLang="en-US" dirty="0"/>
              <a:t>）</a:t>
            </a:r>
            <a:r>
              <a:rPr lang="ja-JP" altLang="ja-JP" dirty="0"/>
              <a:t>らは、自動検知手法を用いて約11,000のショッピング</a:t>
            </a:r>
            <a:r>
              <a:rPr lang="ja-JP" altLang="en-US" dirty="0"/>
              <a:t>の</a:t>
            </a:r>
            <a:r>
              <a:rPr lang="ja-JP" altLang="ja-JP" dirty="0"/>
              <a:t>サイトを分析</a:t>
            </a:r>
            <a:r>
              <a:rPr lang="ja-JP" altLang="en-US" dirty="0"/>
              <a:t>し、</a:t>
            </a:r>
            <a:r>
              <a:rPr lang="en-US" altLang="ja-JP" dirty="0"/>
              <a:t>1800</a:t>
            </a:r>
            <a:r>
              <a:rPr lang="ja-JP" altLang="en-US" dirty="0"/>
              <a:t>件というダークパターンが検出しました。</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こうしたダークパターンは文脈やデザインに依存するため，自動的に完全に検知・防御することは難しい</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く、技術のいたちごっこは今後さらに加速すると考えられます。</a:t>
            </a:r>
            <a:br>
              <a:rPr lang="en-US" altLang="ja-JP" dirty="0"/>
            </a:br>
            <a:r>
              <a:rPr lang="ja-JP" altLang="en-US" dirty="0"/>
              <a:t>また。</a:t>
            </a:r>
            <a:r>
              <a:rPr lang="ja-JP" altLang="ja-JP" dirty="0"/>
              <a:t>Leonら（2012）は，Opt-in型の保護手法</a:t>
            </a:r>
            <a:r>
              <a:rPr lang="ja-JP" altLang="en-US" dirty="0"/>
              <a:t>（ユーザ自身が導入し設定すること）</a:t>
            </a:r>
            <a:r>
              <a:rPr lang="ja-JP" altLang="ja-JP" dirty="0"/>
              <a:t>には困難さがあることを指摘し</a:t>
            </a:r>
            <a:r>
              <a:rPr lang="ja-JP" altLang="en-US" dirty="0"/>
              <a:t>ています。</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ダークパターン対策の拡張機能</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の研究は多くされていますが、</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ユーザが入れなければそもそも機能</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しません。</a:t>
            </a:r>
            <a:endParaRPr lang="en-US" altLang="ja-JP" sz="1200" b="0" i="0" kern="1200" dirty="0">
              <a:solidFill>
                <a:schemeClr val="tx1"/>
              </a:solidFill>
              <a:effectLst/>
              <a:latin typeface="Meiryo UI" panose="020B0604030504040204" pitchFamily="50" charset="-128"/>
              <a:ea typeface="Meiryo UI" panose="020B0604030504040204"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つまり利用者自身がダークパターンを認識し回避する能力を育成することが重要です。</a:t>
            </a:r>
            <a:br>
              <a:rPr lang="en-US" altLang="ja-JP" dirty="0"/>
            </a:br>
            <a:r>
              <a:rPr lang="en-US" altLang="ja-JP" dirty="0"/>
              <a:t>memo.txt</a:t>
            </a:r>
            <a:br>
              <a:rPr lang="en-US" altLang="ja-JP" dirty="0"/>
            </a:br>
            <a:r>
              <a:rPr lang="en-US" altLang="ja-JP" dirty="0"/>
              <a:t>[3] A. Mathur, G. Acar, M. J. Friedman, E. Lucherini, J. Mayer, M. Chetty, and A. Narayanan,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“Dark Patterns at Scale: Findings from a Crawl of 11K Shopping Websites.”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Proceedings of the ACM on Human-Computer Interaction (PACM HCI), Vol. 3, CSCW, Article 81, pp. 1–32, 2019.</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URL: :https://dl.acm.org/</a:t>
            </a:r>
            <a:r>
              <a:rPr lang="en-US" altLang="ja-JP" dirty="0" err="1"/>
              <a:t>doi</a:t>
            </a:r>
            <a:r>
              <a:rPr lang="en-US" altLang="ja-JP" dirty="0"/>
              <a:t>/</a:t>
            </a:r>
            <a:r>
              <a:rPr lang="en-US" altLang="ja-JP" dirty="0" err="1"/>
              <a:t>epdf</a:t>
            </a:r>
            <a:r>
              <a:rPr lang="en-US" altLang="ja-JP" dirty="0"/>
              <a:t>/10.1145/3359183</a:t>
            </a:r>
            <a:endParaRPr kumimoji="1" lang="en-US" alt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4E08EE3-A90F-3FDF-6ECE-61EAF696D1B5}"/>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4</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73551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A8CBB-882B-7BE2-075D-221A217B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C4D9BA-0450-EA45-D60B-E4CE562ABC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BC5E22E-8B07-2523-1826-AC9E4CB8B31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Oliveira（2026）は，子どもを前提とした対策が，より広いデジタル脆弱性への対応につながることを指摘しています。</a:t>
            </a:r>
            <a:b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そのため，本研究では児童を対象としてダークパターンへの対処能力を育成することで，結果として利用者全体の対処能力の向上につながると考えています。</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latin typeface="Meiryo UI" panose="020B0604030504040204" pitchFamily="50" charset="-128"/>
              <a:ea typeface="Meiryo UI"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eiryo UI" panose="020B0604030504040204" pitchFamily="50" charset="-128"/>
                <a:ea typeface="Meiryo UI" panose="020B0604030504040204" pitchFamily="50" charset="-128"/>
              </a:rPr>
              <a:t>[5] </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https://opo.iisj.net/index.php/osls/article/view/2351</a:t>
            </a:r>
            <a:endParaRPr kumimoji="1" lang="en-US" alt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8B5FB94-E2FC-DB21-0EE3-16A5074065C8}"/>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5</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2555677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44D2E-96FF-3D7A-54AA-0E315CC46DF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0E0EE3F-0A72-A717-3CC7-DEE3347E80A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137E04C-B01A-2656-5797-21AE7E8722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子供へのダークパターン教育の先行研究として、</a:t>
            </a:r>
            <a:r>
              <a:rPr lang="ja-JP" altLang="ja-JP" dirty="0"/>
              <a:t>2025年のKhanらの研究では、まず147名の児童を対象に、ダークパターンのシナリオ提示と短い講義を行い、その前後での行動変化を評価しました。そして、その結果を踏まえて学校の授業で</a:t>
            </a:r>
            <a:r>
              <a:rPr lang="ja-JP" altLang="en-US" dirty="0"/>
              <a:t>使用する</a:t>
            </a:r>
            <a:r>
              <a:rPr lang="ja-JP" altLang="ja-JP" dirty="0"/>
              <a:t>Webアプリ『Mind the Dark』を開発し、さらに36名の児童を対象に評価を行っています。研究の結果として、講義の直後には、同一のシナリオにおいて課金行動が減少し、回避行動が増加するなど、児童の理解向上が確認されました。開発されたWebアプリについ</a:t>
            </a:r>
            <a:r>
              <a:rPr lang="ja-JP" altLang="en-US" dirty="0"/>
              <a:t>は、</a:t>
            </a:r>
            <a:r>
              <a:rPr lang="ja-JP" altLang="ja-JP" dirty="0"/>
              <a:t>観察やインタビューを通じて、児童の</a:t>
            </a:r>
            <a:r>
              <a:rPr lang="ja-JP" altLang="en-US" dirty="0"/>
              <a:t>ダークパターン</a:t>
            </a:r>
            <a:r>
              <a:rPr lang="ja-JP" altLang="ja-JP" dirty="0"/>
              <a:t>理解促進や興味、参加意欲の向上が見られたと報告されています。</a:t>
            </a:r>
            <a:r>
              <a:rPr lang="ja-JP" altLang="en-US" dirty="0"/>
              <a:t>しかし、</a:t>
            </a:r>
            <a:r>
              <a:rPr lang="ja-JP" altLang="ja-JP" dirty="0"/>
              <a:t>評価が講義直後の限定的なシナリオテストや、観察・インタビューといった主観的な手法に留まって</a:t>
            </a:r>
            <a:r>
              <a:rPr lang="ja-JP" altLang="en-US" dirty="0"/>
              <a:t>おり、また実際のＷｅｂ環境での検証がなく、行動としての活用、つまり内面化は未検証だということです。</a:t>
            </a:r>
            <a:endParaRPr kumimoji="1" lang="en-US" alt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4A108347-E342-AD96-50E8-2D8BB8621E20}"/>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6</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212136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2EC3C-04C1-BE69-5F71-9E86886A665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F0AAD-D5A9-3E5C-0AB2-30E9335D8CB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76735A3-2247-28BB-308C-E56CF74C33F1}"/>
              </a:ext>
            </a:extLst>
          </p:cNvPr>
          <p:cNvSpPr>
            <a:spLocks noGrp="1"/>
          </p:cNvSpPr>
          <p:nvPr>
            <p:ph type="body" idx="1"/>
          </p:nvPr>
        </p:nvSpPr>
        <p:spPr/>
        <p:txBody>
          <a:bodyPr/>
          <a:lstStyle/>
          <a:p>
            <a:pPr fontAlgn="t"/>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こで本研究では，児童がダークパターンに関する知識を，実際の意思決定場面で活用できるか，つまり内面化されているかを，現実に近いシミュレーション環境上での行動として評価できる「実践的評価環境」の構築を目的とします。既存研究では，シナリオ評価において講義前後の同一シナリオに対する選択結果，例えば押すか押さないかといった結果を指標として評価しています。また，アプリ評価においては，観察やインタビューを中心とした評価が行われています。そのため，知識が実際の行動として活用されているか，つまり回避行動として使えているかまでは判断できていません。</a:t>
            </a:r>
          </a:p>
          <a:p>
            <a:pPr fontAlgn="t"/>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そこで本研究では，その知識が実際に行動として活用されるかどうかに着目します。</a:t>
            </a:r>
          </a:p>
        </p:txBody>
      </p:sp>
      <p:sp>
        <p:nvSpPr>
          <p:cNvPr id="4" name="スライド番号プレースホルダー 3">
            <a:extLst>
              <a:ext uri="{FF2B5EF4-FFF2-40B4-BE49-F238E27FC236}">
                <a16:creationId xmlns:a16="http://schemas.microsoft.com/office/drawing/2014/main" id="{C33650C4-887F-5751-A30F-0E965FD655BF}"/>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7</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807220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F1AAE-0FA9-A810-BE94-3AFF925601C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6AD93E1-99A8-2213-03FC-D29873945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998DA8-FA2A-BE34-FA07-5B68ED58041F}"/>
              </a:ext>
            </a:extLst>
          </p:cNvPr>
          <p:cNvSpPr>
            <a:spLocks noGrp="1"/>
          </p:cNvSpPr>
          <p:nvPr>
            <p:ph type="body" idx="1"/>
          </p:nvPr>
        </p:nvSpPr>
        <p:spPr/>
        <p:txBody>
          <a:bodyPr/>
          <a:lstStyle/>
          <a:p>
            <a:pPr fontAlgn="t"/>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研究手法として、</a:t>
            </a:r>
            <a:r>
              <a:rPr lang="ja-JP" altLang="ja-JP" dirty="0"/>
              <a:t>ダークパターン教育」と「実践的行動評価」をフェーズ分けし、児童の警戒意識と油断状態の双方からダークパターンへの反応を測定</a:t>
            </a:r>
            <a:r>
              <a:rPr lang="ja-JP" altLang="en-US" dirty="0"/>
              <a:t>します。手順としましてはまず</a:t>
            </a:r>
            <a:r>
              <a:rPr lang="ja-JP" altLang="ja-JP" dirty="0"/>
              <a:t>模擬のWeb環境のなかで、</a:t>
            </a:r>
            <a:r>
              <a:rPr lang="ja-JP" altLang="en-US" dirty="0"/>
              <a:t>説明後</a:t>
            </a:r>
            <a:r>
              <a:rPr lang="ja-JP" altLang="ja-JP" dirty="0"/>
              <a:t>児童が能動的にダークパターンを探索・識別</a:t>
            </a:r>
            <a:r>
              <a:rPr lang="ja-JP" altLang="en-US" dirty="0"/>
              <a:t>させます。探索終了後、その</a:t>
            </a:r>
            <a:r>
              <a:rPr lang="en-US" altLang="ja-JP" dirty="0"/>
              <a:t>UI</a:t>
            </a:r>
            <a:r>
              <a:rPr lang="ja-JP" altLang="en-US" dirty="0"/>
              <a:t>がユーザをどのように意図決定へ誘導するかその仕組みを解説し、知識を補強します。ここまでは既存研究と同じですが、この報酬獲得タスクにて、</a:t>
            </a:r>
            <a:r>
              <a:rPr lang="ja-JP" altLang="ja-JP" dirty="0"/>
              <a:t>教育の終了を伝えた直後に『学習報酬を受け取る・選ぶ』という、次の自然なステップへ画面を遷移させます。これにより、ユーザが『テストされている』という警戒心を解き、かつ報酬獲得という欲望が喚起された状態を作ります。この油断が生じている意思決定の瞬間に、あえて報酬画面の中にダークパターンを仕掛けます。 評価においては、単に騙されたか回避できたかという結果の正誤ではなく、罠に直面した際のボタンを押すまでの反応時間や、確認、離脱といった操作のプロセス（行動ログ）を測定します。 </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A43D381A-07A3-6153-DCE1-90CC06C8FCB6}"/>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8</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517909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Ref idx="1001">
        <a:schemeClr val="bg1"/>
      </p:bgRef>
    </p:bg>
    <p:spTree>
      <p:nvGrpSpPr>
        <p:cNvPr id="1" name=""/>
        <p:cNvGrpSpPr/>
        <p:nvPr/>
      </p:nvGrpSpPr>
      <p:grpSpPr>
        <a:xfrm>
          <a:off x="0" y="0"/>
          <a:ext cx="0" cy="0"/>
          <a:chOff x="0" y="0"/>
          <a:chExt cx="0" cy="0"/>
        </a:xfrm>
      </p:grpSpPr>
      <p:grpSp>
        <p:nvGrpSpPr>
          <p:cNvPr id="10" name="グループ 9"/>
          <p:cNvGrpSpPr/>
          <p:nvPr/>
        </p:nvGrpSpPr>
        <p:grpSpPr>
          <a:xfrm>
            <a:off x="0" y="6208894"/>
            <a:ext cx="12192000" cy="649106"/>
            <a:chOff x="0" y="6208894"/>
            <a:chExt cx="12192000" cy="649106"/>
          </a:xfrm>
        </p:grpSpPr>
        <p:sp>
          <p:nvSpPr>
            <p:cNvPr id="2" name="長方形 1"/>
            <p:cNvSpPr/>
            <p:nvPr/>
          </p:nvSpPr>
          <p:spPr>
            <a:xfrm>
              <a:off x="3048" y="6220178"/>
              <a:ext cx="12188952" cy="637822"/>
            </a:xfrm>
            <a:prstGeom prst="rect">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rtl="0"/>
              <a:endParaRPr lang="ja-JP" altLang="en-US" noProof="0" dirty="0"/>
            </a:p>
          </p:txBody>
        </p:sp>
        <p:cxnSp>
          <p:nvCxnSpPr>
            <p:cNvPr id="7" name="直線​​コネクタ 6"/>
            <p:cNvCxnSpPr/>
            <p:nvPr/>
          </p:nvCxnSpPr>
          <p:spPr>
            <a:xfrm>
              <a:off x="0" y="6208894"/>
              <a:ext cx="121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grpSp>
      <p:cxnSp>
        <p:nvCxnSpPr>
          <p:cNvPr id="5" name="直線​​コネクタ 4"/>
          <p:cNvCxnSpPr/>
          <p:nvPr userDrawn="1"/>
        </p:nvCxnSpPr>
        <p:spPr>
          <a:xfrm flipV="1">
            <a:off x="3048" y="5937956"/>
            <a:ext cx="8241" cy="564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userDrawn="1"/>
        </p:nvCxnSpPr>
        <p:spPr>
          <a:xfrm flipV="1">
            <a:off x="3048" y="5937956"/>
            <a:ext cx="8241" cy="5644"/>
          </a:xfrm>
          <a:prstGeom prst="line">
            <a:avLst/>
          </a:prstGeom>
        </p:spPr>
        <p:style>
          <a:lnRef idx="1">
            <a:schemeClr val="accent1"/>
          </a:lnRef>
          <a:fillRef idx="0">
            <a:schemeClr val="accent1"/>
          </a:fillRef>
          <a:effectRef idx="0">
            <a:schemeClr val="accent1"/>
          </a:effectRef>
          <a:fontRef idx="minor">
            <a:schemeClr val="tx1"/>
          </a:fontRef>
        </p:style>
      </p:cxnSp>
      <p:sp>
        <p:nvSpPr>
          <p:cNvPr id="9" name="タイトル 8"/>
          <p:cNvSpPr>
            <a:spLocks noGrp="1"/>
          </p:cNvSpPr>
          <p:nvPr>
            <p:ph type="ctrTitle"/>
          </p:nvPr>
        </p:nvSpPr>
        <p:spPr>
          <a:xfrm>
            <a:off x="711200" y="1371600"/>
            <a:ext cx="10468864" cy="1828800"/>
          </a:xfrm>
          <a:ln>
            <a:noFill/>
          </a:ln>
        </p:spPr>
        <p:txBody>
          <a:bodyPr vert="horz" tIns="0" rIns="18288" bIns="0" rtlCol="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17" name="サブタイトル 16"/>
          <p:cNvSpPr>
            <a:spLocks noGrp="1"/>
          </p:cNvSpPr>
          <p:nvPr>
            <p:ph type="subTitle" idx="1"/>
          </p:nvPr>
        </p:nvSpPr>
        <p:spPr>
          <a:xfrm>
            <a:off x="711200" y="3228536"/>
            <a:ext cx="10472928" cy="1752600"/>
          </a:xfrm>
        </p:spPr>
        <p:txBody>
          <a:bodyPr lIns="0" rIns="18288" rtlCol="0"/>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pPr rtl="0"/>
            <a:r>
              <a:rPr lang="ja-JP" altLang="en-US" noProof="0"/>
              <a:t>マスター サブタイトルの書式設定</a:t>
            </a:r>
            <a:endParaRPr kumimoji="0" lang="ja-JP" altLang="en-US" noProof="0" dirty="0"/>
          </a:p>
        </p:txBody>
      </p:sp>
      <p:sp>
        <p:nvSpPr>
          <p:cNvPr id="30" name="日付プレースホルダー 29"/>
          <p:cNvSpPr>
            <a:spLocks noGrp="1"/>
          </p:cNvSpPr>
          <p:nvPr>
            <p:ph type="dt" sz="half" idx="10"/>
          </p:nvPr>
        </p:nvSpPr>
        <p:spPr/>
        <p:txBody>
          <a:bodyPr rtlCol="0"/>
          <a:lstStyle/>
          <a:p>
            <a:pPr rtl="0"/>
            <a:fld id="{E7D9F5B4-D2B9-4671-9B63-0110E6386A4E}" type="datetime4">
              <a:rPr lang="ja-JP" altLang="en-US" smtClean="0"/>
              <a:t>2026年6月17日</a:t>
            </a:fld>
            <a:endParaRPr lang="en-US" dirty="0"/>
          </a:p>
        </p:txBody>
      </p:sp>
      <p:sp>
        <p:nvSpPr>
          <p:cNvPr id="19" name="フッター プレースホルダー 18"/>
          <p:cNvSpPr>
            <a:spLocks noGrp="1"/>
          </p:cNvSpPr>
          <p:nvPr>
            <p:ph type="ftr" sz="quarter" idx="11"/>
          </p:nvPr>
        </p:nvSpPr>
        <p:spPr/>
        <p:txBody>
          <a:bodyPr rtlCol="0"/>
          <a:lstStyle/>
          <a:p>
            <a:pPr rtl="0"/>
            <a:r>
              <a:rPr lang="ja-JP" altLang="en-US" noProof="0" dirty="0"/>
              <a:t>フッターを追加</a:t>
            </a:r>
          </a:p>
        </p:txBody>
      </p:sp>
      <p:sp>
        <p:nvSpPr>
          <p:cNvPr id="27" name="スライド番号プレースホルダー 26"/>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29808200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rtlCol="0"/>
          <a:lstStyle/>
          <a:p>
            <a:pPr rtl="0"/>
            <a:r>
              <a:rPr lang="ja-JP" altLang="en-US" noProof="0"/>
              <a:t>マスター タイトルの書式設定</a:t>
            </a:r>
            <a:endParaRPr kumimoji="0" lang="ja-JP" altLang="en-US" noProof="0" dirty="0"/>
          </a:p>
        </p:txBody>
      </p:sp>
      <p:sp>
        <p:nvSpPr>
          <p:cNvPr id="3" name="コンテンツ プレースホルダー 2"/>
          <p:cNvSpPr>
            <a:spLocks noGrp="1"/>
          </p:cNvSpPr>
          <p:nvPr>
            <p:ph idx="1"/>
          </p:nvPr>
        </p:nvSpPr>
        <p:spPr/>
        <p:txBody>
          <a:bodyPr rtlCol="0"/>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4" name="日付プレースホルダー 3"/>
          <p:cNvSpPr>
            <a:spLocks noGrp="1"/>
          </p:cNvSpPr>
          <p:nvPr>
            <p:ph type="dt" sz="half" idx="10"/>
          </p:nvPr>
        </p:nvSpPr>
        <p:spPr/>
        <p:txBody>
          <a:bodyPr rtlCol="0"/>
          <a:lstStyle/>
          <a:p>
            <a:pPr rtl="0"/>
            <a:fld id="{030C11D6-D226-45B1-8AA5-91C501F3B0E7}" type="datetime4">
              <a:rPr lang="ja-JP" altLang="en-US" smtClean="0"/>
              <a:t>2026年6月17日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1481682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 ヘッダー">
    <p:spTree>
      <p:nvGrpSpPr>
        <p:cNvPr id="1" name=""/>
        <p:cNvGrpSpPr/>
        <p:nvPr/>
      </p:nvGrpSpPr>
      <p:grpSpPr>
        <a:xfrm>
          <a:off x="0" y="0"/>
          <a:ext cx="0" cy="0"/>
          <a:chOff x="0" y="0"/>
          <a:chExt cx="0" cy="0"/>
        </a:xfrm>
      </p:grpSpPr>
      <p:sp>
        <p:nvSpPr>
          <p:cNvPr id="2" name="タイトル 1"/>
          <p:cNvSpPr>
            <a:spLocks noGrp="1"/>
          </p:cNvSpPr>
          <p:nvPr>
            <p:ph type="title"/>
          </p:nvPr>
        </p:nvSpPr>
        <p:spPr>
          <a:xfrm>
            <a:off x="707136" y="1316736"/>
            <a:ext cx="10363200" cy="1362456"/>
          </a:xfrm>
          <a:ln>
            <a:noFill/>
          </a:ln>
        </p:spPr>
        <p:txBody>
          <a:bodyPr vert="horz" tIns="0" bIns="0" rtlCol="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3" name="テキスト プレースホルダー 2"/>
          <p:cNvSpPr>
            <a:spLocks noGrp="1"/>
          </p:cNvSpPr>
          <p:nvPr>
            <p:ph type="body" idx="1"/>
          </p:nvPr>
        </p:nvSpPr>
        <p:spPr>
          <a:xfrm>
            <a:off x="707136" y="2704664"/>
            <a:ext cx="10363200" cy="1509712"/>
          </a:xfrm>
        </p:spPr>
        <p:txBody>
          <a:bodyPr lIns="45720" rIns="45720" rtlCol="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rtl="0" eaLnBrk="1" latinLnBrk="0" hangingPunct="1"/>
            <a:r>
              <a:rPr lang="ja-JP" altLang="en-US" noProof="0"/>
              <a:t>マスター テキストの書式設定</a:t>
            </a:r>
          </a:p>
        </p:txBody>
      </p:sp>
      <p:sp>
        <p:nvSpPr>
          <p:cNvPr id="4" name="日付プレースホルダー 3"/>
          <p:cNvSpPr>
            <a:spLocks noGrp="1"/>
          </p:cNvSpPr>
          <p:nvPr>
            <p:ph type="dt" sz="half" idx="10"/>
          </p:nvPr>
        </p:nvSpPr>
        <p:spPr/>
        <p:txBody>
          <a:bodyPr rtlCol="0"/>
          <a:lstStyle/>
          <a:p>
            <a:pPr rtl="0"/>
            <a:fld id="{E5400AA1-06A4-444F-94EA-80BA16484187}" type="datetime4">
              <a:rPr lang="ja-JP" altLang="en-US" smtClean="0"/>
              <a:t>2026年6月17日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353193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段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0" y="704088"/>
            <a:ext cx="10972800" cy="1143000"/>
          </a:xfrm>
        </p:spPr>
        <p:txBody>
          <a:bodyPr rtlCol="0"/>
          <a:lstStyle/>
          <a:p>
            <a:pPr rtl="0"/>
            <a:r>
              <a:rPr lang="ja-JP" altLang="en-US" noProof="0"/>
              <a:t>マスター タイトルの書式設定</a:t>
            </a:r>
            <a:endParaRPr kumimoji="0" lang="ja-JP" altLang="en-US" noProof="0" dirty="0"/>
          </a:p>
        </p:txBody>
      </p:sp>
      <p:sp>
        <p:nvSpPr>
          <p:cNvPr id="3" name="コンテンツ プレースホルダー 2"/>
          <p:cNvSpPr>
            <a:spLocks noGrp="1"/>
          </p:cNvSpPr>
          <p:nvPr>
            <p:ph sz="half" idx="1"/>
          </p:nvPr>
        </p:nvSpPr>
        <p:spPr>
          <a:xfrm>
            <a:off x="609600" y="1920085"/>
            <a:ext cx="5384800" cy="4434840"/>
          </a:xfrm>
        </p:spPr>
        <p:txBody>
          <a:bodyPr rtlCol="0"/>
          <a:lstStyle>
            <a:lvl1pPr>
              <a:defRPr sz="2600"/>
            </a:lvl1pPr>
            <a:lvl2pPr>
              <a:defRPr sz="2400"/>
            </a:lvl2pPr>
            <a:lvl3pPr>
              <a:defRPr sz="2000"/>
            </a:lvl3pPr>
            <a:lvl4pPr>
              <a:defRPr sz="1800"/>
            </a:lvl4pPr>
            <a:lvl5pPr>
              <a:defRPr sz="1800"/>
            </a:lvl5pPr>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4" name="コンテンツ プレースホルダー 3"/>
          <p:cNvSpPr>
            <a:spLocks noGrp="1"/>
          </p:cNvSpPr>
          <p:nvPr>
            <p:ph sz="half" idx="2"/>
          </p:nvPr>
        </p:nvSpPr>
        <p:spPr>
          <a:xfrm>
            <a:off x="6197600" y="1920085"/>
            <a:ext cx="5384800" cy="4434840"/>
          </a:xfrm>
        </p:spPr>
        <p:txBody>
          <a:bodyPr rtlCol="0"/>
          <a:lstStyle>
            <a:lvl1pPr>
              <a:defRPr sz="2600"/>
            </a:lvl1pPr>
            <a:lvl2pPr>
              <a:defRPr sz="2400"/>
            </a:lvl2pPr>
            <a:lvl3pPr>
              <a:defRPr sz="2000"/>
            </a:lvl3pPr>
            <a:lvl4pPr>
              <a:defRPr sz="1800"/>
            </a:lvl4pPr>
            <a:lvl5pPr>
              <a:defRPr sz="1800"/>
            </a:lvl5pPr>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5" name="日付プレースホルダー 4"/>
          <p:cNvSpPr>
            <a:spLocks noGrp="1"/>
          </p:cNvSpPr>
          <p:nvPr>
            <p:ph type="dt" sz="half" idx="10"/>
          </p:nvPr>
        </p:nvSpPr>
        <p:spPr/>
        <p:txBody>
          <a:bodyPr rtlCol="0"/>
          <a:lstStyle/>
          <a:p>
            <a:pPr rtl="0"/>
            <a:fld id="{7538B790-6ACD-441F-B06D-4917F8B429D2}" type="datetime4">
              <a:rPr lang="ja-JP" altLang="en-US" smtClean="0"/>
              <a:t>2026年6月17日</a:t>
            </a:fld>
            <a:endParaRPr lang="en-US" dirty="0"/>
          </a:p>
        </p:txBody>
      </p:sp>
      <p:sp>
        <p:nvSpPr>
          <p:cNvPr id="6" name="フッター プレースホルダー 5"/>
          <p:cNvSpPr>
            <a:spLocks noGrp="1"/>
          </p:cNvSpPr>
          <p:nvPr>
            <p:ph type="ftr" sz="quarter" idx="11"/>
          </p:nvPr>
        </p:nvSpPr>
        <p:spPr/>
        <p:txBody>
          <a:bodyPr rtlCol="0"/>
          <a:lstStyle/>
          <a:p>
            <a:pPr rtl="0"/>
            <a:r>
              <a:rPr lang="ja-JP" altLang="en-US" noProof="0" dirty="0"/>
              <a:t>フッターを追加</a:t>
            </a:r>
          </a:p>
        </p:txBody>
      </p:sp>
      <p:sp>
        <p:nvSpPr>
          <p:cNvPr id="7" name="スライド番号プレースホルダー 6"/>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109018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0" y="704088"/>
            <a:ext cx="10972800" cy="1143000"/>
          </a:xfrm>
        </p:spPr>
        <p:txBody>
          <a:bodyPr tIns="45720" rtlCol="0" anchor="b"/>
          <a:lstStyle>
            <a:lvl1pPr>
              <a:defRPr/>
            </a:lvl1pPr>
          </a:lstStyle>
          <a:p>
            <a:pPr rtl="0"/>
            <a:r>
              <a:rPr lang="ja-JP" altLang="en-US"/>
              <a:t>マスター タイトルの書式設定</a:t>
            </a:r>
            <a:endParaRPr kumimoji="0" lang="en-US" dirty="0"/>
          </a:p>
        </p:txBody>
      </p:sp>
      <p:sp>
        <p:nvSpPr>
          <p:cNvPr id="3" name="テキスト プレースホルダー 2"/>
          <p:cNvSpPr>
            <a:spLocks noGrp="1"/>
          </p:cNvSpPr>
          <p:nvPr>
            <p:ph type="body" idx="1"/>
          </p:nvPr>
        </p:nvSpPr>
        <p:spPr>
          <a:xfrm>
            <a:off x="609600" y="1855248"/>
            <a:ext cx="5386917" cy="659352"/>
          </a:xfrm>
        </p:spPr>
        <p:txBody>
          <a:bodyPr lIns="45720" tIns="0" rIns="45720" bIns="0" rtlCol="0" anchor="ctr">
            <a:noAutofit/>
          </a:bodyPr>
          <a:lstStyle>
            <a:lvl1pPr marL="0" indent="0">
              <a:buNone/>
              <a:defRPr sz="2400" b="1" cap="none" baseline="0">
                <a:solidFill>
                  <a:schemeClr val="tx1"/>
                </a:solidFill>
                <a:effectLst/>
              </a:defRPr>
            </a:lvl1pPr>
            <a:lvl2pPr>
              <a:buNone/>
              <a:defRPr sz="2000" b="1"/>
            </a:lvl2pPr>
            <a:lvl3pPr>
              <a:buNone/>
              <a:defRPr sz="1800" b="1"/>
            </a:lvl3pPr>
            <a:lvl4pPr>
              <a:buNone/>
              <a:defRPr sz="1600" b="1"/>
            </a:lvl4pPr>
            <a:lvl5pPr>
              <a:buNone/>
              <a:defRPr sz="1600" b="1"/>
            </a:lvl5pPr>
          </a:lstStyle>
          <a:p>
            <a:pPr lvl="0" rtl="0" eaLnBrk="1" latinLnBrk="0" hangingPunct="1"/>
            <a:r>
              <a:rPr lang="ja-JP" altLang="en-US"/>
              <a:t>マスター テキストの書式設定</a:t>
            </a:r>
          </a:p>
        </p:txBody>
      </p:sp>
      <p:sp>
        <p:nvSpPr>
          <p:cNvPr id="5" name="コンテンツ プレースホルダー 4"/>
          <p:cNvSpPr>
            <a:spLocks noGrp="1"/>
          </p:cNvSpPr>
          <p:nvPr>
            <p:ph sz="quarter" idx="2"/>
          </p:nvPr>
        </p:nvSpPr>
        <p:spPr>
          <a:xfrm>
            <a:off x="609600" y="2514600"/>
            <a:ext cx="5386917" cy="3845720"/>
          </a:xfrm>
        </p:spPr>
        <p:txBody>
          <a:bodyPr tIns="0" rtlCol="0"/>
          <a:lstStyle>
            <a:lvl1pPr>
              <a:defRPr sz="2200"/>
            </a:lvl1pPr>
            <a:lvl2pPr>
              <a:defRPr sz="2000"/>
            </a:lvl2pPr>
            <a:lvl3pPr>
              <a:defRPr sz="1800"/>
            </a:lvl3pPr>
            <a:lvl4pPr>
              <a:defRPr sz="1600"/>
            </a:lvl4pPr>
            <a:lvl5pPr>
              <a:defRPr sz="1600"/>
            </a:lvl5pPr>
          </a:lstStyle>
          <a:p>
            <a:pPr lvl="0" rtl="0" eaLnBrk="1" latinLnBrk="0" hangingPunct="1"/>
            <a:r>
              <a:rPr lang="ja-JP" altLang="en-US"/>
              <a:t>マスター テキストの書式設定</a:t>
            </a:r>
          </a:p>
          <a:p>
            <a:pPr lvl="1" rtl="0" eaLnBrk="1" latinLnBrk="0" hangingPunct="1"/>
            <a:r>
              <a:rPr lang="ja-JP" altLang="en-US"/>
              <a:t>第 </a:t>
            </a:r>
            <a:r>
              <a:rPr lang="en-US" altLang="ja-JP"/>
              <a:t>2 </a:t>
            </a:r>
            <a:r>
              <a:rPr lang="ja-JP" altLang="en-US"/>
              <a:t>レベル</a:t>
            </a:r>
          </a:p>
          <a:p>
            <a:pPr lvl="2" rtl="0" eaLnBrk="1" latinLnBrk="0" hangingPunct="1"/>
            <a:r>
              <a:rPr lang="ja-JP" altLang="en-US"/>
              <a:t>第 </a:t>
            </a:r>
            <a:r>
              <a:rPr lang="en-US" altLang="ja-JP"/>
              <a:t>3 </a:t>
            </a:r>
            <a:r>
              <a:rPr lang="ja-JP" altLang="en-US"/>
              <a:t>レベル</a:t>
            </a:r>
          </a:p>
          <a:p>
            <a:pPr lvl="3" rtl="0" eaLnBrk="1" latinLnBrk="0" hangingPunct="1"/>
            <a:r>
              <a:rPr lang="ja-JP" altLang="en-US"/>
              <a:t>第 </a:t>
            </a:r>
            <a:r>
              <a:rPr lang="en-US" altLang="ja-JP"/>
              <a:t>4 </a:t>
            </a:r>
            <a:r>
              <a:rPr lang="ja-JP" altLang="en-US"/>
              <a:t>レベル</a:t>
            </a:r>
          </a:p>
          <a:p>
            <a:pPr lvl="4" rtl="0" eaLnBrk="1" latinLnBrk="0" hangingPunct="1"/>
            <a:r>
              <a:rPr lang="ja-JP" altLang="en-US"/>
              <a:t>第 </a:t>
            </a:r>
            <a:r>
              <a:rPr lang="en-US" altLang="ja-JP"/>
              <a:t>5 </a:t>
            </a:r>
            <a:r>
              <a:rPr lang="ja-JP" altLang="en-US"/>
              <a:t>レベル</a:t>
            </a:r>
            <a:endParaRPr kumimoji="0" lang="en-US" dirty="0"/>
          </a:p>
        </p:txBody>
      </p:sp>
      <p:sp>
        <p:nvSpPr>
          <p:cNvPr id="4" name="テキスト プレースホルダー 3"/>
          <p:cNvSpPr>
            <a:spLocks noGrp="1"/>
          </p:cNvSpPr>
          <p:nvPr>
            <p:ph type="body" sz="half" idx="3"/>
          </p:nvPr>
        </p:nvSpPr>
        <p:spPr>
          <a:xfrm>
            <a:off x="6193368" y="1859758"/>
            <a:ext cx="5389033" cy="654843"/>
          </a:xfrm>
        </p:spPr>
        <p:txBody>
          <a:bodyPr lIns="45720" tIns="0" rIns="45720" bIns="0" rtlCol="0" anchor="ctr"/>
          <a:lstStyle>
            <a:lvl1pPr marL="0" indent="0">
              <a:buNone/>
              <a:defRPr sz="2400" b="1" cap="none" baseline="0">
                <a:solidFill>
                  <a:schemeClr val="tx1"/>
                </a:solidFill>
                <a:effectLst/>
              </a:defRPr>
            </a:lvl1pPr>
            <a:lvl2pPr>
              <a:buNone/>
              <a:defRPr sz="2000" b="1"/>
            </a:lvl2pPr>
            <a:lvl3pPr>
              <a:buNone/>
              <a:defRPr sz="1800" b="1"/>
            </a:lvl3pPr>
            <a:lvl4pPr>
              <a:buNone/>
              <a:defRPr sz="1600" b="1"/>
            </a:lvl4pPr>
            <a:lvl5pPr>
              <a:buNone/>
              <a:defRPr sz="1600" b="1"/>
            </a:lvl5pPr>
          </a:lstStyle>
          <a:p>
            <a:pPr lvl="0" rtl="0" eaLnBrk="1" latinLnBrk="0" hangingPunct="1"/>
            <a:r>
              <a:rPr lang="ja-JP" altLang="en-US"/>
              <a:t>マスター テキストの書式設定</a:t>
            </a:r>
          </a:p>
        </p:txBody>
      </p:sp>
      <p:sp>
        <p:nvSpPr>
          <p:cNvPr id="6" name="コンテンツ プレースホルダー 5"/>
          <p:cNvSpPr>
            <a:spLocks noGrp="1"/>
          </p:cNvSpPr>
          <p:nvPr>
            <p:ph sz="quarter" idx="4"/>
          </p:nvPr>
        </p:nvSpPr>
        <p:spPr>
          <a:xfrm>
            <a:off x="6193368" y="2514600"/>
            <a:ext cx="5389033" cy="3845720"/>
          </a:xfrm>
        </p:spPr>
        <p:txBody>
          <a:bodyPr tIns="0" rtlCol="0"/>
          <a:lstStyle>
            <a:lvl1pPr>
              <a:defRPr sz="2200"/>
            </a:lvl1pPr>
            <a:lvl2pPr>
              <a:defRPr sz="2000"/>
            </a:lvl2pPr>
            <a:lvl3pPr>
              <a:defRPr sz="1800"/>
            </a:lvl3pPr>
            <a:lvl4pPr>
              <a:defRPr sz="1600"/>
            </a:lvl4pPr>
            <a:lvl5pPr>
              <a:defRPr sz="1600"/>
            </a:lvl5pPr>
          </a:lstStyle>
          <a:p>
            <a:pPr lvl="0" rtl="0" eaLnBrk="1" latinLnBrk="0" hangingPunct="1"/>
            <a:r>
              <a:rPr lang="ja-JP" altLang="en-US"/>
              <a:t>マスター テキストの書式設定</a:t>
            </a:r>
          </a:p>
          <a:p>
            <a:pPr lvl="1" rtl="0" eaLnBrk="1" latinLnBrk="0" hangingPunct="1"/>
            <a:r>
              <a:rPr lang="ja-JP" altLang="en-US"/>
              <a:t>第 </a:t>
            </a:r>
            <a:r>
              <a:rPr lang="en-US" altLang="ja-JP"/>
              <a:t>2 </a:t>
            </a:r>
            <a:r>
              <a:rPr lang="ja-JP" altLang="en-US"/>
              <a:t>レベル</a:t>
            </a:r>
          </a:p>
          <a:p>
            <a:pPr lvl="2" rtl="0" eaLnBrk="1" latinLnBrk="0" hangingPunct="1"/>
            <a:r>
              <a:rPr lang="ja-JP" altLang="en-US"/>
              <a:t>第 </a:t>
            </a:r>
            <a:r>
              <a:rPr lang="en-US" altLang="ja-JP"/>
              <a:t>3 </a:t>
            </a:r>
            <a:r>
              <a:rPr lang="ja-JP" altLang="en-US"/>
              <a:t>レベル</a:t>
            </a:r>
          </a:p>
          <a:p>
            <a:pPr lvl="3" rtl="0" eaLnBrk="1" latinLnBrk="0" hangingPunct="1"/>
            <a:r>
              <a:rPr lang="ja-JP" altLang="en-US"/>
              <a:t>第 </a:t>
            </a:r>
            <a:r>
              <a:rPr lang="en-US" altLang="ja-JP"/>
              <a:t>4 </a:t>
            </a:r>
            <a:r>
              <a:rPr lang="ja-JP" altLang="en-US"/>
              <a:t>レベル</a:t>
            </a:r>
          </a:p>
          <a:p>
            <a:pPr lvl="4" rtl="0" eaLnBrk="1" latinLnBrk="0" hangingPunct="1"/>
            <a:r>
              <a:rPr lang="ja-JP" altLang="en-US"/>
              <a:t>第 </a:t>
            </a:r>
            <a:r>
              <a:rPr lang="en-US" altLang="ja-JP"/>
              <a:t>5 </a:t>
            </a:r>
            <a:r>
              <a:rPr lang="ja-JP" altLang="en-US"/>
              <a:t>レベル</a:t>
            </a:r>
            <a:endParaRPr kumimoji="0" lang="en-US" dirty="0"/>
          </a:p>
        </p:txBody>
      </p:sp>
      <p:sp>
        <p:nvSpPr>
          <p:cNvPr id="7" name="日付プレースホルダー 6"/>
          <p:cNvSpPr>
            <a:spLocks noGrp="1"/>
          </p:cNvSpPr>
          <p:nvPr>
            <p:ph type="dt" sz="half" idx="10"/>
          </p:nvPr>
        </p:nvSpPr>
        <p:spPr/>
        <p:txBody>
          <a:bodyPr rtlCol="0"/>
          <a:lstStyle/>
          <a:p>
            <a:pPr rtl="0"/>
            <a:fld id="{BA296CEC-F0EC-4499-B406-555829E93D38}" type="datetime4">
              <a:rPr lang="ja-JP" altLang="en-US" smtClean="0"/>
              <a:t>2026年6月17日</a:t>
            </a:fld>
            <a:endParaRPr lang="en-US" dirty="0"/>
          </a:p>
        </p:txBody>
      </p:sp>
      <p:sp>
        <p:nvSpPr>
          <p:cNvPr id="8" name="フッター プレースホルダー 7"/>
          <p:cNvSpPr>
            <a:spLocks noGrp="1"/>
          </p:cNvSpPr>
          <p:nvPr>
            <p:ph type="ftr" sz="quarter" idx="11"/>
          </p:nvPr>
        </p:nvSpPr>
        <p:spPr/>
        <p:txBody>
          <a:bodyPr rtlCol="0"/>
          <a:lstStyle/>
          <a:p>
            <a:pPr rtl="0"/>
            <a:r>
              <a:rPr lang="ja" dirty="0"/>
              <a:t>フッターを追加</a:t>
            </a:r>
            <a:endParaRPr lang="en-US" dirty="0"/>
          </a:p>
        </p:txBody>
      </p:sp>
      <p:sp>
        <p:nvSpPr>
          <p:cNvPr id="9" name="スライド番号プレースホルダー 8"/>
          <p:cNvSpPr>
            <a:spLocks noGrp="1"/>
          </p:cNvSpPr>
          <p:nvPr>
            <p:ph type="sldNum" sz="quarter" idx="12"/>
          </p:nvPr>
        </p:nvSpPr>
        <p:spPr/>
        <p:txBody>
          <a:bodyPr rtlCol="0"/>
          <a:lstStyle/>
          <a:p>
            <a:pPr rtl="0"/>
            <a:fld id="{401CF334-2D5C-4859-84A6-CA7E6E43FAEB}" type="slidenum">
              <a:rPr lang="en-US" smtClean="0"/>
              <a:t>‹#›</a:t>
            </a:fld>
            <a:endParaRPr lang="en-US" dirty="0"/>
          </a:p>
        </p:txBody>
      </p:sp>
    </p:spTree>
    <p:extLst>
      <p:ext uri="{BB962C8B-B14F-4D97-AF65-F5344CB8AC3E}">
        <p14:creationId xmlns:p14="http://schemas.microsoft.com/office/powerpoint/2010/main" val="12501885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0" y="704088"/>
            <a:ext cx="11074400" cy="1143000"/>
          </a:xfrm>
        </p:spPr>
        <p:txBody>
          <a:bodyPr vert="horz" tIns="45720" bIns="0" rtlCol="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3" name="日付プレースホルダー 2"/>
          <p:cNvSpPr>
            <a:spLocks noGrp="1"/>
          </p:cNvSpPr>
          <p:nvPr>
            <p:ph type="dt" sz="half" idx="10"/>
          </p:nvPr>
        </p:nvSpPr>
        <p:spPr/>
        <p:txBody>
          <a:bodyPr rtlCol="0"/>
          <a:lstStyle/>
          <a:p>
            <a:pPr rtl="0"/>
            <a:fld id="{7BC8EE4A-0564-4F19-AF56-1B86A81857A1}" type="datetime4">
              <a:rPr lang="ja-JP" altLang="en-US" smtClean="0"/>
              <a:t>2026年6月17日</a:t>
            </a:fld>
            <a:endParaRPr lang="en-US"/>
          </a:p>
        </p:txBody>
      </p:sp>
      <p:sp>
        <p:nvSpPr>
          <p:cNvPr id="4" name="フッター プレースホルダー 3"/>
          <p:cNvSpPr>
            <a:spLocks noGrp="1"/>
          </p:cNvSpPr>
          <p:nvPr>
            <p:ph type="ftr" sz="quarter" idx="11"/>
          </p:nvPr>
        </p:nvSpPr>
        <p:spPr/>
        <p:txBody>
          <a:bodyPr rtlCol="0"/>
          <a:lstStyle/>
          <a:p>
            <a:pPr rtl="0"/>
            <a:r>
              <a:rPr lang="ja-JP" altLang="en-US" noProof="0" dirty="0"/>
              <a:t>フッターを追加</a:t>
            </a:r>
          </a:p>
        </p:txBody>
      </p:sp>
      <p:sp>
        <p:nvSpPr>
          <p:cNvPr id="5" name="スライド番号プレースホルダー 4"/>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30718149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rtlCol="0"/>
          <a:lstStyle/>
          <a:p>
            <a:pPr rtl="0"/>
            <a:fld id="{AAD0A0B1-5389-4168-8C71-456999E01C6A}" type="datetime4">
              <a:rPr lang="ja-JP" altLang="en-US" smtClean="0"/>
              <a:t>2026年6月17日</a:t>
            </a:fld>
            <a:endParaRPr lang="en-US" dirty="0"/>
          </a:p>
        </p:txBody>
      </p:sp>
      <p:sp>
        <p:nvSpPr>
          <p:cNvPr id="3" name="フッター プレースホルダー 2"/>
          <p:cNvSpPr>
            <a:spLocks noGrp="1"/>
          </p:cNvSpPr>
          <p:nvPr>
            <p:ph type="ftr" sz="quarter" idx="11"/>
          </p:nvPr>
        </p:nvSpPr>
        <p:spPr/>
        <p:txBody>
          <a:bodyPr rtlCol="0"/>
          <a:lstStyle/>
          <a:p>
            <a:pPr rtl="0"/>
            <a:r>
              <a:rPr lang="ja-JP" altLang="en-US" noProof="0" dirty="0"/>
              <a:t>フッターを追加</a:t>
            </a:r>
          </a:p>
        </p:txBody>
      </p:sp>
      <p:sp>
        <p:nvSpPr>
          <p:cNvPr id="4" name="スライド番号プレースホルダー 3"/>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252882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キャプション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914400" y="514352"/>
            <a:ext cx="3657600" cy="1162050"/>
          </a:xfrm>
        </p:spPr>
        <p:txBody>
          <a:bodyPr lIns="0" rtlCol="0" anchor="b">
            <a:noAutofit/>
          </a:bodyPr>
          <a:lstStyle>
            <a:lvl1pPr algn="l" rtl="0">
              <a:spcBef>
                <a:spcPct val="0"/>
              </a:spcBef>
              <a:buNone/>
              <a:defRPr sz="2600" b="0">
                <a:ln>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4" name="コンテンツ プレースホルダー 3"/>
          <p:cNvSpPr>
            <a:spLocks noGrp="1"/>
          </p:cNvSpPr>
          <p:nvPr>
            <p:ph sz="half" idx="1"/>
          </p:nvPr>
        </p:nvSpPr>
        <p:spPr>
          <a:xfrm>
            <a:off x="4766733" y="1676400"/>
            <a:ext cx="6815667" cy="4572000"/>
          </a:xfrm>
        </p:spPr>
        <p:txBody>
          <a:bodyPr tIns="0" rtlCol="0"/>
          <a:lstStyle>
            <a:lvl1pPr>
              <a:defRPr sz="2800"/>
            </a:lvl1pPr>
            <a:lvl2pPr>
              <a:defRPr sz="2600"/>
            </a:lvl2pPr>
            <a:lvl3pPr>
              <a:defRPr sz="2400"/>
            </a:lvl3pPr>
            <a:lvl4pPr>
              <a:defRPr sz="2000"/>
            </a:lvl4pPr>
            <a:lvl5pPr>
              <a:defRPr sz="1800"/>
            </a:lvl5pPr>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3" name="テキスト プレースホルダー 2"/>
          <p:cNvSpPr>
            <a:spLocks noGrp="1"/>
          </p:cNvSpPr>
          <p:nvPr>
            <p:ph type="body" idx="2"/>
          </p:nvPr>
        </p:nvSpPr>
        <p:spPr>
          <a:xfrm>
            <a:off x="914400" y="1676400"/>
            <a:ext cx="3657600" cy="4572000"/>
          </a:xfrm>
        </p:spPr>
        <p:txBody>
          <a:bodyPr lIns="18288" rIns="18288" rtlCol="0"/>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rtl="0" eaLnBrk="1" latinLnBrk="0" hangingPunct="1"/>
            <a:r>
              <a:rPr lang="ja-JP" altLang="en-US" noProof="0"/>
              <a:t>マスター テキストの書式設定</a:t>
            </a:r>
          </a:p>
        </p:txBody>
      </p:sp>
      <p:sp>
        <p:nvSpPr>
          <p:cNvPr id="5" name="日付プレースホルダー 4"/>
          <p:cNvSpPr>
            <a:spLocks noGrp="1"/>
          </p:cNvSpPr>
          <p:nvPr>
            <p:ph type="dt" sz="half" idx="10"/>
          </p:nvPr>
        </p:nvSpPr>
        <p:spPr/>
        <p:txBody>
          <a:bodyPr rtlCol="0"/>
          <a:lstStyle/>
          <a:p>
            <a:pPr rtl="0"/>
            <a:fld id="{3DFAF4E1-8E5B-454D-966C-37225B9702A6}" type="datetime4">
              <a:rPr lang="ja-JP" altLang="en-US" smtClean="0"/>
              <a:t>2026年6月17日</a:t>
            </a:fld>
            <a:endParaRPr lang="en-US" dirty="0"/>
          </a:p>
        </p:txBody>
      </p:sp>
      <p:sp>
        <p:nvSpPr>
          <p:cNvPr id="6" name="フッター プレースホルダー 5"/>
          <p:cNvSpPr>
            <a:spLocks noGrp="1"/>
          </p:cNvSpPr>
          <p:nvPr>
            <p:ph type="ftr" sz="quarter" idx="11"/>
          </p:nvPr>
        </p:nvSpPr>
        <p:spPr/>
        <p:txBody>
          <a:bodyPr rtlCol="0"/>
          <a:lstStyle/>
          <a:p>
            <a:pPr rtl="0"/>
            <a:r>
              <a:rPr lang="ja-JP" altLang="en-US" noProof="0" dirty="0"/>
              <a:t>フッターを追加</a:t>
            </a:r>
          </a:p>
        </p:txBody>
      </p:sp>
      <p:sp>
        <p:nvSpPr>
          <p:cNvPr id="7" name="スライド番号プレースホルダー 6"/>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19919267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キャプション付きの画像">
    <p:spTree>
      <p:nvGrpSpPr>
        <p:cNvPr id="1" name=""/>
        <p:cNvGrpSpPr/>
        <p:nvPr/>
      </p:nvGrpSpPr>
      <p:grpSpPr>
        <a:xfrm>
          <a:off x="0" y="0"/>
          <a:ext cx="0" cy="0"/>
          <a:chOff x="0" y="0"/>
          <a:chExt cx="0" cy="0"/>
        </a:xfrm>
      </p:grpSpPr>
      <p:sp>
        <p:nvSpPr>
          <p:cNvPr id="9" name="1 つの角を切り取って丸めた四角形 8"/>
          <p:cNvSpPr/>
          <p:nvPr/>
        </p:nvSpPr>
        <p:spPr>
          <a:xfrm rot="420000" flipV="1">
            <a:off x="4221004" y="1108077"/>
            <a:ext cx="70104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rtl="0" eaLnBrk="1" latinLnBrk="0" hangingPunct="1"/>
            <a:endParaRPr kumimoji="0" lang="ja-JP" altLang="en-US" sz="1800" noProof="0" dirty="0"/>
          </a:p>
        </p:txBody>
      </p:sp>
      <p:sp>
        <p:nvSpPr>
          <p:cNvPr id="12" name="直角三角形 11"/>
          <p:cNvSpPr/>
          <p:nvPr/>
        </p:nvSpPr>
        <p:spPr>
          <a:xfrm rot="420000" flipV="1">
            <a:off x="10672179" y="5359769"/>
            <a:ext cx="207264"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rtl="0" eaLnBrk="1" latinLnBrk="0" hangingPunct="1"/>
            <a:endParaRPr kumimoji="0" lang="ja-JP" altLang="en-US" sz="1800" noProof="0" dirty="0"/>
          </a:p>
        </p:txBody>
      </p:sp>
      <p:sp>
        <p:nvSpPr>
          <p:cNvPr id="2" name="タイトル 1"/>
          <p:cNvSpPr>
            <a:spLocks noGrp="1"/>
          </p:cNvSpPr>
          <p:nvPr>
            <p:ph type="title"/>
          </p:nvPr>
        </p:nvSpPr>
        <p:spPr>
          <a:xfrm>
            <a:off x="812800" y="1176997"/>
            <a:ext cx="2950464" cy="1582621"/>
          </a:xfrm>
        </p:spPr>
        <p:txBody>
          <a:bodyPr vert="horz" lIns="45720" tIns="45720" rIns="45720" bIns="45720" rtlCol="0" anchor="b"/>
          <a:lstStyle>
            <a:lvl1pPr algn="l">
              <a:buNone/>
              <a:defRPr sz="2000" b="1">
                <a:solidFill>
                  <a:schemeClr val="tx2"/>
                </a:solidFill>
              </a:defRPr>
            </a:lvl1pPr>
          </a:lstStyle>
          <a:p>
            <a:pPr rtl="0"/>
            <a:r>
              <a:rPr lang="ja-JP" altLang="en-US" noProof="0"/>
              <a:t>マスター タイトルの書式設定</a:t>
            </a:r>
            <a:endParaRPr kumimoji="0" lang="ja-JP" altLang="en-US" noProof="0" dirty="0"/>
          </a:p>
        </p:txBody>
      </p:sp>
      <p:sp>
        <p:nvSpPr>
          <p:cNvPr id="3" name="図プレースホルダー 2" descr="画像を追加する空のプレースホルダー。プレースホルダーをクリックし、追加する画像を選択します"/>
          <p:cNvSpPr>
            <a:spLocks noGrp="1"/>
          </p:cNvSpPr>
          <p:nvPr>
            <p:ph type="pic" idx="1"/>
          </p:nvPr>
        </p:nvSpPr>
        <p:spPr>
          <a:xfrm rot="420000">
            <a:off x="4647724" y="1199517"/>
            <a:ext cx="6156960" cy="3931920"/>
          </a:xfrm>
          <a:prstGeom prst="rect">
            <a:avLst/>
          </a:prstGeom>
          <a:solidFill>
            <a:schemeClr val="bg2"/>
          </a:solidFill>
          <a:ln w="3000" cap="rnd">
            <a:solidFill>
              <a:srgbClr val="C0C0C0"/>
            </a:solidFill>
            <a:round/>
          </a:ln>
          <a:effectLst/>
        </p:spPr>
        <p:txBody>
          <a:bodyPr rtlCol="0"/>
          <a:lstStyle>
            <a:lvl1pPr marL="0" indent="0">
              <a:buNone/>
              <a:defRPr sz="3200"/>
            </a:lvl1pPr>
          </a:lstStyle>
          <a:p>
            <a:pPr rtl="0"/>
            <a:r>
              <a:rPr lang="ja-JP" altLang="en-US" noProof="0"/>
              <a:t>アイコンをクリックして図を追加</a:t>
            </a:r>
            <a:endParaRPr kumimoji="0" lang="ja-JP" altLang="en-US" noProof="0" dirty="0"/>
          </a:p>
        </p:txBody>
      </p:sp>
      <p:sp>
        <p:nvSpPr>
          <p:cNvPr id="4" name="テキスト プレースホルダー 3"/>
          <p:cNvSpPr>
            <a:spLocks noGrp="1"/>
          </p:cNvSpPr>
          <p:nvPr>
            <p:ph type="body" sz="half" idx="2"/>
          </p:nvPr>
        </p:nvSpPr>
        <p:spPr>
          <a:xfrm>
            <a:off x="812800" y="2828785"/>
            <a:ext cx="2946400" cy="2179320"/>
          </a:xfrm>
        </p:spPr>
        <p:txBody>
          <a:bodyPr lIns="64008" rIns="45720" bIns="45720" rtlCol="0" anchor="t"/>
          <a:lstStyle>
            <a:lvl1pPr marL="0" indent="0" algn="l">
              <a:spcBef>
                <a:spcPts val="250"/>
              </a:spcBef>
              <a:buFontTx/>
              <a:buNone/>
              <a:defRPr sz="1300"/>
            </a:lvl1pPr>
            <a:lvl2pPr>
              <a:defRPr sz="1200"/>
            </a:lvl2pPr>
            <a:lvl3pPr>
              <a:defRPr sz="1000"/>
            </a:lvl3pPr>
            <a:lvl4pPr>
              <a:defRPr sz="900"/>
            </a:lvl4pPr>
            <a:lvl5pPr>
              <a:defRPr sz="900"/>
            </a:lvl5pPr>
          </a:lstStyle>
          <a:p>
            <a:pPr lvl="0" rtl="0" eaLnBrk="1" latinLnBrk="0" hangingPunct="1"/>
            <a:r>
              <a:rPr lang="ja-JP" altLang="en-US" noProof="0"/>
              <a:t>マスター テキストの書式設定</a:t>
            </a:r>
          </a:p>
        </p:txBody>
      </p:sp>
      <p:sp>
        <p:nvSpPr>
          <p:cNvPr id="5" name="日付プレースホルダー 4"/>
          <p:cNvSpPr>
            <a:spLocks noGrp="1"/>
          </p:cNvSpPr>
          <p:nvPr>
            <p:ph type="dt" sz="half" idx="10"/>
          </p:nvPr>
        </p:nvSpPr>
        <p:spPr/>
        <p:txBody>
          <a:bodyPr rtlCol="0"/>
          <a:lstStyle/>
          <a:p>
            <a:pPr rtl="0"/>
            <a:fld id="{3BA228A8-1DDA-4C9E-B7BB-B3D4A4576159}" type="datetime4">
              <a:rPr lang="ja-JP" altLang="en-US" smtClean="0"/>
              <a:t>2026年6月17日</a:t>
            </a:fld>
            <a:endParaRPr lang="en-US"/>
          </a:p>
        </p:txBody>
      </p:sp>
      <p:sp>
        <p:nvSpPr>
          <p:cNvPr id="6" name="フッター プレースホルダー 5"/>
          <p:cNvSpPr>
            <a:spLocks noGrp="1"/>
          </p:cNvSpPr>
          <p:nvPr>
            <p:ph type="ftr" sz="quarter" idx="11"/>
          </p:nvPr>
        </p:nvSpPr>
        <p:spPr/>
        <p:txBody>
          <a:bodyPr rtlCol="0"/>
          <a:lstStyle/>
          <a:p>
            <a:pPr rtl="0"/>
            <a:r>
              <a:rPr lang="ja-JP" altLang="en-US" noProof="0" dirty="0"/>
              <a:t>フッターを追加</a:t>
            </a:r>
          </a:p>
        </p:txBody>
      </p:sp>
      <p:sp>
        <p:nvSpPr>
          <p:cNvPr id="7" name="スライド番号プレースホルダー 6"/>
          <p:cNvSpPr>
            <a:spLocks noGrp="1"/>
          </p:cNvSpPr>
          <p:nvPr>
            <p:ph type="sldNum" sz="quarter" idx="12"/>
          </p:nvPr>
        </p:nvSpPr>
        <p:spPr>
          <a:xfrm>
            <a:off x="10769600" y="6356351"/>
            <a:ext cx="812800" cy="365125"/>
          </a:xfrm>
        </p:spPr>
        <p:txBody>
          <a:bodyPr rtlCol="0"/>
          <a:lstStyle/>
          <a:p>
            <a:pPr rtl="0"/>
            <a:fld id="{401CF334-2D5C-4859-84A6-CA7E6E43FAEB}" type="slidenum">
              <a:rPr lang="en-US" altLang="ja-JP" noProof="0" smtClean="0"/>
              <a:t>‹#›</a:t>
            </a:fld>
            <a:endParaRPr lang="ja-JP" altLang="en-US" noProof="0" dirty="0"/>
          </a:p>
        </p:txBody>
      </p:sp>
      <p:sp>
        <p:nvSpPr>
          <p:cNvPr id="10" name="フリーフォーム 9"/>
          <p:cNvSpPr>
            <a:spLocks/>
          </p:cNvSpPr>
          <p:nvPr/>
        </p:nvSpPr>
        <p:spPr bwMode="auto">
          <a:xfrm flipV="1">
            <a:off x="-12700" y="5816600"/>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sp>
        <p:nvSpPr>
          <p:cNvPr id="11" name="フリーフォーム 10"/>
          <p:cNvSpPr>
            <a:spLocks/>
          </p:cNvSpPr>
          <p:nvPr/>
        </p:nvSpPr>
        <p:spPr bwMode="auto">
          <a:xfrm flipV="1">
            <a:off x="5842000" y="6219826"/>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spTree>
    <p:extLst>
      <p:ext uri="{BB962C8B-B14F-4D97-AF65-F5344CB8AC3E}">
        <p14:creationId xmlns:p14="http://schemas.microsoft.com/office/powerpoint/2010/main" val="25196249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rtlCol="0"/>
          <a:lstStyle/>
          <a:p>
            <a:pPr rtl="0"/>
            <a:r>
              <a:rPr lang="ja-JP" altLang="en-US" noProof="0"/>
              <a:t>マスター タイトルの書式設定</a:t>
            </a:r>
            <a:endParaRPr kumimoji="0" lang="ja-JP" altLang="en-US" noProof="0" dirty="0"/>
          </a:p>
        </p:txBody>
      </p:sp>
      <p:sp>
        <p:nvSpPr>
          <p:cNvPr id="3" name="縦書きテキスト プレースホルダー 2"/>
          <p:cNvSpPr>
            <a:spLocks noGrp="1"/>
          </p:cNvSpPr>
          <p:nvPr>
            <p:ph type="body" orient="vert" idx="1" hasCustomPrompt="1"/>
          </p:nvPr>
        </p:nvSpPr>
        <p:spPr/>
        <p:txBody>
          <a:bodyPr vert="eaVert" rtlCol="0"/>
          <a:lstStyle/>
          <a:p>
            <a:pPr lvl="0" rtl="0" eaLnBrk="1" latinLnBrk="0" hangingPunct="1"/>
            <a:r>
              <a:rPr lang="ja-JP" altLang="en-US" noProof="0" dirty="0"/>
              <a:t>クリックしてマスター テキストのスタイルを編集</a:t>
            </a:r>
          </a:p>
          <a:p>
            <a:pPr lvl="1"/>
            <a:r>
              <a:rPr kumimoji="1" lang="ja-JP" altLang="en-US" noProof="0" dirty="0"/>
              <a:t>第 </a:t>
            </a:r>
            <a:r>
              <a:rPr kumimoji="1" lang="en-US" altLang="ja-JP" noProof="0" dirty="0"/>
              <a:t>2 </a:t>
            </a:r>
            <a:r>
              <a:rPr kumimoji="1" lang="ja-JP" altLang="en-US" noProof="0" dirty="0"/>
              <a:t>レベル</a:t>
            </a:r>
          </a:p>
          <a:p>
            <a:pPr lvl="2"/>
            <a:r>
              <a:rPr kumimoji="1" lang="ja-JP" altLang="en-US" noProof="0" dirty="0"/>
              <a:t>第 </a:t>
            </a:r>
            <a:r>
              <a:rPr kumimoji="1" lang="en-US" altLang="ja-JP" noProof="0" dirty="0"/>
              <a:t>3 </a:t>
            </a:r>
            <a:r>
              <a:rPr kumimoji="1" lang="ja-JP" altLang="en-US" noProof="0" dirty="0"/>
              <a:t>レベル</a:t>
            </a:r>
          </a:p>
          <a:p>
            <a:pPr lvl="3"/>
            <a:r>
              <a:rPr kumimoji="1" lang="ja-JP" altLang="en-US" noProof="0" dirty="0"/>
              <a:t>第 </a:t>
            </a:r>
            <a:r>
              <a:rPr kumimoji="1" lang="en-US" altLang="ja-JP" noProof="0" dirty="0"/>
              <a:t>4 </a:t>
            </a:r>
            <a:r>
              <a:rPr kumimoji="1" lang="ja-JP" altLang="en-US" noProof="0" dirty="0"/>
              <a:t>レベル</a:t>
            </a:r>
          </a:p>
          <a:p>
            <a:pPr lvl="4"/>
            <a:r>
              <a:rPr kumimoji="1" lang="ja-JP" altLang="en-US" noProof="0" dirty="0"/>
              <a:t>第 </a:t>
            </a:r>
            <a:r>
              <a:rPr kumimoji="1" lang="en-US" altLang="ja-JP" noProof="0" dirty="0"/>
              <a:t>5 </a:t>
            </a:r>
            <a:r>
              <a:rPr kumimoji="1" lang="ja-JP" altLang="en-US" noProof="0" dirty="0"/>
              <a:t>レベル</a:t>
            </a:r>
          </a:p>
        </p:txBody>
      </p:sp>
      <p:sp>
        <p:nvSpPr>
          <p:cNvPr id="4" name="日付プレースホルダー 3"/>
          <p:cNvSpPr>
            <a:spLocks noGrp="1"/>
          </p:cNvSpPr>
          <p:nvPr>
            <p:ph type="dt" sz="half" idx="10"/>
          </p:nvPr>
        </p:nvSpPr>
        <p:spPr/>
        <p:txBody>
          <a:bodyPr rtlCol="0"/>
          <a:lstStyle/>
          <a:p>
            <a:pPr rtl="0"/>
            <a:fld id="{0189D195-22A8-4E03-A4C1-FF558F7B427F}" type="datetime4">
              <a:rPr lang="ja-JP" altLang="en-US" smtClean="0"/>
              <a:t>2026年6月17日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877777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839200" y="914402"/>
            <a:ext cx="2743200" cy="5211763"/>
          </a:xfrm>
        </p:spPr>
        <p:txBody>
          <a:bodyPr vert="eaVert" rtlCol="0"/>
          <a:lstStyle/>
          <a:p>
            <a:pPr rtl="0"/>
            <a:r>
              <a:rPr lang="ja-JP" altLang="en-US" noProof="0"/>
              <a:t>マスター タイトルの書式設定</a:t>
            </a:r>
            <a:endParaRPr kumimoji="0" lang="ja-JP" altLang="en-US" noProof="0" dirty="0"/>
          </a:p>
        </p:txBody>
      </p:sp>
      <p:sp>
        <p:nvSpPr>
          <p:cNvPr id="3" name="縦書きテキスト プレースホルダー 2"/>
          <p:cNvSpPr>
            <a:spLocks noGrp="1"/>
          </p:cNvSpPr>
          <p:nvPr>
            <p:ph type="body" orient="vert" idx="1" hasCustomPrompt="1"/>
          </p:nvPr>
        </p:nvSpPr>
        <p:spPr>
          <a:xfrm>
            <a:off x="609600" y="914402"/>
            <a:ext cx="8026400" cy="5211763"/>
          </a:xfrm>
        </p:spPr>
        <p:txBody>
          <a:bodyPr vert="eaVert" rtlCol="0"/>
          <a:lstStyle/>
          <a:p>
            <a:pPr lvl="0" rtl="0" eaLnBrk="1" latinLnBrk="0" hangingPunct="1"/>
            <a:r>
              <a:rPr lang="ja-JP" altLang="en-US" noProof="0" dirty="0"/>
              <a:t>クリックしてマスター テキストのスタイルを編集</a:t>
            </a:r>
          </a:p>
          <a:p>
            <a:pPr lvl="1"/>
            <a:r>
              <a:rPr kumimoji="1" lang="ja-JP" altLang="en-US" noProof="0" dirty="0"/>
              <a:t>第 </a:t>
            </a:r>
            <a:r>
              <a:rPr kumimoji="1" lang="en-US" altLang="ja-JP" noProof="0" dirty="0"/>
              <a:t>2 </a:t>
            </a:r>
            <a:r>
              <a:rPr kumimoji="1" lang="ja-JP" altLang="en-US" noProof="0" dirty="0"/>
              <a:t>レベル</a:t>
            </a:r>
          </a:p>
          <a:p>
            <a:pPr lvl="2"/>
            <a:r>
              <a:rPr kumimoji="1" lang="ja-JP" altLang="en-US" noProof="0" dirty="0"/>
              <a:t>第 </a:t>
            </a:r>
            <a:r>
              <a:rPr kumimoji="1" lang="en-US" altLang="ja-JP" noProof="0" dirty="0"/>
              <a:t>3 </a:t>
            </a:r>
            <a:r>
              <a:rPr kumimoji="1" lang="ja-JP" altLang="en-US" noProof="0" dirty="0"/>
              <a:t>レベル</a:t>
            </a:r>
          </a:p>
          <a:p>
            <a:pPr lvl="3"/>
            <a:r>
              <a:rPr kumimoji="1" lang="ja-JP" altLang="en-US" noProof="0" dirty="0"/>
              <a:t>第 </a:t>
            </a:r>
            <a:r>
              <a:rPr kumimoji="1" lang="en-US" altLang="ja-JP" noProof="0" dirty="0"/>
              <a:t>4 </a:t>
            </a:r>
            <a:r>
              <a:rPr kumimoji="1" lang="ja-JP" altLang="en-US" noProof="0" dirty="0"/>
              <a:t>レベル</a:t>
            </a:r>
          </a:p>
          <a:p>
            <a:pPr lvl="4"/>
            <a:r>
              <a:rPr kumimoji="1" lang="ja-JP" altLang="en-US" noProof="0" dirty="0"/>
              <a:t>第 </a:t>
            </a:r>
            <a:r>
              <a:rPr kumimoji="1" lang="en-US" altLang="ja-JP" noProof="0" dirty="0"/>
              <a:t>5 </a:t>
            </a:r>
            <a:r>
              <a:rPr kumimoji="1" lang="ja-JP" altLang="en-US" noProof="0" dirty="0"/>
              <a:t>レベル</a:t>
            </a:r>
          </a:p>
        </p:txBody>
      </p:sp>
      <p:sp>
        <p:nvSpPr>
          <p:cNvPr id="4" name="日付プレースホルダー 3"/>
          <p:cNvSpPr>
            <a:spLocks noGrp="1"/>
          </p:cNvSpPr>
          <p:nvPr>
            <p:ph type="dt" sz="half" idx="10"/>
          </p:nvPr>
        </p:nvSpPr>
        <p:spPr/>
        <p:txBody>
          <a:bodyPr rtlCol="0"/>
          <a:lstStyle/>
          <a:p>
            <a:pPr rtl="0"/>
            <a:fld id="{A59B777F-2BA6-42C0-83EF-2CC97DD0D6E7}" type="datetime4">
              <a:rPr lang="ja-JP" altLang="en-US" smtClean="0"/>
              <a:t>2026年6月17日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3369754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25" name="グループ 24"/>
          <p:cNvGrpSpPr/>
          <p:nvPr/>
        </p:nvGrpSpPr>
        <p:grpSpPr>
          <a:xfrm>
            <a:off x="-29028" y="-7144"/>
            <a:ext cx="12240731" cy="6879658"/>
            <a:chOff x="0" y="-21658"/>
            <a:chExt cx="12240731" cy="6879658"/>
          </a:xfrm>
        </p:grpSpPr>
        <p:sp>
          <p:nvSpPr>
            <p:cNvPr id="26" name="長方形 25"/>
            <p:cNvSpPr/>
            <p:nvPr/>
          </p:nvSpPr>
          <p:spPr>
            <a:xfrm>
              <a:off x="31633" y="0"/>
              <a:ext cx="1218895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noProof="0" dirty="0"/>
            </a:p>
          </p:txBody>
        </p:sp>
        <p:grpSp>
          <p:nvGrpSpPr>
            <p:cNvPr id="27" name="グループ 26"/>
            <p:cNvGrpSpPr/>
            <p:nvPr/>
          </p:nvGrpSpPr>
          <p:grpSpPr>
            <a:xfrm>
              <a:off x="0" y="-21658"/>
              <a:ext cx="12240731" cy="1041400"/>
              <a:chOff x="-25356" y="-7144"/>
              <a:chExt cx="12240731" cy="1041400"/>
            </a:xfrm>
          </p:grpSpPr>
          <p:sp>
            <p:nvSpPr>
              <p:cNvPr id="28" name="フリーフォーム 27"/>
              <p:cNvSpPr>
                <a:spLocks/>
              </p:cNvSpPr>
              <p:nvPr/>
            </p:nvSpPr>
            <p:spPr bwMode="auto">
              <a:xfrm>
                <a:off x="-12700" y="-7144"/>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sp>
            <p:nvSpPr>
              <p:cNvPr id="29" name="フリーフォーム 28"/>
              <p:cNvSpPr>
                <a:spLocks/>
              </p:cNvSpPr>
              <p:nvPr/>
            </p:nvSpPr>
            <p:spPr bwMode="auto">
              <a:xfrm>
                <a:off x="5842000" y="-7144"/>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grpSp>
            <p:nvGrpSpPr>
              <p:cNvPr id="31" name="グループ 30"/>
              <p:cNvGrpSpPr/>
              <p:nvPr/>
            </p:nvGrpSpPr>
            <p:grpSpPr>
              <a:xfrm>
                <a:off x="-25356" y="202408"/>
                <a:ext cx="12240731" cy="649224"/>
                <a:chOff x="-19045" y="216550"/>
                <a:chExt cx="9180548" cy="649224"/>
              </a:xfrm>
            </p:grpSpPr>
            <p:sp>
              <p:nvSpPr>
                <p:cNvPr id="32" name="フリーフォーム 3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rtlCol="0" anchor="t" compatLnSpc="1"/>
                <a:lstStyle/>
                <a:p>
                  <a:pPr rtl="0"/>
                  <a:endParaRPr kumimoji="0" lang="ja-JP" altLang="en-US" sz="1800" noProof="0" dirty="0"/>
                </a:p>
              </p:txBody>
            </p:sp>
            <p:sp>
              <p:nvSpPr>
                <p:cNvPr id="33" name="フリーフォーム 3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rtlCol="0" anchor="t" compatLnSpc="1"/>
                <a:lstStyle/>
                <a:p>
                  <a:pPr rtl="0"/>
                  <a:endParaRPr kumimoji="0" lang="ja-JP" altLang="en-US" sz="1800" noProof="0" dirty="0"/>
                </a:p>
              </p:txBody>
            </p:sp>
          </p:grpSp>
        </p:grpSp>
      </p:grpSp>
      <p:sp>
        <p:nvSpPr>
          <p:cNvPr id="9" name="タイトル プレースホルダー 8"/>
          <p:cNvSpPr>
            <a:spLocks noGrp="1"/>
          </p:cNvSpPr>
          <p:nvPr>
            <p:ph type="title"/>
          </p:nvPr>
        </p:nvSpPr>
        <p:spPr>
          <a:xfrm>
            <a:off x="609600" y="704088"/>
            <a:ext cx="10972800" cy="1143000"/>
          </a:xfrm>
          <a:prstGeom prst="rect">
            <a:avLst/>
          </a:prstGeom>
        </p:spPr>
        <p:txBody>
          <a:bodyPr vert="horz" lIns="0" rIns="0" bIns="0" rtlCol="0" anchor="b">
            <a:normAutofit/>
          </a:bodyPr>
          <a:lstStyle/>
          <a:p>
            <a:pPr rtl="0"/>
            <a:r>
              <a:rPr lang="ja-JP" altLang="en-US" noProof="0" dirty="0"/>
              <a:t>クリックしてマスター タイトルのスタイルを編集</a:t>
            </a:r>
            <a:endParaRPr kumimoji="0" lang="ja-JP" altLang="en-US" noProof="0" dirty="0"/>
          </a:p>
        </p:txBody>
      </p:sp>
      <p:sp>
        <p:nvSpPr>
          <p:cNvPr id="30" name="テキスト プレースホルダー 29"/>
          <p:cNvSpPr>
            <a:spLocks noGrp="1"/>
          </p:cNvSpPr>
          <p:nvPr>
            <p:ph type="body" idx="1"/>
          </p:nvPr>
        </p:nvSpPr>
        <p:spPr>
          <a:xfrm>
            <a:off x="609600" y="1935480"/>
            <a:ext cx="10972800" cy="4343400"/>
          </a:xfrm>
          <a:prstGeom prst="rect">
            <a:avLst/>
          </a:prstGeom>
        </p:spPr>
        <p:txBody>
          <a:bodyPr vert="horz" rtlCol="0">
            <a:normAutofit/>
          </a:bodyPr>
          <a:lstStyle/>
          <a:p>
            <a:pPr lvl="0" rtl="0" eaLnBrk="1" latinLnBrk="0" hangingPunct="1"/>
            <a:r>
              <a:rPr lang="ja-JP" altLang="en-US" noProof="0" dirty="0"/>
              <a:t>クリックしてマスター テキストのスタイルを編集</a:t>
            </a:r>
          </a:p>
          <a:p>
            <a:pPr lvl="1" rtl="0" eaLnBrk="1" latinLnBrk="0" hangingPunct="1"/>
            <a:r>
              <a:rPr lang="ja-JP" altLang="en-US" noProof="0" dirty="0"/>
              <a:t>第 </a:t>
            </a:r>
            <a:r>
              <a:rPr lang="en-US" altLang="ja-JP" noProof="0" dirty="0"/>
              <a:t>2 </a:t>
            </a:r>
            <a:r>
              <a:rPr lang="ja-JP" altLang="en-US" noProof="0" dirty="0"/>
              <a:t>レベル</a:t>
            </a:r>
          </a:p>
          <a:p>
            <a:pPr lvl="2" rtl="0" eaLnBrk="1" latinLnBrk="0" hangingPunct="1"/>
            <a:r>
              <a:rPr lang="ja-JP" altLang="en-US" noProof="0" dirty="0"/>
              <a:t>第 </a:t>
            </a:r>
            <a:r>
              <a:rPr lang="en-US" altLang="ja-JP" noProof="0" dirty="0"/>
              <a:t>3 </a:t>
            </a:r>
            <a:r>
              <a:rPr lang="ja-JP" altLang="en-US" noProof="0" dirty="0"/>
              <a:t>レベル</a:t>
            </a:r>
          </a:p>
          <a:p>
            <a:pPr lvl="3" rtl="0" eaLnBrk="1" latinLnBrk="0" hangingPunct="1"/>
            <a:r>
              <a:rPr lang="ja-JP" altLang="en-US" noProof="0" dirty="0"/>
              <a:t>第 </a:t>
            </a:r>
            <a:r>
              <a:rPr lang="en-US" altLang="ja-JP" noProof="0" dirty="0"/>
              <a:t>4 </a:t>
            </a:r>
            <a:r>
              <a:rPr lang="ja-JP" altLang="en-US" noProof="0" dirty="0"/>
              <a:t>レベル</a:t>
            </a:r>
          </a:p>
          <a:p>
            <a:pPr lvl="4" rtl="0" eaLnBrk="1" latinLnBrk="0" hangingPunct="1"/>
            <a:r>
              <a:rPr lang="ja-JP" altLang="en-US" noProof="0" dirty="0"/>
              <a:t>第 </a:t>
            </a:r>
            <a:r>
              <a:rPr lang="en-US" altLang="ja-JP" noProof="0" dirty="0"/>
              <a:t>5 </a:t>
            </a:r>
            <a:r>
              <a:rPr lang="ja-JP" altLang="en-US" noProof="0" dirty="0"/>
              <a:t>レベル</a:t>
            </a:r>
          </a:p>
        </p:txBody>
      </p:sp>
      <p:sp>
        <p:nvSpPr>
          <p:cNvPr id="10" name="日付プレースホルダー 9"/>
          <p:cNvSpPr>
            <a:spLocks noGrp="1"/>
          </p:cNvSpPr>
          <p:nvPr>
            <p:ph type="dt" sz="half" idx="2"/>
          </p:nvPr>
        </p:nvSpPr>
        <p:spPr>
          <a:xfrm>
            <a:off x="609600" y="6356351"/>
            <a:ext cx="2844800" cy="365125"/>
          </a:xfrm>
          <a:prstGeom prst="rect">
            <a:avLst/>
          </a:prstGeom>
        </p:spPr>
        <p:txBody>
          <a:bodyPr vert="horz" lIns="0" tIns="0" rIns="0" bIns="0" rtlCol="0" anchor="b"/>
          <a:lstStyle>
            <a:lvl1pPr algn="l" eaLnBrk="1" latinLnBrk="0" hangingPunct="1">
              <a:defRPr kumimoji="0" sz="1100">
                <a:solidFill>
                  <a:schemeClr val="tx1"/>
                </a:solidFill>
                <a:latin typeface="ＭＳ 明朝" panose="02020609040205080304" pitchFamily="17" charset="-128"/>
                <a:ea typeface="ＭＳ 明朝" panose="02020609040205080304" pitchFamily="17" charset="-128"/>
              </a:defRPr>
            </a:lvl1pPr>
          </a:lstStyle>
          <a:p>
            <a:fld id="{196E8732-2B4B-4F0A-8362-53F7A7DF2931}" type="datetime4">
              <a:rPr lang="ja-JP" altLang="en-US" smtClean="0"/>
              <a:t>2026年6月17日</a:t>
            </a:fld>
            <a:endParaRPr lang="en-US" dirty="0"/>
          </a:p>
        </p:txBody>
      </p:sp>
      <p:sp>
        <p:nvSpPr>
          <p:cNvPr id="22" name="フッター プレースホルダー 21"/>
          <p:cNvSpPr>
            <a:spLocks noGrp="1"/>
          </p:cNvSpPr>
          <p:nvPr>
            <p:ph type="ftr" sz="quarter" idx="3"/>
          </p:nvPr>
        </p:nvSpPr>
        <p:spPr>
          <a:xfrm>
            <a:off x="3556000" y="6356351"/>
            <a:ext cx="4470400" cy="365125"/>
          </a:xfrm>
          <a:prstGeom prst="rect">
            <a:avLst/>
          </a:prstGeom>
        </p:spPr>
        <p:txBody>
          <a:bodyPr vert="horz" lIns="0" tIns="0" rIns="0" bIns="0" rtlCol="0" anchor="b"/>
          <a:lstStyle>
            <a:lvl1pPr algn="l" eaLnBrk="1" latinLnBrk="0" hangingPunct="1">
              <a:defRPr kumimoji="0" sz="1100">
                <a:solidFill>
                  <a:schemeClr val="tx1"/>
                </a:solidFill>
                <a:latin typeface="ＭＳ 明朝" panose="02020609040205080304" pitchFamily="17" charset="-128"/>
                <a:ea typeface="ＭＳ 明朝" panose="02020609040205080304" pitchFamily="17" charset="-128"/>
              </a:defRPr>
            </a:lvl1pPr>
          </a:lstStyle>
          <a:p>
            <a:r>
              <a:rPr lang="ja-JP" altLang="en-US" noProof="0" dirty="0"/>
              <a:t>フッターを追加</a:t>
            </a:r>
          </a:p>
        </p:txBody>
      </p:sp>
      <p:sp>
        <p:nvSpPr>
          <p:cNvPr id="18" name="スライド番号プレースホルダー 17"/>
          <p:cNvSpPr>
            <a:spLocks noGrp="1"/>
          </p:cNvSpPr>
          <p:nvPr>
            <p:ph type="sldNum" sz="quarter" idx="4"/>
          </p:nvPr>
        </p:nvSpPr>
        <p:spPr>
          <a:xfrm>
            <a:off x="10566400" y="6356351"/>
            <a:ext cx="1016000" cy="365125"/>
          </a:xfrm>
          <a:prstGeom prst="rect">
            <a:avLst/>
          </a:prstGeom>
        </p:spPr>
        <p:txBody>
          <a:bodyPr vert="horz" lIns="0" tIns="0" rIns="0" bIns="0" rtlCol="0" anchor="b"/>
          <a:lstStyle>
            <a:lvl1pPr algn="r" eaLnBrk="1" latinLnBrk="0" hangingPunct="1">
              <a:defRPr kumimoji="0" sz="1100">
                <a:solidFill>
                  <a:schemeClr val="tx1"/>
                </a:solidFill>
                <a:latin typeface="ＭＳ 明朝" panose="02020609040205080304" pitchFamily="17" charset="-128"/>
                <a:ea typeface="ＭＳ 明朝" panose="02020609040205080304" pitchFamily="17" charset="-128"/>
              </a:defRPr>
            </a:lvl1pPr>
          </a:lstStyle>
          <a:p>
            <a:fld id="{401CF334-2D5C-4859-84A6-CA7E6E43FAEB}" type="slidenum">
              <a:rPr lang="en-US" altLang="ja-JP" noProof="0" smtClean="0"/>
              <a:pPr/>
              <a:t>‹#›</a:t>
            </a:fld>
            <a:endParaRPr lang="ja-JP" altLang="en-US" noProof="0" dirty="0"/>
          </a:p>
        </p:txBody>
      </p:sp>
    </p:spTree>
    <p:extLst>
      <p:ext uri="{BB962C8B-B14F-4D97-AF65-F5344CB8AC3E}">
        <p14:creationId xmlns:p14="http://schemas.microsoft.com/office/powerpoint/2010/main" val="9428528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rtl="0" eaLnBrk="1" latinLnBrk="0" hangingPunct="1">
        <a:lnSpc>
          <a:spcPct val="80000"/>
        </a:lnSpc>
        <a:spcBef>
          <a:spcPct val="0"/>
        </a:spcBef>
        <a:buNone/>
        <a:defRPr kumimoji="1" sz="5000" b="0" kern="1200">
          <a:ln>
            <a:noFill/>
          </a:ln>
          <a:solidFill>
            <a:schemeClr val="tx2"/>
          </a:solidFill>
          <a:effectLst/>
          <a:latin typeface="Meiryo UI" panose="020B0604030504040204" pitchFamily="50" charset="-128"/>
          <a:ea typeface="Meiryo UI" panose="020B0604030504040204" pitchFamily="50" charset="-128"/>
          <a:cs typeface="+mj-cs"/>
        </a:defRPr>
      </a:lvl1pPr>
    </p:titleStyle>
    <p:bodyStyle>
      <a:lvl1pPr marL="274320" indent="-274320" algn="l" rtl="0" eaLnBrk="1" latinLnBrk="0" hangingPunct="1">
        <a:spcBef>
          <a:spcPct val="20000"/>
        </a:spcBef>
        <a:buClr>
          <a:schemeClr val="accent3">
            <a:lumMod val="50000"/>
          </a:schemeClr>
        </a:buClr>
        <a:buSzPct val="95000"/>
        <a:buFont typeface="Wingdings 2"/>
        <a:buChar char=""/>
        <a:defRPr kumimoji="1" sz="2600" kern="1200">
          <a:solidFill>
            <a:schemeClr val="tx1"/>
          </a:solidFill>
          <a:latin typeface="ＭＳ 明朝" panose="02020609040205080304" pitchFamily="17" charset="-128"/>
          <a:ea typeface="ＭＳ 明朝" panose="02020609040205080304" pitchFamily="17" charset="-128"/>
          <a:cs typeface="+mn-cs"/>
        </a:defRPr>
      </a:lvl1pPr>
      <a:lvl2pPr marL="640080" indent="-246888" algn="l" rtl="0" eaLnBrk="1" latinLnBrk="0" hangingPunct="1">
        <a:spcBef>
          <a:spcPct val="20000"/>
        </a:spcBef>
        <a:buClr>
          <a:schemeClr val="accent1">
            <a:lumMod val="50000"/>
          </a:schemeClr>
        </a:buClr>
        <a:buSzPct val="85000"/>
        <a:buFont typeface="Wingdings 2"/>
        <a:buChar char=""/>
        <a:defRPr kumimoji="1" sz="2400" kern="1200">
          <a:solidFill>
            <a:schemeClr val="tx1"/>
          </a:solidFill>
          <a:latin typeface="ＭＳ 明朝" panose="02020609040205080304" pitchFamily="17" charset="-128"/>
          <a:ea typeface="ＭＳ 明朝" panose="02020609040205080304" pitchFamily="17" charset="-128"/>
          <a:cs typeface="+mn-cs"/>
        </a:defRPr>
      </a:lvl2pPr>
      <a:lvl3pPr marL="914400" indent="-246888" algn="l" rtl="0" eaLnBrk="1" latinLnBrk="0" hangingPunct="1">
        <a:spcBef>
          <a:spcPct val="20000"/>
        </a:spcBef>
        <a:buClr>
          <a:schemeClr val="accent2">
            <a:lumMod val="50000"/>
          </a:schemeClr>
        </a:buClr>
        <a:buSzPct val="70000"/>
        <a:buFont typeface="Wingdings 2"/>
        <a:buChar char=""/>
        <a:defRPr kumimoji="1" sz="2100" kern="1200">
          <a:solidFill>
            <a:schemeClr val="tx1"/>
          </a:solidFill>
          <a:latin typeface="ＭＳ 明朝" panose="02020609040205080304" pitchFamily="17" charset="-128"/>
          <a:ea typeface="ＭＳ 明朝" panose="02020609040205080304" pitchFamily="17" charset="-128"/>
          <a:cs typeface="+mn-cs"/>
        </a:defRPr>
      </a:lvl3pPr>
      <a:lvl4pPr marL="1188720" indent="-210312" algn="l" rtl="0" eaLnBrk="1" latinLnBrk="0" hangingPunct="1">
        <a:spcBef>
          <a:spcPct val="20000"/>
        </a:spcBef>
        <a:buClr>
          <a:schemeClr val="accent3">
            <a:lumMod val="50000"/>
          </a:schemeClr>
        </a:buClr>
        <a:buSzPct val="65000"/>
        <a:buFont typeface="Wingdings 2"/>
        <a:buChar char=""/>
        <a:defRPr kumimoji="1" sz="2000" kern="1200">
          <a:solidFill>
            <a:schemeClr val="tx1"/>
          </a:solidFill>
          <a:latin typeface="ＭＳ 明朝" panose="02020609040205080304" pitchFamily="17" charset="-128"/>
          <a:ea typeface="ＭＳ 明朝" panose="02020609040205080304" pitchFamily="17" charset="-128"/>
          <a:cs typeface="+mn-cs"/>
        </a:defRPr>
      </a:lvl4pPr>
      <a:lvl5pPr marL="1463040" indent="-210312" algn="l" rtl="0" eaLnBrk="1" latinLnBrk="0" hangingPunct="1">
        <a:spcBef>
          <a:spcPct val="20000"/>
        </a:spcBef>
        <a:buClr>
          <a:schemeClr val="accent4">
            <a:lumMod val="75000"/>
          </a:schemeClr>
        </a:buClr>
        <a:buSzPct val="65000"/>
        <a:buFont typeface="Wingdings 2"/>
        <a:buChar char=""/>
        <a:defRPr kumimoji="1" sz="2000" kern="1200">
          <a:solidFill>
            <a:schemeClr val="tx1"/>
          </a:solidFill>
          <a:latin typeface="ＭＳ 明朝" panose="02020609040205080304" pitchFamily="17" charset="-128"/>
          <a:ea typeface="ＭＳ 明朝" panose="02020609040205080304" pitchFamily="17" charset="-128"/>
          <a:cs typeface="+mn-cs"/>
        </a:defRPr>
      </a:lvl5pPr>
      <a:lvl6pPr marL="1737360" indent="-210312" algn="l" rtl="0" eaLnBrk="1" latinLnBrk="0" hangingPunct="1">
        <a:spcBef>
          <a:spcPct val="20000"/>
        </a:spcBef>
        <a:buClr>
          <a:schemeClr val="accent5">
            <a:lumMod val="50000"/>
          </a:schemeClr>
        </a:buClr>
        <a:buSzPct val="80000"/>
        <a:buFont typeface="Wingdings 2"/>
        <a:buChar char=""/>
        <a:defRPr kumimoji="1" sz="1800" kern="1200">
          <a:solidFill>
            <a:schemeClr val="tx1"/>
          </a:solidFill>
          <a:latin typeface="+mn-lt"/>
          <a:ea typeface="+mn-ea"/>
          <a:cs typeface="+mn-cs"/>
        </a:defRPr>
      </a:lvl6pPr>
      <a:lvl7pPr marL="1920240" indent="-182880" algn="l" rtl="0" eaLnBrk="1" latinLnBrk="0" hangingPunct="1">
        <a:spcBef>
          <a:spcPct val="20000"/>
        </a:spcBef>
        <a:buClr>
          <a:schemeClr val="accent6">
            <a:lumMod val="75000"/>
          </a:schemeClr>
        </a:buClr>
        <a:buSzPct val="80000"/>
        <a:buFont typeface="Wingdings 2"/>
        <a:buChar char=""/>
        <a:defRPr kumimoji="1"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1" sz="1600" kern="1200">
          <a:solidFill>
            <a:schemeClr val="tx1"/>
          </a:solidFill>
          <a:latin typeface="+mn-lt"/>
          <a:ea typeface="+mn-ea"/>
          <a:cs typeface="+mn-cs"/>
        </a:defRPr>
      </a:lvl8pPr>
      <a:lvl9pPr marL="2286000" indent="0" algn="l" rtl="0" eaLnBrk="1" latinLnBrk="0" hangingPunct="1">
        <a:spcBef>
          <a:spcPct val="20000"/>
        </a:spcBef>
        <a:buClr>
          <a:schemeClr val="tx2"/>
        </a:buClr>
        <a:buFontTx/>
        <a:buNone/>
        <a:defRPr kumimoji="1" sz="1400" kern="1200" baseline="0">
          <a:solidFill>
            <a:schemeClr val="tx1"/>
          </a:solidFill>
          <a:latin typeface="+mn-lt"/>
          <a:ea typeface="+mn-ea"/>
          <a:cs typeface="+mn-cs"/>
        </a:defRPr>
      </a:lvl9pPr>
    </p:bodyStyle>
    <p:otherStyle>
      <a:lvl1pPr marL="0" algn="l" rtl="0" eaLnBrk="1" latinLnBrk="0" hangingPunct="1">
        <a:defRPr kumimoji="1" kern="1200">
          <a:solidFill>
            <a:schemeClr val="tx1"/>
          </a:solidFill>
          <a:latin typeface="+mn-lt"/>
          <a:ea typeface="+mn-ea"/>
          <a:cs typeface="+mn-cs"/>
        </a:defRPr>
      </a:lvl1pPr>
      <a:lvl2pPr marL="457200" algn="l" rtl="0" eaLnBrk="1" latinLnBrk="0" hangingPunct="1">
        <a:defRPr kumimoji="1" kern="1200">
          <a:solidFill>
            <a:schemeClr val="tx1"/>
          </a:solidFill>
          <a:latin typeface="+mn-lt"/>
          <a:ea typeface="+mn-ea"/>
          <a:cs typeface="+mn-cs"/>
        </a:defRPr>
      </a:lvl2pPr>
      <a:lvl3pPr marL="914400" algn="l" rtl="0" eaLnBrk="1" latinLnBrk="0" hangingPunct="1">
        <a:defRPr kumimoji="1" kern="1200">
          <a:solidFill>
            <a:schemeClr val="tx1"/>
          </a:solidFill>
          <a:latin typeface="+mn-lt"/>
          <a:ea typeface="+mn-ea"/>
          <a:cs typeface="+mn-cs"/>
        </a:defRPr>
      </a:lvl3pPr>
      <a:lvl4pPr marL="1371600" algn="l" rtl="0" eaLnBrk="1" latinLnBrk="0" hangingPunct="1">
        <a:defRPr kumimoji="1" kern="1200">
          <a:solidFill>
            <a:schemeClr val="tx1"/>
          </a:solidFill>
          <a:latin typeface="+mn-lt"/>
          <a:ea typeface="+mn-ea"/>
          <a:cs typeface="+mn-cs"/>
        </a:defRPr>
      </a:lvl4pPr>
      <a:lvl5pPr marL="1828800" algn="l" rtl="0" eaLnBrk="1" latinLnBrk="0" hangingPunct="1">
        <a:defRPr kumimoji="1" kern="1200">
          <a:solidFill>
            <a:schemeClr val="tx1"/>
          </a:solidFill>
          <a:latin typeface="+mn-lt"/>
          <a:ea typeface="+mn-ea"/>
          <a:cs typeface="+mn-cs"/>
        </a:defRPr>
      </a:lvl5pPr>
      <a:lvl6pPr marL="2286000" algn="l" rtl="0" eaLnBrk="1" latinLnBrk="0" hangingPunct="1">
        <a:defRPr kumimoji="1" kern="1200">
          <a:solidFill>
            <a:schemeClr val="tx1"/>
          </a:solidFill>
          <a:latin typeface="+mn-lt"/>
          <a:ea typeface="+mn-ea"/>
          <a:cs typeface="+mn-cs"/>
        </a:defRPr>
      </a:lvl6pPr>
      <a:lvl7pPr marL="2743200" algn="l" rtl="0" eaLnBrk="1" latinLnBrk="0" hangingPunct="1">
        <a:defRPr kumimoji="1" kern="1200">
          <a:solidFill>
            <a:schemeClr val="tx1"/>
          </a:solidFill>
          <a:latin typeface="+mn-lt"/>
          <a:ea typeface="+mn-ea"/>
          <a:cs typeface="+mn-cs"/>
        </a:defRPr>
      </a:lvl7pPr>
      <a:lvl8pPr marL="3200400" algn="l" rtl="0" eaLnBrk="1" latinLnBrk="0" hangingPunct="1">
        <a:defRPr kumimoji="1" kern="1200">
          <a:solidFill>
            <a:schemeClr val="tx1"/>
          </a:solidFill>
          <a:latin typeface="+mn-lt"/>
          <a:ea typeface="+mn-ea"/>
          <a:cs typeface="+mn-cs"/>
        </a:defRPr>
      </a:lvl8pPr>
      <a:lvl9pPr marL="3657600" algn="l" rtl="0" eaLnBrk="1" latinLnBrk="0" hangingPunct="1">
        <a:defRPr kumimoji="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rtlCol="0"/>
          <a:lstStyle/>
          <a:p>
            <a:pPr rtl="0"/>
            <a:r>
              <a:rPr lang="ja-JP" altLang="en-US" dirty="0">
                <a:latin typeface="Meiryo UI" panose="020B0604030504040204" pitchFamily="50" charset="-128"/>
                <a:ea typeface="Meiryo UI" panose="020B0604030504040204" pitchFamily="50" charset="-128"/>
              </a:rPr>
              <a:t>創造性のセッション</a:t>
            </a:r>
          </a:p>
        </p:txBody>
      </p:sp>
      <p:sp>
        <p:nvSpPr>
          <p:cNvPr id="5" name="サブタイトル 4"/>
          <p:cNvSpPr>
            <a:spLocks noGrp="1"/>
          </p:cNvSpPr>
          <p:nvPr>
            <p:ph type="subTitle" idx="1"/>
          </p:nvPr>
        </p:nvSpPr>
        <p:spPr/>
        <p:txBody>
          <a:bodyPr rtlCol="0"/>
          <a:lstStyle/>
          <a:p>
            <a:pPr rtl="0"/>
            <a:r>
              <a:rPr lang="ja-JP" altLang="en-US" dirty="0">
                <a:latin typeface="ＭＳ 明朝" panose="02020609040205080304" pitchFamily="17" charset="-128"/>
                <a:ea typeface="ＭＳ 明朝" panose="02020609040205080304" pitchFamily="17" charset="-128"/>
              </a:rPr>
              <a:t>発表者の名前</a:t>
            </a:r>
          </a:p>
          <a:p>
            <a:pPr rtl="0"/>
            <a:endParaRPr lang="ja-JP" altLang="en-US" dirty="0"/>
          </a:p>
        </p:txBody>
      </p:sp>
    </p:spTree>
    <p:extLst>
      <p:ext uri="{BB962C8B-B14F-4D97-AF65-F5344CB8AC3E}">
        <p14:creationId xmlns:p14="http://schemas.microsoft.com/office/powerpoint/2010/main" val="3549628654"/>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rtlCol="0"/>
          <a:lstStyle/>
          <a:p>
            <a:pPr rtl="0"/>
            <a:r>
              <a:rPr lang="ja-JP" altLang="en-US" dirty="0"/>
              <a:t>目次</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p:cNvSpPr>
            <a:spLocks noGrp="1"/>
          </p:cNvSpPr>
          <p:nvPr>
            <p:ph idx="1"/>
          </p:nvPr>
        </p:nvSpPr>
        <p:spPr/>
        <p:txBody>
          <a:bodyPr rtlCol="0"/>
          <a:lstStyle/>
          <a:p>
            <a:pPr rtl="0"/>
            <a:r>
              <a:rPr lang="ja-JP" altLang="en-US" dirty="0">
                <a:latin typeface="ＭＳ 明朝" panose="02020609040205080304" pitchFamily="17" charset="-128"/>
                <a:ea typeface="ＭＳ 明朝" panose="02020609040205080304" pitchFamily="17" charset="-128"/>
              </a:rPr>
              <a:t>概要</a:t>
            </a:r>
          </a:p>
          <a:p>
            <a:pPr rtl="0"/>
            <a:r>
              <a:rPr lang="ja-JP" altLang="en-US" dirty="0">
                <a:latin typeface="ＭＳ 明朝" panose="02020609040205080304" pitchFamily="17" charset="-128"/>
                <a:ea typeface="ＭＳ 明朝" panose="02020609040205080304" pitchFamily="17" charset="-128"/>
              </a:rPr>
              <a:t>ブレーンストーミングの目標</a:t>
            </a:r>
          </a:p>
          <a:p>
            <a:pPr rtl="0"/>
            <a:r>
              <a:rPr lang="ja-JP" altLang="en-US" dirty="0">
                <a:latin typeface="ＭＳ 明朝" panose="02020609040205080304" pitchFamily="17" charset="-128"/>
                <a:ea typeface="ＭＳ 明朝" panose="02020609040205080304" pitchFamily="17" charset="-128"/>
              </a:rPr>
              <a:t>ルール</a:t>
            </a:r>
          </a:p>
          <a:p>
            <a:pPr rtl="0"/>
            <a:r>
              <a:rPr lang="ja-JP" altLang="en-US" dirty="0">
                <a:latin typeface="ＭＳ 明朝" panose="02020609040205080304" pitchFamily="17" charset="-128"/>
                <a:ea typeface="ＭＳ 明朝" panose="02020609040205080304" pitchFamily="17" charset="-128"/>
              </a:rPr>
              <a:t>ブレーンストーミングの活動</a:t>
            </a:r>
          </a:p>
          <a:p>
            <a:pPr rtl="0"/>
            <a:r>
              <a:rPr lang="ja-JP" altLang="en-US" dirty="0">
                <a:latin typeface="ＭＳ 明朝" panose="02020609040205080304" pitchFamily="17" charset="-128"/>
                <a:ea typeface="ＭＳ 明朝" panose="02020609040205080304" pitchFamily="17" charset="-128"/>
              </a:rPr>
              <a:t>まとめ</a:t>
            </a:r>
          </a:p>
          <a:p>
            <a:pPr rtl="0"/>
            <a:r>
              <a:rPr lang="ja-JP" altLang="en-US" dirty="0">
                <a:latin typeface="ＭＳ 明朝" panose="02020609040205080304" pitchFamily="17" charset="-128"/>
                <a:ea typeface="ＭＳ 明朝" panose="02020609040205080304" pitchFamily="17" charset="-128"/>
              </a:rPr>
              <a:t>次のステップ</a:t>
            </a:r>
          </a:p>
          <a:p>
            <a:pPr rtl="0"/>
            <a:endParaRPr lang="ja-JP" altLang="en-US" dirty="0"/>
          </a:p>
        </p:txBody>
      </p:sp>
    </p:spTree>
    <p:extLst>
      <p:ext uri="{BB962C8B-B14F-4D97-AF65-F5344CB8AC3E}">
        <p14:creationId xmlns:p14="http://schemas.microsoft.com/office/powerpoint/2010/main" val="1508910272"/>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a:xfrm>
            <a:off x="609600" y="7040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研究背景</a:t>
            </a:r>
          </a:p>
        </p:txBody>
      </p:sp>
      <p:sp>
        <p:nvSpPr>
          <p:cNvPr id="2" name="コンテンツ プレースホルダー 1"/>
          <p:cNvSpPr>
            <a:spLocks noGrp="1"/>
          </p:cNvSpPr>
          <p:nvPr>
            <p:ph idx="1"/>
          </p:nvPr>
        </p:nvSpPr>
        <p:spPr>
          <a:xfrm>
            <a:off x="609600" y="1463040"/>
            <a:ext cx="10972800" cy="4815840"/>
          </a:xfrm>
        </p:spPr>
        <p:txBody>
          <a:bodyPr rtlCol="0"/>
          <a:lstStyle/>
          <a:p>
            <a:r>
              <a:rPr lang="ja-JP" altLang="ja-JP" dirty="0"/>
              <a:t>ダークパターンとは，ユーザを</a:t>
            </a:r>
            <a:r>
              <a:rPr lang="ja-JP" altLang="ja-JP" b="1" dirty="0"/>
              <a:t>意図しない意思決定へ誘導する</a:t>
            </a:r>
            <a:r>
              <a:rPr lang="ja-JP" altLang="ja-JP" dirty="0"/>
              <a:t>ために設計された操作的なUI/UXデザインであり，オンラインサービス全体で広く利用されている[1]。</a:t>
            </a:r>
            <a:endParaRPr lang="en-US" altLang="ja-JP" dirty="0"/>
          </a:p>
          <a:p>
            <a:pPr marL="0" indent="0">
              <a:buNone/>
            </a:pPr>
            <a:r>
              <a:rPr lang="ja-JP" altLang="en-US" b="1" dirty="0"/>
              <a:t>　　→　サブスクリプション加入、不要な商品の購入、個人情報提供等</a:t>
            </a:r>
            <a:endParaRPr lang="en-US" altLang="ja-JP" b="1" dirty="0"/>
          </a:p>
          <a:p>
            <a:pPr marL="0" indent="0">
              <a:buNone/>
            </a:pPr>
            <a:endParaRPr lang="en-US" altLang="ja-JP" b="1" dirty="0"/>
          </a:p>
          <a:p>
            <a:r>
              <a:rPr lang="ja-JP" altLang="ja-JP" dirty="0"/>
              <a:t>消費者庁掲載資料では、ダークパターンによる年間の推定被害額は</a:t>
            </a:r>
            <a:br>
              <a:rPr lang="en-US" altLang="ja-JP" dirty="0"/>
            </a:br>
            <a:r>
              <a:rPr lang="ja-JP" altLang="ja-JP" dirty="0"/>
              <a:t>約1兆575億〜1兆6,760億円と試算されている。</a:t>
            </a:r>
            <a:r>
              <a:rPr lang="en-US" altLang="ja-JP" b="1" dirty="0"/>
              <a:t>[2]</a:t>
            </a:r>
            <a:endParaRPr lang="ja-JP" altLang="ja-JP" dirty="0"/>
          </a:p>
        </p:txBody>
      </p:sp>
    </p:spTree>
    <p:extLst>
      <p:ext uri="{BB962C8B-B14F-4D97-AF65-F5344CB8AC3E}">
        <p14:creationId xmlns:p14="http://schemas.microsoft.com/office/powerpoint/2010/main" val="3339554045"/>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9D3EC-1A5C-E064-D323-63C11B39C2B8}"/>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4C83222F-0AF2-4B7E-CA6A-6D385E0BE791}"/>
              </a:ext>
            </a:extLst>
          </p:cNvPr>
          <p:cNvSpPr>
            <a:spLocks noGrp="1"/>
          </p:cNvSpPr>
          <p:nvPr>
            <p:ph type="title"/>
          </p:nvPr>
        </p:nvSpPr>
        <p:spPr>
          <a:xfrm>
            <a:off x="609600" y="7040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研究背景</a:t>
            </a:r>
          </a:p>
        </p:txBody>
      </p:sp>
      <p:sp>
        <p:nvSpPr>
          <p:cNvPr id="2" name="コンテンツ プレースホルダー 1">
            <a:extLst>
              <a:ext uri="{FF2B5EF4-FFF2-40B4-BE49-F238E27FC236}">
                <a16:creationId xmlns:a16="http://schemas.microsoft.com/office/drawing/2014/main" id="{EA2921F2-AC25-C14B-A95D-7ACF405ED56B}"/>
              </a:ext>
            </a:extLst>
          </p:cNvPr>
          <p:cNvSpPr>
            <a:spLocks noGrp="1"/>
          </p:cNvSpPr>
          <p:nvPr>
            <p:ph idx="1"/>
          </p:nvPr>
        </p:nvSpPr>
        <p:spPr>
          <a:xfrm>
            <a:off x="609600" y="1463040"/>
            <a:ext cx="10972800" cy="4815840"/>
          </a:xfrm>
        </p:spPr>
        <p:txBody>
          <a:bodyPr rtlCol="0"/>
          <a:lstStyle/>
          <a:p>
            <a:r>
              <a:rPr lang="ja-JP" altLang="ja-JP" dirty="0"/>
              <a:t>Mathurら（2019）は、自動検知手法を用いて約11,000のショッピングサイトを分析</a:t>
            </a:r>
            <a:r>
              <a:rPr lang="en-US" altLang="ja-JP" dirty="0"/>
              <a:t>.</a:t>
            </a:r>
            <a:r>
              <a:rPr lang="ja-JP" altLang="ja-JP" dirty="0"/>
              <a:t> </a:t>
            </a:r>
            <a:r>
              <a:rPr lang="en-US" altLang="ja-JP" dirty="0"/>
              <a:t>1800</a:t>
            </a:r>
            <a:r>
              <a:rPr lang="ja-JP" altLang="en-US" dirty="0"/>
              <a:t>件のダークパターンが検出された。</a:t>
            </a:r>
            <a:r>
              <a:rPr lang="en-US" altLang="ja-JP" dirty="0"/>
              <a:t>[3]</a:t>
            </a:r>
          </a:p>
          <a:p>
            <a:pPr marL="0" indent="0">
              <a:buNone/>
            </a:pPr>
            <a:r>
              <a:rPr lang="en-US" altLang="ja-JP" dirty="0"/>
              <a:t>	</a:t>
            </a:r>
            <a:r>
              <a:rPr lang="ja-JP" altLang="en-US" dirty="0"/>
              <a:t>→　技術のいたちごっこは</a:t>
            </a:r>
            <a:r>
              <a:rPr lang="ja-JP" altLang="ja-JP" dirty="0"/>
              <a:t>今後さらに加速する可能性</a:t>
            </a:r>
            <a:endParaRPr lang="en-US" altLang="ja-JP" dirty="0"/>
          </a:p>
          <a:p>
            <a:pPr marL="0" indent="0">
              <a:buNone/>
            </a:pPr>
            <a:endParaRPr lang="en-US" altLang="ja-JP" b="1" dirty="0"/>
          </a:p>
          <a:p>
            <a:r>
              <a:rPr lang="ja-JP" altLang="ja-JP" dirty="0"/>
              <a:t>Leonら（2012）は，Opt-in型の保護手法</a:t>
            </a:r>
            <a:r>
              <a:rPr lang="ja-JP" altLang="en-US" dirty="0"/>
              <a:t>（ユーザ自身が導入し設定すること）</a:t>
            </a:r>
            <a:r>
              <a:rPr lang="ja-JP" altLang="ja-JP" dirty="0"/>
              <a:t>には困難さがあることを指摘した。</a:t>
            </a:r>
            <a:r>
              <a:rPr lang="en-US" altLang="ja-JP" dirty="0"/>
              <a:t>[4]</a:t>
            </a:r>
          </a:p>
          <a:p>
            <a:pPr marL="0" indent="0" fontAlgn="t">
              <a:buNone/>
            </a:pPr>
            <a:r>
              <a:rPr lang="ja-JP" altLang="en-US" dirty="0"/>
              <a:t>　</a:t>
            </a:r>
            <a:r>
              <a:rPr lang="en-US" altLang="ja-JP" dirty="0"/>
              <a:t>	</a:t>
            </a:r>
            <a:r>
              <a:rPr lang="ja-JP" altLang="en-US" dirty="0"/>
              <a:t>→　</a:t>
            </a:r>
            <a:r>
              <a:rPr lang="ja-JP" altLang="ja-JP" dirty="0"/>
              <a:t>利用者が導入しなければ機能しない</a:t>
            </a:r>
          </a:p>
        </p:txBody>
      </p:sp>
      <p:sp>
        <p:nvSpPr>
          <p:cNvPr id="4" name="テキスト ボックス 3">
            <a:extLst>
              <a:ext uri="{FF2B5EF4-FFF2-40B4-BE49-F238E27FC236}">
                <a16:creationId xmlns:a16="http://schemas.microsoft.com/office/drawing/2014/main" id="{ECD736BA-C47A-C377-B9DA-A185B5530A51}"/>
              </a:ext>
            </a:extLst>
          </p:cNvPr>
          <p:cNvSpPr txBox="1"/>
          <p:nvPr/>
        </p:nvSpPr>
        <p:spPr>
          <a:xfrm>
            <a:off x="1600200" y="5080000"/>
            <a:ext cx="8953500" cy="1569660"/>
          </a:xfrm>
          <a:prstGeom prst="rect">
            <a:avLst/>
          </a:prstGeom>
          <a:ln w="57150"/>
        </p:spPr>
        <p:style>
          <a:lnRef idx="2">
            <a:schemeClr val="accent3"/>
          </a:lnRef>
          <a:fillRef idx="1">
            <a:schemeClr val="lt1"/>
          </a:fillRef>
          <a:effectRef idx="0">
            <a:schemeClr val="accent3"/>
          </a:effectRef>
          <a:fontRef idx="minor">
            <a:schemeClr val="dk1"/>
          </a:fontRef>
        </p:style>
        <p:txBody>
          <a:bodyPr wrap="square" rtlCol="0">
            <a:spAutoFit/>
          </a:bodyPr>
          <a:lstStyle/>
          <a:p>
            <a:r>
              <a:rPr lang="ja-JP" altLang="ja-JP" sz="3200" dirty="0"/>
              <a:t>利用者自身がダークパターンを認識・回避する能力</a:t>
            </a:r>
            <a:r>
              <a:rPr lang="ja-JP" altLang="en-US" sz="3200" dirty="0"/>
              <a:t>育成が</a:t>
            </a:r>
            <a:r>
              <a:rPr lang="ja-JP" altLang="ja-JP" sz="3200" dirty="0"/>
              <a:t>重要</a:t>
            </a:r>
          </a:p>
          <a:p>
            <a:endParaRPr kumimoji="1" lang="ja-JP" altLang="en-US" sz="3200" dirty="0" err="1"/>
          </a:p>
        </p:txBody>
      </p:sp>
    </p:spTree>
    <p:extLst>
      <p:ext uri="{BB962C8B-B14F-4D97-AF65-F5344CB8AC3E}">
        <p14:creationId xmlns:p14="http://schemas.microsoft.com/office/powerpoint/2010/main" val="2101085340"/>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BD14-CC0F-4443-E828-6FC37EC9A71A}"/>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A903577-709F-91E0-8734-B0FF01B0B16F}"/>
              </a:ext>
            </a:extLst>
          </p:cNvPr>
          <p:cNvSpPr>
            <a:spLocks noGrp="1"/>
          </p:cNvSpPr>
          <p:nvPr>
            <p:ph type="title"/>
          </p:nvPr>
        </p:nvSpPr>
        <p:spPr>
          <a:xfrm>
            <a:off x="609600" y="7040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研究背景</a:t>
            </a:r>
          </a:p>
        </p:txBody>
      </p:sp>
      <p:sp>
        <p:nvSpPr>
          <p:cNvPr id="2" name="コンテンツ プレースホルダー 1">
            <a:extLst>
              <a:ext uri="{FF2B5EF4-FFF2-40B4-BE49-F238E27FC236}">
                <a16:creationId xmlns:a16="http://schemas.microsoft.com/office/drawing/2014/main" id="{A25CCE1B-8A83-8C0F-C65B-BEB5AB5574A2}"/>
              </a:ext>
            </a:extLst>
          </p:cNvPr>
          <p:cNvSpPr>
            <a:spLocks noGrp="1"/>
          </p:cNvSpPr>
          <p:nvPr>
            <p:ph idx="1"/>
          </p:nvPr>
        </p:nvSpPr>
        <p:spPr>
          <a:xfrm>
            <a:off x="609600" y="1463040"/>
            <a:ext cx="11054080" cy="1115268"/>
          </a:xfrm>
        </p:spPr>
        <p:txBody>
          <a:bodyPr rtlCol="0"/>
          <a:lstStyle/>
          <a:p>
            <a:pPr fontAlgn="t"/>
            <a:r>
              <a:rPr lang="ja-JP" altLang="ja-JP" dirty="0"/>
              <a:t>Oliveira（2026）は，子どもを前提とした対策が， より広いデジタル脆弱性への基本的な対応となりうると指摘している。[</a:t>
            </a:r>
            <a:r>
              <a:rPr lang="en-US" altLang="ja-JP" dirty="0"/>
              <a:t>5</a:t>
            </a:r>
            <a:r>
              <a:rPr lang="ja-JP" altLang="ja-JP" dirty="0"/>
              <a:t>]</a:t>
            </a:r>
          </a:p>
        </p:txBody>
      </p:sp>
      <p:sp>
        <p:nvSpPr>
          <p:cNvPr id="4" name="テキスト ボックス 3">
            <a:extLst>
              <a:ext uri="{FF2B5EF4-FFF2-40B4-BE49-F238E27FC236}">
                <a16:creationId xmlns:a16="http://schemas.microsoft.com/office/drawing/2014/main" id="{41893A02-FBF7-A12C-31E2-4C6F980BC2F8}"/>
              </a:ext>
            </a:extLst>
          </p:cNvPr>
          <p:cNvSpPr txBox="1"/>
          <p:nvPr/>
        </p:nvSpPr>
        <p:spPr>
          <a:xfrm>
            <a:off x="909559" y="2730708"/>
            <a:ext cx="10372881" cy="707886"/>
          </a:xfrm>
          <a:prstGeom prst="rect">
            <a:avLst/>
          </a:prstGeom>
          <a:noFill/>
          <a:ln>
            <a:noFill/>
          </a:ln>
        </p:spPr>
        <p:txBody>
          <a:bodyPr wrap="square" rtlCol="0">
            <a:spAutoFit/>
          </a:bodyPr>
          <a:lstStyle/>
          <a:p>
            <a:r>
              <a:rPr lang="ja-JP" altLang="ja-JP" sz="4000" dirty="0">
                <a:latin typeface="Meiryo UI" panose="020B0604030504040204" pitchFamily="50" charset="-128"/>
                <a:ea typeface="Meiryo UI" panose="020B0604030504040204" pitchFamily="50" charset="-128"/>
              </a:rPr>
              <a:t>児童</a:t>
            </a:r>
            <a:r>
              <a:rPr lang="ja-JP" altLang="en-US" sz="4000" dirty="0">
                <a:latin typeface="Meiryo UI" panose="020B0604030504040204" pitchFamily="50" charset="-128"/>
                <a:ea typeface="Meiryo UI" panose="020B0604030504040204" pitchFamily="50" charset="-128"/>
              </a:rPr>
              <a:t>に対し</a:t>
            </a:r>
            <a:r>
              <a:rPr lang="ja-JP" altLang="ja-JP" sz="4000" dirty="0">
                <a:latin typeface="Meiryo UI" panose="020B0604030504040204" pitchFamily="50" charset="-128"/>
                <a:ea typeface="Meiryo UI" panose="020B0604030504040204" pitchFamily="50" charset="-128"/>
              </a:rPr>
              <a:t>ダークパターンへの対処能力を育成す</a:t>
            </a:r>
            <a:r>
              <a:rPr lang="ja-JP" altLang="en-US" sz="4000" dirty="0">
                <a:latin typeface="Meiryo UI" panose="020B0604030504040204" pitchFamily="50" charset="-128"/>
                <a:ea typeface="Meiryo UI" panose="020B0604030504040204" pitchFamily="50" charset="-128"/>
              </a:rPr>
              <a:t>る。</a:t>
            </a:r>
            <a:endParaRPr kumimoji="1" lang="ja-JP" altLang="en-US" sz="4000" dirty="0"/>
          </a:p>
        </p:txBody>
      </p:sp>
      <p:sp>
        <p:nvSpPr>
          <p:cNvPr id="5" name="テキスト ボックス 4">
            <a:extLst>
              <a:ext uri="{FF2B5EF4-FFF2-40B4-BE49-F238E27FC236}">
                <a16:creationId xmlns:a16="http://schemas.microsoft.com/office/drawing/2014/main" id="{0E1C7A59-2BBC-F0A7-ED84-88FA9B118C11}"/>
              </a:ext>
            </a:extLst>
          </p:cNvPr>
          <p:cNvSpPr txBox="1"/>
          <p:nvPr/>
        </p:nvSpPr>
        <p:spPr>
          <a:xfrm>
            <a:off x="804472" y="4687074"/>
            <a:ext cx="11054080" cy="707886"/>
          </a:xfrm>
          <a:prstGeom prst="rect">
            <a:avLst/>
          </a:prstGeom>
          <a:noFill/>
          <a:ln>
            <a:noFill/>
          </a:ln>
        </p:spPr>
        <p:txBody>
          <a:bodyPr wrap="square" rtlCol="0">
            <a:spAutoFit/>
          </a:bodyPr>
          <a:lstStyle/>
          <a:p>
            <a:pPr lvl="0">
              <a:defRPr/>
            </a:pPr>
            <a:r>
              <a:rPr lang="ja-JP" altLang="ja-JP" sz="4000" dirty="0">
                <a:latin typeface="Meiryo UI" panose="020B0604030504040204" pitchFamily="50" charset="-128"/>
                <a:ea typeface="Meiryo UI" panose="020B0604030504040204" pitchFamily="50" charset="-128"/>
              </a:rPr>
              <a:t>結果として利用者全体の対処能力の向上につながる</a:t>
            </a:r>
            <a:r>
              <a:rPr lang="ja-JP" altLang="en-US" sz="4000" dirty="0">
                <a:latin typeface="Meiryo UI" panose="020B0604030504040204" pitchFamily="50" charset="-128"/>
                <a:ea typeface="Meiryo UI" panose="020B0604030504040204" pitchFamily="50" charset="-128"/>
              </a:rPr>
              <a:t>。</a:t>
            </a:r>
            <a:endParaRPr lang="ja-JP" altLang="ja-JP" sz="4000" dirty="0">
              <a:latin typeface="Meiryo UI" panose="020B0604030504040204" pitchFamily="50" charset="-128"/>
              <a:ea typeface="Meiryo UI" panose="020B0604030504040204" pitchFamily="50" charset="-128"/>
            </a:endParaRPr>
          </a:p>
        </p:txBody>
      </p:sp>
      <p:cxnSp>
        <p:nvCxnSpPr>
          <p:cNvPr id="7" name="直線矢印コネクタ 6">
            <a:extLst>
              <a:ext uri="{FF2B5EF4-FFF2-40B4-BE49-F238E27FC236}">
                <a16:creationId xmlns:a16="http://schemas.microsoft.com/office/drawing/2014/main" id="{F325EC0A-545D-9175-EBB1-B3A880657B07}"/>
              </a:ext>
            </a:extLst>
          </p:cNvPr>
          <p:cNvCxnSpPr>
            <a:cxnSpLocks/>
          </p:cNvCxnSpPr>
          <p:nvPr/>
        </p:nvCxnSpPr>
        <p:spPr>
          <a:xfrm>
            <a:off x="6095999" y="3590994"/>
            <a:ext cx="0" cy="936036"/>
          </a:xfrm>
          <a:prstGeom prst="straightConnector1">
            <a:avLst/>
          </a:prstGeom>
          <a:ln w="7620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734892547"/>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E431E-DAF1-030E-85A1-6EABA661A387}"/>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F7C925E-50AD-94D9-ECEC-F63115100BB3}"/>
              </a:ext>
            </a:extLst>
          </p:cNvPr>
          <p:cNvSpPr>
            <a:spLocks noGrp="1"/>
          </p:cNvSpPr>
          <p:nvPr>
            <p:ph type="title"/>
          </p:nvPr>
        </p:nvSpPr>
        <p:spPr>
          <a:xfrm>
            <a:off x="609600" y="5262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先行研究</a:t>
            </a:r>
          </a:p>
        </p:txBody>
      </p:sp>
      <p:sp>
        <p:nvSpPr>
          <p:cNvPr id="2" name="コンテンツ プレースホルダー 1">
            <a:extLst>
              <a:ext uri="{FF2B5EF4-FFF2-40B4-BE49-F238E27FC236}">
                <a16:creationId xmlns:a16="http://schemas.microsoft.com/office/drawing/2014/main" id="{C4FF6640-9EF9-93D9-02AC-6EB164719F95}"/>
              </a:ext>
            </a:extLst>
          </p:cNvPr>
          <p:cNvSpPr>
            <a:spLocks noGrp="1"/>
          </p:cNvSpPr>
          <p:nvPr>
            <p:ph idx="1"/>
          </p:nvPr>
        </p:nvSpPr>
        <p:spPr>
          <a:xfrm>
            <a:off x="609600" y="1132840"/>
            <a:ext cx="11417301" cy="4791190"/>
          </a:xfrm>
        </p:spPr>
        <p:txBody>
          <a:bodyPr rtlCol="0">
            <a:normAutofit/>
          </a:bodyPr>
          <a:lstStyle/>
          <a:p>
            <a:pPr fontAlgn="t"/>
            <a:r>
              <a:rPr lang="ja-JP" altLang="ja-JP" sz="2200" dirty="0"/>
              <a:t>Khan, N., Daud, H. E., &amp; Shahid, S. (2025). Mind the Dark: A Gamified Exploration of Deceptive Design Awareness for Children in the Digital Age</a:t>
            </a:r>
            <a:r>
              <a:rPr lang="en-US" altLang="ja-JP" sz="2200" dirty="0"/>
              <a:t>[6]</a:t>
            </a:r>
            <a:endParaRPr lang="en-US" altLang="ja-JP" dirty="0"/>
          </a:p>
          <a:p>
            <a:pPr fontAlgn="t"/>
            <a:r>
              <a:rPr lang="ja-JP" altLang="en-US" sz="2400" b="1" dirty="0"/>
              <a:t>手法</a:t>
            </a:r>
            <a:endParaRPr lang="en-US" altLang="ja-JP" sz="2400" b="1" dirty="0"/>
          </a:p>
          <a:p>
            <a:pPr marL="0" indent="0" fontAlgn="t">
              <a:buNone/>
            </a:pPr>
            <a:r>
              <a:rPr lang="ja-JP" altLang="en-US" sz="2200" dirty="0"/>
              <a:t>　</a:t>
            </a:r>
            <a:r>
              <a:rPr lang="ja-JP" altLang="ja-JP" sz="2200" dirty="0"/>
              <a:t>児童</a:t>
            </a:r>
            <a:r>
              <a:rPr lang="en-US" altLang="ja-JP" sz="2200" dirty="0"/>
              <a:t>147</a:t>
            </a:r>
            <a:r>
              <a:rPr lang="ja-JP" altLang="en-US" sz="2200" dirty="0"/>
              <a:t>名に対し</a:t>
            </a:r>
            <a:r>
              <a:rPr lang="ja-JP" altLang="ja-JP" sz="2200" dirty="0"/>
              <a:t>対してシナリオ提示と講義を行い， 講義前後で同一シナリオに対する</a:t>
            </a:r>
            <a:endParaRPr lang="en-US" altLang="ja-JP" sz="2200" dirty="0"/>
          </a:p>
          <a:p>
            <a:pPr marL="0" indent="0" fontAlgn="t">
              <a:buNone/>
            </a:pPr>
            <a:r>
              <a:rPr lang="ja-JP" altLang="en-US" sz="2200" dirty="0"/>
              <a:t>　</a:t>
            </a:r>
            <a:r>
              <a:rPr lang="ja-JP" altLang="ja-JP" sz="2200" dirty="0"/>
              <a:t>行動変化を評価</a:t>
            </a:r>
            <a:r>
              <a:rPr lang="ja-JP" altLang="en-US" sz="2200" dirty="0"/>
              <a:t>した。その結果を踏まえ</a:t>
            </a:r>
            <a:r>
              <a:rPr lang="ja-JP" altLang="ja-JP" sz="2200" dirty="0"/>
              <a:t>Webアプリ「Mind the</a:t>
            </a:r>
            <a:r>
              <a:rPr lang="ja-JP" altLang="en-US" sz="2200" dirty="0"/>
              <a:t> </a:t>
            </a:r>
            <a:r>
              <a:rPr lang="ja-JP" altLang="ja-JP" sz="2200" dirty="0"/>
              <a:t>Dark」を開発し</a:t>
            </a:r>
            <a:r>
              <a:rPr lang="ja-JP" altLang="en-US" sz="2200" dirty="0"/>
              <a:t>、</a:t>
            </a:r>
            <a:r>
              <a:rPr lang="ja-JP" altLang="ja-JP" sz="2200" dirty="0"/>
              <a:t>36名の</a:t>
            </a:r>
            <a:endParaRPr lang="en-US" altLang="ja-JP" sz="2200" dirty="0"/>
          </a:p>
          <a:p>
            <a:pPr marL="0" indent="0" fontAlgn="t">
              <a:buNone/>
            </a:pPr>
            <a:r>
              <a:rPr lang="ja-JP" altLang="en-US" sz="2200" dirty="0"/>
              <a:t>　</a:t>
            </a:r>
            <a:r>
              <a:rPr lang="ja-JP" altLang="ja-JP" sz="2200" dirty="0"/>
              <a:t>児童を対象に評価を実施し</a:t>
            </a:r>
            <a:r>
              <a:rPr lang="ja-JP" altLang="en-US" sz="2200" dirty="0"/>
              <a:t>た</a:t>
            </a:r>
            <a:endParaRPr lang="en-US" altLang="ja-JP" dirty="0"/>
          </a:p>
          <a:p>
            <a:pPr fontAlgn="t"/>
            <a:r>
              <a:rPr lang="ja-JP" altLang="en-US" sz="2400" b="1" dirty="0"/>
              <a:t>結果・課題</a:t>
            </a:r>
            <a:endParaRPr lang="en-US" altLang="ja-JP" sz="2400" b="1" dirty="0"/>
          </a:p>
          <a:p>
            <a:pPr marL="0" indent="0" fontAlgn="t">
              <a:buNone/>
            </a:pPr>
            <a:r>
              <a:rPr lang="ja-JP" altLang="en-US" dirty="0"/>
              <a:t>　</a:t>
            </a:r>
            <a:r>
              <a:rPr lang="ja-JP" altLang="ja-JP" sz="2200" dirty="0"/>
              <a:t>講義後，同一シナリオにおいて課金行動が減少し， 回避行動が増加するなど，児童の</a:t>
            </a:r>
            <a:endParaRPr lang="en-US" altLang="ja-JP" sz="2200" dirty="0"/>
          </a:p>
          <a:p>
            <a:pPr marL="0" indent="0" fontAlgn="t">
              <a:buNone/>
            </a:pPr>
            <a:r>
              <a:rPr lang="ja-JP" altLang="en-US" sz="2200" dirty="0"/>
              <a:t>　</a:t>
            </a:r>
            <a:r>
              <a:rPr lang="ja-JP" altLang="ja-JP" sz="2200" dirty="0"/>
              <a:t>理解向上が確認された。開発したWebアプリでは， 理解促進・興味・参加意欲の向上が</a:t>
            </a:r>
            <a:endParaRPr lang="en-US" altLang="ja-JP" sz="2200" dirty="0"/>
          </a:p>
          <a:p>
            <a:pPr marL="0" indent="0" fontAlgn="t">
              <a:buNone/>
            </a:pPr>
            <a:r>
              <a:rPr lang="ja-JP" altLang="en-US" sz="2200" dirty="0"/>
              <a:t>　</a:t>
            </a:r>
            <a:r>
              <a:rPr lang="ja-JP" altLang="ja-JP" sz="2200" dirty="0"/>
              <a:t>観察およびインタビューにより確認された。</a:t>
            </a:r>
          </a:p>
          <a:p>
            <a:pPr marL="0" indent="0" fontAlgn="t">
              <a:buNone/>
            </a:pPr>
            <a:endParaRPr lang="ja-JP" altLang="ja-JP" dirty="0"/>
          </a:p>
          <a:p>
            <a:pPr marL="0" indent="0" fontAlgn="t">
              <a:buNone/>
            </a:pPr>
            <a:endParaRPr lang="en-US" altLang="ja-JP" dirty="0"/>
          </a:p>
        </p:txBody>
      </p:sp>
      <p:sp>
        <p:nvSpPr>
          <p:cNvPr id="8" name="テキスト ボックス 7">
            <a:extLst>
              <a:ext uri="{FF2B5EF4-FFF2-40B4-BE49-F238E27FC236}">
                <a16:creationId xmlns:a16="http://schemas.microsoft.com/office/drawing/2014/main" id="{7298C9DD-7CEC-DB2A-47A3-178A4E5AB283}"/>
              </a:ext>
            </a:extLst>
          </p:cNvPr>
          <p:cNvSpPr txBox="1"/>
          <p:nvPr/>
        </p:nvSpPr>
        <p:spPr>
          <a:xfrm>
            <a:off x="1544319" y="5370032"/>
            <a:ext cx="9547861" cy="1107996"/>
          </a:xfrm>
          <a:prstGeom prst="rect">
            <a:avLst/>
          </a:prstGeom>
          <a:ln w="57150"/>
        </p:spPr>
        <p:style>
          <a:lnRef idx="2">
            <a:schemeClr val="accent3"/>
          </a:lnRef>
          <a:fillRef idx="1">
            <a:schemeClr val="lt1"/>
          </a:fillRef>
          <a:effectRef idx="0">
            <a:schemeClr val="accent3"/>
          </a:effectRef>
          <a:fontRef idx="minor">
            <a:schemeClr val="dk1"/>
          </a:fontRef>
        </p:style>
        <p:txBody>
          <a:bodyPr wrap="square" rtlCol="0">
            <a:spAutoFit/>
          </a:bodyPr>
          <a:lstStyle/>
          <a:p>
            <a:r>
              <a:rPr lang="ja-JP" altLang="en-US" sz="2200" dirty="0"/>
              <a:t>・</a:t>
            </a:r>
            <a:r>
              <a:rPr lang="ja-JP" altLang="ja-JP" sz="2200" dirty="0"/>
              <a:t>評価は講義直後の限定シナリオ</a:t>
            </a:r>
            <a:r>
              <a:rPr lang="ja-JP" altLang="en-US" sz="2200" dirty="0"/>
              <a:t>での</a:t>
            </a:r>
            <a:r>
              <a:rPr lang="ja-JP" altLang="ja-JP" sz="2200" dirty="0"/>
              <a:t>観察・インタビュー</a:t>
            </a:r>
            <a:r>
              <a:rPr lang="ja-JP" altLang="en-US" sz="2200" dirty="0"/>
              <a:t>・付箋。</a:t>
            </a:r>
            <a:endParaRPr lang="en-US" altLang="ja-JP" sz="2200" dirty="0"/>
          </a:p>
          <a:p>
            <a:r>
              <a:rPr lang="ja-JP" altLang="en-US" sz="2200" dirty="0"/>
              <a:t>　→　</a:t>
            </a:r>
            <a:r>
              <a:rPr lang="ja-JP" altLang="ja-JP" sz="2200" dirty="0"/>
              <a:t>実際のWeb環境での</a:t>
            </a:r>
            <a:r>
              <a:rPr lang="ja-JP" altLang="en-US" sz="2200" dirty="0"/>
              <a:t>検証がなく、</a:t>
            </a:r>
            <a:r>
              <a:rPr lang="ja-JP" altLang="ja-JP" sz="2200" dirty="0"/>
              <a:t>行動としての活用（内面化）</a:t>
            </a:r>
            <a:endParaRPr lang="en-US" altLang="ja-JP" sz="2200" dirty="0"/>
          </a:p>
          <a:p>
            <a:r>
              <a:rPr lang="ja-JP" altLang="en-US" sz="2200" dirty="0"/>
              <a:t>　　　</a:t>
            </a:r>
            <a:r>
              <a:rPr lang="ja-JP" altLang="ja-JP" sz="2200" dirty="0"/>
              <a:t>は未検証</a:t>
            </a:r>
          </a:p>
        </p:txBody>
      </p:sp>
    </p:spTree>
    <p:extLst>
      <p:ext uri="{BB962C8B-B14F-4D97-AF65-F5344CB8AC3E}">
        <p14:creationId xmlns:p14="http://schemas.microsoft.com/office/powerpoint/2010/main" val="936551680"/>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41353-EAC3-F81F-2D2D-32441E3DC39B}"/>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8FA60CB6-00E7-E311-67DD-3AD7D6CF2E13}"/>
              </a:ext>
            </a:extLst>
          </p:cNvPr>
          <p:cNvSpPr>
            <a:spLocks noGrp="1"/>
          </p:cNvSpPr>
          <p:nvPr>
            <p:ph type="title"/>
          </p:nvPr>
        </p:nvSpPr>
        <p:spPr>
          <a:xfrm>
            <a:off x="609600" y="704088"/>
            <a:ext cx="11054080" cy="606552"/>
          </a:xfrm>
        </p:spPr>
        <p:txBody>
          <a:bodyPr rtlCol="0">
            <a:normAutofit fontScale="90000"/>
          </a:bodyPr>
          <a:lstStyle/>
          <a:p>
            <a:pPr rtl="0"/>
            <a:r>
              <a:rPr lang="ja-JP" altLang="en-US" dirty="0"/>
              <a:t>研究目的</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32D4271E-2B94-8AE4-A59B-A4B629DF2C4C}"/>
              </a:ext>
            </a:extLst>
          </p:cNvPr>
          <p:cNvSpPr>
            <a:spLocks noGrp="1"/>
          </p:cNvSpPr>
          <p:nvPr>
            <p:ph idx="1"/>
          </p:nvPr>
        </p:nvSpPr>
        <p:spPr>
          <a:xfrm>
            <a:off x="609599" y="1564640"/>
            <a:ext cx="11417301" cy="4791190"/>
          </a:xfrm>
        </p:spPr>
        <p:txBody>
          <a:bodyPr rtlCol="0">
            <a:normAutofit lnSpcReduction="10000"/>
          </a:bodyPr>
          <a:lstStyle/>
          <a:p>
            <a:pPr fontAlgn="t"/>
            <a:r>
              <a:rPr lang="ja-JP" altLang="ja-JP" dirty="0"/>
              <a:t>児童がダークパターンに関する知識を実際の意思決定場面で活用できるか（内面化）を，現実に近いシミュレーション環境上の行動として評価可能な「実践的評価環境」を構築する</a:t>
            </a:r>
            <a:endParaRPr lang="en-US" altLang="ja-JP" dirty="0"/>
          </a:p>
          <a:p>
            <a:pPr marL="0" indent="0" fontAlgn="t">
              <a:buNone/>
            </a:pPr>
            <a:endParaRPr lang="en-US" altLang="ja-JP" dirty="0"/>
          </a:p>
          <a:p>
            <a:pPr fontAlgn="t"/>
            <a:r>
              <a:rPr lang="ja-JP" altLang="en-US" b="1" dirty="0"/>
              <a:t>既存研究</a:t>
            </a:r>
            <a:endParaRPr lang="en-US" altLang="ja-JP" b="1" dirty="0"/>
          </a:p>
          <a:p>
            <a:pPr lvl="1" fontAlgn="t"/>
            <a:r>
              <a:rPr lang="ja-JP" altLang="en-US" dirty="0"/>
              <a:t>シナリオ評</a:t>
            </a:r>
            <a:r>
              <a:rPr lang="ja-JP" altLang="ja-JP" dirty="0"/>
              <a:t>・シナリオ評価では「押す／押さない」などの選択結果で評価 </a:t>
            </a:r>
            <a:endParaRPr lang="en-US" altLang="ja-JP" dirty="0"/>
          </a:p>
          <a:p>
            <a:pPr lvl="1" fontAlgn="t"/>
            <a:r>
              <a:rPr lang="ja-JP" altLang="ja-JP" dirty="0"/>
              <a:t>アプリ評価は観察・インタビューが中心</a:t>
            </a:r>
            <a:endParaRPr lang="en-US" altLang="ja-JP" dirty="0"/>
          </a:p>
          <a:p>
            <a:pPr marL="393192" lvl="1" indent="0" fontAlgn="t">
              <a:buNone/>
            </a:pPr>
            <a:r>
              <a:rPr lang="ja-JP" altLang="en-US" dirty="0"/>
              <a:t>　　→　</a:t>
            </a:r>
            <a:r>
              <a:rPr lang="ja-JP" altLang="ja-JP" dirty="0"/>
              <a:t>知識が実際の行動として使えるかは分からない</a:t>
            </a:r>
          </a:p>
          <a:p>
            <a:pPr fontAlgn="t"/>
            <a:r>
              <a:rPr lang="ja-JP" altLang="en-US" b="1" dirty="0"/>
              <a:t>本研究</a:t>
            </a:r>
            <a:endParaRPr lang="en-US" altLang="ja-JP" b="1" dirty="0"/>
          </a:p>
          <a:p>
            <a:pPr lvl="1" fontAlgn="t"/>
            <a:r>
              <a:rPr lang="ja-JP" altLang="ja-JP" dirty="0"/>
              <a:t>その知識を回避行動として活用できるかが十分に検証されていないという課題に着目する</a:t>
            </a:r>
          </a:p>
          <a:p>
            <a:pPr lvl="1" fontAlgn="t"/>
            <a:endParaRPr lang="en-US" altLang="ja-JP" dirty="0"/>
          </a:p>
          <a:p>
            <a:pPr lvl="1" fontAlgn="t"/>
            <a:endParaRPr lang="en-US" altLang="ja-JP" dirty="0"/>
          </a:p>
        </p:txBody>
      </p:sp>
    </p:spTree>
    <p:extLst>
      <p:ext uri="{BB962C8B-B14F-4D97-AF65-F5344CB8AC3E}">
        <p14:creationId xmlns:p14="http://schemas.microsoft.com/office/powerpoint/2010/main" val="4288605301"/>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FEE74-0DDA-F366-B8A8-4F2FA43C502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47EF8715-ACBE-78DC-C3B5-929F076A9A1C}"/>
              </a:ext>
            </a:extLst>
          </p:cNvPr>
          <p:cNvSpPr>
            <a:spLocks noGrp="1"/>
          </p:cNvSpPr>
          <p:nvPr>
            <p:ph type="title"/>
          </p:nvPr>
        </p:nvSpPr>
        <p:spPr>
          <a:xfrm>
            <a:off x="609600" y="704088"/>
            <a:ext cx="11054080" cy="606552"/>
          </a:xfrm>
        </p:spPr>
        <p:txBody>
          <a:bodyPr rtlCol="0">
            <a:normAutofit fontScale="90000"/>
          </a:bodyPr>
          <a:lstStyle/>
          <a:p>
            <a:pPr rtl="0"/>
            <a:r>
              <a:rPr lang="ja-JP" altLang="en-US" dirty="0"/>
              <a:t>研究手法</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F0035FF7-398C-5D6F-A854-96CA442D8A56}"/>
              </a:ext>
            </a:extLst>
          </p:cNvPr>
          <p:cNvSpPr>
            <a:spLocks noGrp="1"/>
          </p:cNvSpPr>
          <p:nvPr>
            <p:ph idx="1"/>
          </p:nvPr>
        </p:nvSpPr>
        <p:spPr>
          <a:xfrm>
            <a:off x="609599" y="1564639"/>
            <a:ext cx="11292115" cy="5111931"/>
          </a:xfrm>
        </p:spPr>
        <p:txBody>
          <a:bodyPr rtlCol="0">
            <a:normAutofit lnSpcReduction="10000"/>
          </a:bodyPr>
          <a:lstStyle/>
          <a:p>
            <a:pPr fontAlgn="t">
              <a:spcAft>
                <a:spcPts val="1200"/>
              </a:spcAft>
            </a:pPr>
            <a:r>
              <a:rPr lang="ja-JP" altLang="ja-JP" dirty="0"/>
              <a:t>「ダークパターン教育」と「実践的行動評価」をフェーズ分けし、児童の警戒意識と油断状態の双方からダークパターンへの反応を測定する。</a:t>
            </a:r>
            <a:endParaRPr lang="en-US" altLang="ja-JP" dirty="0"/>
          </a:p>
          <a:p>
            <a:pPr marL="0" indent="0" fontAlgn="t">
              <a:buNone/>
            </a:pPr>
            <a:r>
              <a:rPr lang="ja-JP" altLang="en-US" b="1" dirty="0"/>
              <a:t>手順</a:t>
            </a:r>
            <a:endParaRPr lang="en-US" altLang="ja-JP" b="1" dirty="0"/>
          </a:p>
          <a:p>
            <a:pPr fontAlgn="t"/>
            <a:r>
              <a:rPr lang="ja-JP" altLang="en-US" b="1" dirty="0"/>
              <a:t>ダークパターン教育</a:t>
            </a:r>
            <a:endParaRPr lang="en-US" altLang="ja-JP" b="1" dirty="0"/>
          </a:p>
          <a:p>
            <a:pPr lvl="1" fontAlgn="t"/>
            <a:r>
              <a:rPr lang="ja-JP" altLang="ja-JP" dirty="0"/>
              <a:t>模擬ECサイト等を用い、</a:t>
            </a:r>
            <a:r>
              <a:rPr lang="ja-JP" altLang="en-US" dirty="0"/>
              <a:t>説明後</a:t>
            </a:r>
            <a:r>
              <a:rPr lang="ja-JP" altLang="ja-JP" dirty="0"/>
              <a:t>児童が能動的にダークパターンを探索・識別する。</a:t>
            </a:r>
          </a:p>
          <a:p>
            <a:pPr lvl="1" fontAlgn="t"/>
            <a:r>
              <a:rPr lang="ja-JP" altLang="ja-JP" dirty="0"/>
              <a:t>探索終了後、</a:t>
            </a:r>
            <a:r>
              <a:rPr lang="ja-JP" altLang="en-US" dirty="0"/>
              <a:t>その</a:t>
            </a:r>
            <a:r>
              <a:rPr lang="ja-JP" altLang="ja-JP" dirty="0"/>
              <a:t>UIがユーザをどのように意図しない意思決定へ誘導するか、その仕組みを詳細に解説し知識を補強する。</a:t>
            </a:r>
            <a:endParaRPr lang="en-US" altLang="ja-JP" dirty="0"/>
          </a:p>
          <a:p>
            <a:pPr fontAlgn="t"/>
            <a:r>
              <a:rPr lang="ja-JP" altLang="ja-JP" b="1" dirty="0"/>
              <a:t>報酬獲得タスク</a:t>
            </a:r>
            <a:endParaRPr lang="en-US" altLang="ja-JP" b="1" dirty="0"/>
          </a:p>
          <a:p>
            <a:pPr lvl="1" fontAlgn="t"/>
            <a:r>
              <a:rPr lang="ja-JP" altLang="en-US" dirty="0"/>
              <a:t>ダークパターンの教育終了を伝え、学習報酬を渡すといい</a:t>
            </a:r>
            <a:r>
              <a:rPr lang="ja-JP" altLang="ja-JP" dirty="0"/>
              <a:t>心理的警戒</a:t>
            </a:r>
            <a:r>
              <a:rPr lang="ja-JP" altLang="en-US" dirty="0"/>
              <a:t>を解く。</a:t>
            </a:r>
            <a:endParaRPr lang="en-US" altLang="ja-JP" dirty="0"/>
          </a:p>
          <a:p>
            <a:pPr lvl="1" fontAlgn="t"/>
            <a:r>
              <a:rPr lang="ja-JP" altLang="ja-JP" dirty="0"/>
              <a:t>報酬選択の意思決定場面</a:t>
            </a:r>
            <a:r>
              <a:rPr lang="ja-JP" altLang="en-US" dirty="0"/>
              <a:t>においてダークパターンを仕掛け</a:t>
            </a:r>
            <a:r>
              <a:rPr lang="ja-JP" altLang="ja-JP" dirty="0"/>
              <a:t>獲得した知識が実際の行動（回避行動）として活用できるかをテストする</a:t>
            </a:r>
            <a:r>
              <a:rPr lang="ja-JP" altLang="en-US" dirty="0"/>
              <a:t>。</a:t>
            </a:r>
            <a:endParaRPr lang="en-US" altLang="ja-JP" dirty="0"/>
          </a:p>
        </p:txBody>
      </p:sp>
    </p:spTree>
    <p:extLst>
      <p:ext uri="{BB962C8B-B14F-4D97-AF65-F5344CB8AC3E}">
        <p14:creationId xmlns:p14="http://schemas.microsoft.com/office/powerpoint/2010/main" val="3748955085"/>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ブレーンストーミングのプレゼンテーション">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Century Gothic-Palatino Linotyp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panose="0204050205050503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spDef>
      <a:spPr/>
      <a:bodyPr rtlCol="0" anchor="ctr"/>
      <a:lstStyle>
        <a:defPPr algn="ctr">
          <a:defRPr/>
        </a:defPPr>
      </a:lstStyle>
      <a:style>
        <a:lnRef idx="1">
          <a:schemeClr val="accent3"/>
        </a:lnRef>
        <a:fillRef idx="2">
          <a:schemeClr val="accent3"/>
        </a:fillRef>
        <a:effectRef idx="1">
          <a:schemeClr val="accent3"/>
        </a:effectRef>
        <a:fontRef idx="minor">
          <a:schemeClr val="dk1"/>
        </a:fontRef>
      </a:style>
    </a:spDef>
    <a:lnDef>
      <a:spPr/>
      <a:bodyPr/>
      <a:lstStyle/>
      <a:style>
        <a:lnRef idx="1">
          <a:schemeClr val="accent1"/>
        </a:lnRef>
        <a:fillRef idx="0">
          <a:schemeClr val="accent1"/>
        </a:fillRef>
        <a:effectRef idx="0">
          <a:schemeClr val="accent1"/>
        </a:effectRef>
        <a:fontRef idx="minor">
          <a:schemeClr val="tx1"/>
        </a:fontRef>
      </a:style>
    </a:lnDef>
    <a:txDef>
      <a:spPr>
        <a:noFill/>
        <a:ln>
          <a:solidFill>
            <a:schemeClr val="bg2"/>
          </a:solidFill>
        </a:ln>
      </a:spPr>
      <a:bodyPr wrap="none" rtlCol="0">
        <a:spAutoFit/>
      </a:bodyPr>
      <a:lstStyle>
        <a:defPPr>
          <a:defRPr dirty="0" err="1" smtClean="0"/>
        </a:defPPr>
      </a:lstStyle>
    </a:txDef>
  </a:objectDefaults>
  <a:extraClrSchemeLst/>
  <a:extLst>
    <a:ext uri="{05A4C25C-085E-4340-85A3-A5531E510DB2}">
      <thm15:themeFamily xmlns:thm15="http://schemas.microsoft.com/office/thememl/2012/main" name="Office_15870482_TF03460637.potx" id="{8F3B156D-932A-4C4F-B19B-13DA9C7AB513}" vid="{CAF0C7A8-6467-402F-B5CC-E460ADA54AE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ビジネス ブレーンストーミングのプレゼンテーション</Template>
  <TotalTime>1280</TotalTime>
  <Words>1858</Words>
  <Application>Microsoft Office PowerPoint</Application>
  <PresentationFormat>ワイド画面</PresentationFormat>
  <Paragraphs>81</Paragraphs>
  <Slides>8</Slides>
  <Notes>8</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8</vt:i4>
      </vt:variant>
    </vt:vector>
  </HeadingPairs>
  <TitlesOfParts>
    <vt:vector size="13" baseType="lpstr">
      <vt:lpstr>Meiryo UI</vt:lpstr>
      <vt:lpstr>ＭＳ 明朝</vt:lpstr>
      <vt:lpstr>Palatino Linotype</vt:lpstr>
      <vt:lpstr>Wingdings 2</vt:lpstr>
      <vt:lpstr>ブレーンストーミングのプレゼンテーション</vt:lpstr>
      <vt:lpstr>創造性のセッション</vt:lpstr>
      <vt:lpstr>目次</vt:lpstr>
      <vt:lpstr>研究背景</vt:lpstr>
      <vt:lpstr>研究背景</vt:lpstr>
      <vt:lpstr>研究背景</vt:lpstr>
      <vt:lpstr>先行研究</vt:lpstr>
      <vt:lpstr>研究目的</vt:lpstr>
      <vt:lpstr>研究手法</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g26014nk</dc:creator>
  <cp:lastModifiedBy>g26014nk</cp:lastModifiedBy>
  <cp:revision>74</cp:revision>
  <dcterms:created xsi:type="dcterms:W3CDTF">2026-06-15T23:14:21Z</dcterms:created>
  <dcterms:modified xsi:type="dcterms:W3CDTF">2026-06-16T20:36:59Z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0x010100AA3F7D94069FF64A86F7DFF56D60E3BE</vt:lpwstr>
  </property>
  <property fmtid="{D5CDD505-2E9C-101B-9397-08002B2CF9AE}" pid="3" name="Order">
    <vt:r8>74069100</vt:r8>
  </property>
  <property fmtid="{D5CDD505-2E9C-101B-9397-08002B2CF9AE}" pid="4" name="HiddenCategoryTags">
    <vt:lpwstr/>
  </property>
  <property fmtid="{D5CDD505-2E9C-101B-9397-08002B2CF9AE}" pid="5" name="InternalTags">
    <vt:lpwstr/>
  </property>
  <property fmtid="{D5CDD505-2E9C-101B-9397-08002B2CF9AE}" pid="6" name="FeatureTags">
    <vt:lpwstr/>
  </property>
  <property fmtid="{D5CDD505-2E9C-101B-9397-08002B2CF9AE}" pid="7" name="LocalizationTags">
    <vt:lpwstr/>
  </property>
  <property fmtid="{D5CDD505-2E9C-101B-9397-08002B2CF9AE}" pid="8" name="CategoryTags">
    <vt:lpwstr/>
  </property>
  <property fmtid="{D5CDD505-2E9C-101B-9397-08002B2CF9AE}" pid="9" name="Applications">
    <vt:lpwstr/>
  </property>
  <property fmtid="{D5CDD505-2E9C-101B-9397-08002B2CF9AE}" pid="10" name="CampaignTags">
    <vt:lpwstr/>
  </property>
  <property fmtid="{D5CDD505-2E9C-101B-9397-08002B2CF9AE}" pid="11" name="ScenarioTags">
    <vt:lpwstr/>
  </property>
</Properties>
</file>