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5"/>
  </p:notesMasterIdLst>
  <p:handoutMasterIdLst>
    <p:handoutMasterId r:id="rId16"/>
  </p:handoutMasterIdLst>
  <p:sldIdLst>
    <p:sldId id="272" r:id="rId2"/>
    <p:sldId id="274" r:id="rId3"/>
    <p:sldId id="280" r:id="rId4"/>
    <p:sldId id="281" r:id="rId5"/>
    <p:sldId id="282" r:id="rId6"/>
    <p:sldId id="283" r:id="rId7"/>
    <p:sldId id="284" r:id="rId8"/>
    <p:sldId id="291" r:id="rId9"/>
    <p:sldId id="285" r:id="rId10"/>
    <p:sldId id="286" r:id="rId11"/>
    <p:sldId id="288" r:id="rId12"/>
    <p:sldId id="289" r:id="rId13"/>
    <p:sldId id="290" r:id="rId14"/>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58" autoAdjust="0"/>
    <p:restoredTop sz="69231" autoAdjust="0"/>
  </p:normalViewPr>
  <p:slideViewPr>
    <p:cSldViewPr snapToGrid="0">
      <p:cViewPr varScale="1">
        <p:scale>
          <a:sx n="51" d="100"/>
          <a:sy n="51" d="100"/>
        </p:scale>
        <p:origin x="1556" y="-4"/>
      </p:cViewPr>
      <p:guideLst/>
    </p:cSldViewPr>
  </p:slid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87" d="100"/>
          <a:sy n="87" d="100"/>
        </p:scale>
        <p:origin x="309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4DA88A-700E-4959-AD05-3C421866BDC6}" type="datetime4">
              <a:rPr kumimoji="1" lang="ja-JP" altLang="en-US" smtClean="0">
                <a:latin typeface="Meiryo UI" panose="020B0604030504040204" pitchFamily="50" charset="-128"/>
                <a:ea typeface="Meiryo UI" panose="020B0604030504040204" pitchFamily="50" charset="-128"/>
              </a:rPr>
              <a:t>2026年10月1日</a:t>
            </a:fld>
            <a:endParaRPr kumimoji="1" lang="ja-JP" altLang="en-US" dirty="0">
              <a:latin typeface="Meiryo UI" panose="020B0604030504040204" pitchFamily="50" charset="-128"/>
              <a:ea typeface="Meiryo UI" panose="020B0604030504040204" pitchFamily="50" charset="-128"/>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dirty="0">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09A4F4-89FA-4551-A9F4-ECDBD52C06D6}" type="slidenum">
              <a:rPr kumimoji="1" lang="en-US" altLang="ja-JP" smtClean="0">
                <a:latin typeface="Meiryo UI" panose="020B0604030504040204" pitchFamily="50" charset="-128"/>
                <a:ea typeface="Meiryo UI" panose="020B0604030504040204" pitchFamily="50" charset="-128"/>
              </a:rPr>
              <a:t>‹#›</a:t>
            </a:fld>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5248109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eiryo UI" panose="020B0604030504040204" pitchFamily="50" charset="-128"/>
                <a:ea typeface="Meiryo UI" panose="020B0604030504040204" pitchFamily="50" charset="-128"/>
              </a:defRPr>
            </a:lvl1pPr>
          </a:lstStyle>
          <a:p>
            <a:endParaRPr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eiryo UI" panose="020B0604030504040204" pitchFamily="50" charset="-128"/>
                <a:ea typeface="Meiryo UI" panose="020B0604030504040204" pitchFamily="50" charset="-128"/>
              </a:defRPr>
            </a:lvl1pPr>
          </a:lstStyle>
          <a:p>
            <a:fld id="{EECA54F6-A409-4052-BA8C-D33E3AF8AD29}" type="datetime4">
              <a:rPr lang="ja-JP" altLang="en-US" smtClean="0"/>
              <a:pPr/>
              <a:t>2026年10月1日</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eiryo UI" panose="020B0604030504040204" pitchFamily="50" charset="-128"/>
                <a:ea typeface="Meiryo UI" panose="020B0604030504040204" pitchFamily="50" charset="-128"/>
              </a:defRPr>
            </a:lvl1pPr>
          </a:lstStyle>
          <a:p>
            <a:endParaRPr lang="ja-JP" altLang="en-US" dirty="0"/>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eiryo UI" panose="020B0604030504040204" pitchFamily="50" charset="-128"/>
                <a:ea typeface="Meiryo UI" panose="020B0604030504040204" pitchFamily="50" charset="-128"/>
              </a:defRPr>
            </a:lvl1pPr>
          </a:lstStyle>
          <a:p>
            <a:fld id="{893B0CF2-7F87-4E02-A248-870047730F99}" type="slidenum">
              <a:rPr lang="en-US" altLang="ja-JP" smtClean="0"/>
              <a:pPr/>
              <a:t>‹#›</a:t>
            </a:fld>
            <a:endParaRPr lang="ja-JP" altLang="en-US" dirty="0"/>
          </a:p>
        </p:txBody>
      </p:sp>
    </p:spTree>
    <p:extLst>
      <p:ext uri="{BB962C8B-B14F-4D97-AF65-F5344CB8AC3E}">
        <p14:creationId xmlns:p14="http://schemas.microsoft.com/office/powerpoint/2010/main" val="3614981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r>
              <a:rPr lang="ja-JP" altLang="ja-JP" sz="1200" b="0" dirty="0"/>
              <a:t>児童におけるダークパターン知識の行動活用に関する研究</a:t>
            </a:r>
            <a:r>
              <a:rPr lang="ja-JP" altLang="en-US" sz="1200" b="0" dirty="0"/>
              <a:t>、</a:t>
            </a:r>
            <a:r>
              <a:rPr lang="ja-JP" altLang="ja-JP" sz="1000" b="0" dirty="0"/>
              <a:t>シミュレーション環境を用いた実践的評価</a:t>
            </a:r>
            <a:r>
              <a:rPr lang="ja-JP" altLang="en-US" sz="1000" b="0" dirty="0"/>
              <a:t>。</a:t>
            </a:r>
            <a:endParaRPr lang="en-US" altLang="ja-JP" sz="10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t>M1</a:t>
            </a:r>
            <a:r>
              <a:rPr lang="ja-JP" altLang="en-US" sz="1200" dirty="0"/>
              <a:t>の西村和真が発表します。</a:t>
            </a:r>
            <a:br>
              <a:rPr lang="en-US" altLang="ja-JP" sz="1200" dirty="0"/>
            </a:br>
            <a:r>
              <a:rPr lang="ja-JP" altLang="en-US" sz="1200" dirty="0"/>
              <a:t>よろしくお願いいたします。</a:t>
            </a:r>
            <a:endParaRPr lang="en-US" altLang="zh-TW" sz="1200" dirty="0"/>
          </a:p>
        </p:txBody>
      </p:sp>
      <p:sp>
        <p:nvSpPr>
          <p:cNvPr id="4" name="スライド番号プレースホルダー 3"/>
          <p:cNvSpPr>
            <a:spLocks noGrp="1"/>
          </p:cNvSpPr>
          <p:nvPr>
            <p:ph type="sldNum" sz="quarter" idx="10"/>
          </p:nvPr>
        </p:nvSpPr>
        <p:spPr/>
        <p:txBody>
          <a:bodyPr rtlCol="0"/>
          <a:lstStyle/>
          <a:p>
            <a:pPr rtl="0"/>
            <a:fld id="{893B0CF2-7F87-4E02-A248-870047730F99}" type="slidenum">
              <a:rPr lang="en-US" altLang="ja-JP" smtClean="0">
                <a:latin typeface="Meiryo UI" panose="020B0604030504040204" pitchFamily="50" charset="-128"/>
                <a:ea typeface="Meiryo UI" panose="020B0604030504040204" pitchFamily="50" charset="-128"/>
              </a:rPr>
              <a:t>1</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9513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研究背景です。</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ダークパターンとは，ユーザを意図しない意思決定へ誘導するために設計された操作的なUIやUX</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デザイン</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のことで</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さまざまなオンラインサービスで広く利用されています。例えば，知らないうちにサブスクリプションに登録されてしまったり</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、いらないのに</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不要な商品を購入してしまったり，意図せず個人情報を入力してしまうといったケースがあります。こうした背景の中で，消費者庁掲載資料では，ダークパターンによる国内の推定被害額は年間で約1兆円から1兆6000億円程度と試算されており，無視できない規模の問題となっています。</a:t>
            </a:r>
          </a:p>
          <a:p>
            <a:br>
              <a:rPr kumimoji="1" lang="en-US" altLang="ja-JP" dirty="0">
                <a:latin typeface="Meiryo UI" panose="020B0604030504040204" pitchFamily="50" charset="-128"/>
                <a:ea typeface="Meiryo UI" panose="020B0604030504040204" pitchFamily="50" charset="-128"/>
              </a:rPr>
            </a:br>
            <a:br>
              <a:rPr kumimoji="1" lang="en-US" altLang="ja-JP" dirty="0">
                <a:latin typeface="Meiryo UI" panose="020B0604030504040204" pitchFamily="50" charset="-128"/>
                <a:ea typeface="Meiryo UI" panose="020B0604030504040204" pitchFamily="50" charset="-128"/>
              </a:rPr>
            </a:br>
            <a:r>
              <a:rPr kumimoji="1" lang="en-US" altLang="ja-JP" dirty="0">
                <a:latin typeface="Meiryo UI" panose="020B0604030504040204" pitchFamily="50" charset="-128"/>
                <a:ea typeface="Meiryo UI" panose="020B0604030504040204" pitchFamily="50" charset="-128"/>
              </a:rPr>
              <a:t>memo</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 [1] FTC, </a:t>
            </a:r>
            <a:r>
              <a:rPr lang="ja-JP" altLang="ja-JP" sz="1200" b="0" i="1" kern="1200" dirty="0">
                <a:solidFill>
                  <a:schemeClr val="tx1"/>
                </a:solidFill>
                <a:effectLst/>
                <a:latin typeface="Meiryo UI" panose="020B0604030504040204" pitchFamily="50" charset="-128"/>
                <a:ea typeface="Meiryo UI" panose="020B0604030504040204" pitchFamily="50" charset="-128"/>
                <a:cs typeface="+mn-cs"/>
              </a:rPr>
              <a:t>Bringing Dark Patterns to Light</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 2022.</a:t>
            </a:r>
            <a:b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b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https://www.ftc.gov/reports/bringing-dark-patterns-light</a:t>
            </a:r>
          </a:p>
          <a:p>
            <a:br>
              <a:rPr kumimoji="1" lang="en-US" altLang="ja-JP" dirty="0">
                <a:latin typeface="Meiryo UI" panose="020B0604030504040204" pitchFamily="50" charset="-128"/>
                <a:ea typeface="Meiryo UI" panose="020B0604030504040204" pitchFamily="50" charset="-128"/>
              </a:rPr>
            </a:br>
            <a:r>
              <a:rPr kumimoji="1" lang="en-US" altLang="ja-JP" dirty="0">
                <a:latin typeface="Meiryo UI" panose="020B0604030504040204" pitchFamily="50" charset="-128"/>
                <a:ea typeface="Meiryo UI" panose="020B0604030504040204" pitchFamily="50" charset="-128"/>
              </a:rPr>
              <a:t>[2] </a:t>
            </a:r>
            <a:r>
              <a:rPr lang="ja-JP" altLang="ja-JP" dirty="0"/>
              <a:t>デジタル時代におけるより良い消費生活を支える信頼の構築に係る官民共創ラウンドテーブル 第1回</a:t>
            </a:r>
            <a:br>
              <a:rPr kumimoji="1" lang="en-US" altLang="ja-JP" dirty="0">
                <a:latin typeface="Meiryo UI" panose="020B0604030504040204" pitchFamily="50" charset="-128"/>
                <a:ea typeface="Meiryo UI" panose="020B0604030504040204" pitchFamily="50" charset="-128"/>
              </a:rPr>
            </a:br>
            <a:r>
              <a:rPr kumimoji="1" lang="en-US" altLang="ja-JP" dirty="0">
                <a:latin typeface="Meiryo UI" panose="020B0604030504040204" pitchFamily="50" charset="-128"/>
                <a:ea typeface="Meiryo UI" panose="020B0604030504040204" pitchFamily="50" charset="-128"/>
              </a:rPr>
              <a:t>https://www.caa.go.jp/policies/future/ppi/assets/caa_futurer101_250129_1.pdf</a:t>
            </a:r>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2</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98244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EBEDD-CFF0-D923-E18E-FDA1729882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3EB5E7-085F-6976-1CBC-4AA7A444965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72A947-40DC-0A4B-7E97-F918E2D4E8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ダークパターンの対策として，広告ブロックやブラウザ拡張などの技術的手法が存在します。Mathur</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a:t>
            </a:r>
            <a:r>
              <a:rPr lang="ja-JP" altLang="ja-JP" sz="1200" b="1" u="none" strike="noStrike" kern="1200" dirty="0">
                <a:solidFill>
                  <a:schemeClr val="tx1"/>
                </a:solidFill>
                <a:effectLst/>
                <a:latin typeface="Meiryo UI" panose="020B0604030504040204" pitchFamily="50" charset="-128"/>
                <a:ea typeface="Meiryo UI" panose="020B0604030504040204" pitchFamily="50" charset="-128"/>
                <a:cs typeface="+mn-cs"/>
              </a:rPr>
              <a:t>マートゥル</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らは，自動検知手法を用いて約11,000のショッピングサイトを分析し， 約1,800件のダークパターンを検出</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しました。また</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この研究から，ダークパターンは多様であり</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文脈やデザインに強く依存することが示されており， 自動検知によってすべてを正確に識別することは難しいとされています。</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そのため</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検知技術とのいたちごっこが今後も続くと考えられます。</a:t>
            </a:r>
            <a:br>
              <a:rPr lang="en-US" altLang="ja-JP" dirty="0"/>
            </a:br>
            <a:r>
              <a:rPr lang="ja-JP" altLang="en-US" dirty="0"/>
              <a:t>また</a:t>
            </a:r>
            <a:r>
              <a:rPr lang="ja-JP" altLang="ja-JP" dirty="0"/>
              <a:t>Leonら（2012）は，Opt-in型の保護手法</a:t>
            </a:r>
            <a:r>
              <a:rPr lang="ja-JP" altLang="en-US" dirty="0"/>
              <a:t>（ユーザ自身が導入し設定すること）</a:t>
            </a:r>
            <a:r>
              <a:rPr lang="ja-JP" altLang="ja-JP" dirty="0"/>
              <a:t>には困難さがあることを指摘し</a:t>
            </a:r>
            <a:r>
              <a:rPr lang="ja-JP" altLang="en-US" dirty="0"/>
              <a:t>ています。</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ダークパターン対策の拡張機能</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の研究は多くされていますが、</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ユーザが入れなければそもそも機能</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しません。</a:t>
            </a:r>
            <a:r>
              <a:rPr lang="ja-JP" altLang="en-US" dirty="0"/>
              <a:t>つまり利用者自身がダークパターンを認識し回避する能力を育成することが重要です。</a:t>
            </a:r>
            <a:br>
              <a:rPr lang="en-US" altLang="ja-JP" dirty="0"/>
            </a:br>
            <a:br>
              <a:rPr lang="en-US" altLang="ja-JP" dirty="0"/>
            </a:br>
            <a:r>
              <a:rPr lang="en-US" altLang="ja-JP" dirty="0"/>
              <a:t>memo.txt</a:t>
            </a:r>
            <a:br>
              <a:rPr lang="en-US" altLang="ja-JP" dirty="0"/>
            </a:br>
            <a:r>
              <a:rPr lang="en-US" altLang="ja-JP" dirty="0"/>
              <a:t>[3] A. Mathur, G. Acar, M. J. Friedman, E. Lucherini, J. Mayer, M. Chetty, and A. Narayanan,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“Dark Patterns at Scale: Findings from a Crawl of 11K Shopping Websites.”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Proceedings of the ACM on Human-Computer Interaction (PACM HCI), Vol. 3, CSCW, Article 81, pp. 1–32, 2019.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URL: :https://dl.acm.org/</a:t>
            </a:r>
            <a:r>
              <a:rPr lang="en-US" altLang="ja-JP" dirty="0" err="1"/>
              <a:t>doi</a:t>
            </a:r>
            <a:r>
              <a:rPr lang="en-US" altLang="ja-JP" dirty="0"/>
              <a:t>/</a:t>
            </a:r>
            <a:r>
              <a:rPr lang="en-US" altLang="ja-JP" dirty="0" err="1"/>
              <a:t>epdf</a:t>
            </a:r>
            <a:r>
              <a:rPr lang="en-US" altLang="ja-JP" dirty="0"/>
              <a:t>/10.1145/3359183</a:t>
            </a:r>
            <a:endParaRPr kumimoji="1" lang="en-US" altLang="ja-JP"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E4E08EE3-A90F-3FDF-6ECE-61EAF696D1B5}"/>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3</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73551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A8CBB-882B-7BE2-075D-221A217B3F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C4D9BA-0450-EA45-D60B-E4CE562ABCB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BC5E22E-8B07-2523-1826-AC9E4CB8B3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個</a:t>
            </a:r>
            <a:br>
              <a:rPr lang="en-US" altLang="ja-JP" sz="1200" b="0" i="0" kern="1200" dirty="0">
                <a:solidFill>
                  <a:schemeClr val="tx1"/>
                </a:solidFill>
                <a:effectLst/>
                <a:latin typeface="Meiryo UI" panose="020B0604030504040204" pitchFamily="50" charset="-128"/>
                <a:ea typeface="Meiryo UI" panose="020B0604030504040204" pitchFamily="50" charset="-128"/>
                <a:cs typeface="+mn-cs"/>
              </a:rPr>
            </a:b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Oliveira（2026）</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ら</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は，子どもを前提とした対策が，より広いデジタル脆弱性への対応につながることを指摘しています。</a:t>
            </a:r>
            <a:b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b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そのため，本研究では児童を対象としてダークパターンへの対処能力を育成することで，結果として利用者全体の対処能力の向上につながると考えています。</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Meiryo UI" panose="020B0604030504040204" pitchFamily="50" charset="-128"/>
                <a:ea typeface="Meiryo UI" panose="020B0604030504040204" pitchFamily="50" charset="-128"/>
              </a:rPr>
              <a:t>[5] </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https://opo.iisj.net/index.php/osls/article/view/2351</a:t>
            </a:r>
            <a:endParaRPr kumimoji="1" lang="en-US" altLang="ja-JP"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88B5FB94-E2FC-DB21-0EE3-16A5074065C8}"/>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4</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55567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4D2E-96FF-3D7A-54AA-0E315CC46DF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E0EE3F-0A72-A717-3CC7-DEE3347E80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137E04C-B01A-2656-5797-21AE7E8722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子供へのダークパターン教育の先行研究として、</a:t>
            </a:r>
            <a:r>
              <a:rPr lang="ja-JP" altLang="ja-JP" dirty="0"/>
              <a:t>2025年のKhanらの研究では、まず147名の児童を対象に、ダークパターンのシナリオ提示と短い講義を行い、その前後での行動変化を評価しました。そして、その結果を踏まえて学校の授業で</a:t>
            </a:r>
            <a:r>
              <a:rPr lang="ja-JP" altLang="en-US" dirty="0"/>
              <a:t>使用する</a:t>
            </a:r>
            <a:r>
              <a:rPr lang="ja-JP" altLang="ja-JP" dirty="0"/>
              <a:t>Webアプリ『Mind the Dark』を開発し、さらに36名の児童を対象に評価を行っています。研究の結果として、講義の直後には、同一のシナリオにおいて課金行動が減少し、回避行動が増加するなど、児童の理解向上が確認されました。開発されたWebアプリについ</a:t>
            </a:r>
            <a:r>
              <a:rPr lang="ja-JP" altLang="en-US" dirty="0"/>
              <a:t>は、</a:t>
            </a:r>
            <a:r>
              <a:rPr lang="ja-JP" altLang="ja-JP" dirty="0"/>
              <a:t>観察やインタビューを通じて、児童の</a:t>
            </a:r>
            <a:r>
              <a:rPr lang="ja-JP" altLang="en-US" dirty="0"/>
              <a:t>ダークパターン</a:t>
            </a:r>
            <a:r>
              <a:rPr lang="ja-JP" altLang="ja-JP" dirty="0"/>
              <a:t>理解促進や興味、参加意欲の向上が見られたと報告されています。</a:t>
            </a:r>
            <a:r>
              <a:rPr lang="ja-JP" altLang="en-US" dirty="0"/>
              <a:t>しかし、</a:t>
            </a:r>
            <a:r>
              <a:rPr lang="ja-JP" altLang="ja-JP" dirty="0"/>
              <a:t>評価が講義直後の限定的なシナリオテストや、観察・インタビューといった主観的な手法に留まって</a:t>
            </a:r>
            <a:r>
              <a:rPr lang="ja-JP" altLang="en-US" dirty="0"/>
              <a:t>おり、また実際のＷｅｂ環境での検証がなく、行動としての活用、つまり内面化は未検証です。</a:t>
            </a:r>
            <a:endParaRPr kumimoji="1" lang="en-US" altLang="ja-JP"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4A108347-E342-AD96-50E8-2D8BB8621E20}"/>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5</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21213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2EC3C-04C1-BE69-5F71-9E86886A66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1F0AAD-D5A9-3E5C-0AB2-30E9335D8CB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76735A3-2247-28BB-308C-E56CF74C33F1}"/>
              </a:ext>
            </a:extLst>
          </p:cNvPr>
          <p:cNvSpPr>
            <a:spLocks noGrp="1"/>
          </p:cNvSpPr>
          <p:nvPr>
            <p:ph type="body" idx="1"/>
          </p:nvPr>
        </p:nvSpPr>
        <p:spPr/>
        <p:txBody>
          <a:bodyPr/>
          <a:lstStyle/>
          <a:p>
            <a:pPr fontAlgn="t"/>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そこで本研究では，児童がダークパターンに関する知識を，実際の意思決定場面で活用できるか，つまり内面化されているかを，現実に近いシミュレーション環境上での行動として評価できる「実践的評価環境」の構築を目的とします。既存研究では，シナリオ評価において講義前後の同一シナリオに対する選択結果，例えば押すか押さないかといった結果を指標として評価しています。また，アプリ評価においては，観察やインタビューを中心とした評価が行われています。そのため，知識が実際の行動として活用されているか，つまり回避行動として使えているかまでは判断できていません。</a:t>
            </a:r>
          </a:p>
          <a:p>
            <a:pPr fontAlgn="t"/>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そこで本研究では，その知識が実際に行動として活用されるかどうかに着目します。</a:t>
            </a:r>
          </a:p>
        </p:txBody>
      </p:sp>
      <p:sp>
        <p:nvSpPr>
          <p:cNvPr id="4" name="スライド番号プレースホルダー 3">
            <a:extLst>
              <a:ext uri="{FF2B5EF4-FFF2-40B4-BE49-F238E27FC236}">
                <a16:creationId xmlns:a16="http://schemas.microsoft.com/office/drawing/2014/main" id="{C33650C4-887F-5751-A30F-0E965FD655BF}"/>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6</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80722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F1AAE-0FA9-A810-BE94-3AFF925601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AD93E1-99A8-2213-03FC-D298739457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3998DA8-FA2A-BE34-FA07-5B68ED58041F}"/>
              </a:ext>
            </a:extLst>
          </p:cNvPr>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研究手法として、</a:t>
            </a:r>
            <a:r>
              <a:rPr lang="ja-JP" altLang="ja-JP" dirty="0"/>
              <a:t>ダークパターン教育」と「実践的行動評価」をフェーズ分けし、児童の警戒意識と油断状態の双方からダークパターンへの反応を測定</a:t>
            </a:r>
            <a:r>
              <a:rPr lang="ja-JP" altLang="en-US" dirty="0"/>
              <a:t>します。手順としましてはまず</a:t>
            </a:r>
            <a:r>
              <a:rPr lang="ja-JP" altLang="ja-JP" dirty="0"/>
              <a:t>模擬のWeb環境のなかで、</a:t>
            </a:r>
            <a:r>
              <a:rPr lang="ja-JP" altLang="en-US" dirty="0"/>
              <a:t>説明後</a:t>
            </a:r>
            <a:r>
              <a:rPr lang="ja-JP" altLang="ja-JP" dirty="0"/>
              <a:t>児童が能動的にダークパターンを探索・識別</a:t>
            </a:r>
            <a:r>
              <a:rPr lang="ja-JP" altLang="en-US" dirty="0"/>
              <a:t>させます。探索終了後、その</a:t>
            </a:r>
            <a:r>
              <a:rPr lang="en-US" altLang="ja-JP" dirty="0"/>
              <a:t>UI</a:t>
            </a:r>
            <a:r>
              <a:rPr lang="ja-JP" altLang="en-US" dirty="0"/>
              <a:t>がユーザをどのように意図決定へ誘導するかその仕組みを解説し、知識を補強します。次にこの報酬獲得タスクにて、</a:t>
            </a:r>
            <a:r>
              <a:rPr lang="ja-JP" altLang="ja-JP" dirty="0"/>
              <a:t>教育の終了を伝えた直後に『学習報酬を受け取る・選ぶ』という、次のステップへ画面を遷移させます。これにより、ユーザが『テストされている』という警戒心を</a:t>
            </a:r>
            <a:r>
              <a:rPr lang="ja-JP" altLang="en-US" dirty="0"/>
              <a:t>弱め</a:t>
            </a:r>
            <a:r>
              <a:rPr lang="ja-JP" altLang="ja-JP" dirty="0"/>
              <a:t>、かつ報酬獲得という欲望が喚起された状態を作ります。この油断が生じている意思決定の瞬間に、あえて報酬画面の中にダークパターンを仕掛けます。</a:t>
            </a:r>
            <a:endParaRPr lang="ja-JP" altLang="ja-JP" sz="1200" b="0" i="0" kern="1200" dirty="0">
              <a:solidFill>
                <a:schemeClr val="tx1"/>
              </a:solidFill>
              <a:effectLst/>
              <a:latin typeface="Meiryo UI" panose="020B0604030504040204" pitchFamily="50" charset="-128"/>
              <a:ea typeface="Meiryo UI" panose="020B0604030504040204" pitchFamily="50" charset="-128"/>
              <a:cs typeface="+mn-cs"/>
            </a:endParaRPr>
          </a:p>
        </p:txBody>
      </p:sp>
      <p:sp>
        <p:nvSpPr>
          <p:cNvPr id="4" name="スライド番号プレースホルダー 3">
            <a:extLst>
              <a:ext uri="{FF2B5EF4-FFF2-40B4-BE49-F238E27FC236}">
                <a16:creationId xmlns:a16="http://schemas.microsoft.com/office/drawing/2014/main" id="{A43D381A-07A3-6153-DCE1-90CC06C8FCB6}"/>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7</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151790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00C69-C1DE-F972-83BD-E41C7BBB501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8CFFEA2-420D-EC4F-BC4F-06CA7939322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580822-AF77-8D01-319C-57D5C4A5ACD9}"/>
              </a:ext>
            </a:extLst>
          </p:cNvPr>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現在実装中の画面です。ダークパターン教育フェーズで使用します。仕込むダークパターンについては現在検討中ですが、最初からオプションにチェックが入っていたり、今は分かりやすくなっていますが、下にグレーの注意書きがあったりといったことを仕込んでいます。</a:t>
            </a:r>
            <a:endParaRPr lang="ja-JP" altLang="ja-JP" sz="1200" b="0" i="0" kern="1200" dirty="0">
              <a:solidFill>
                <a:schemeClr val="tx1"/>
              </a:solidFill>
              <a:effectLst/>
              <a:latin typeface="Meiryo UI" panose="020B0604030504040204" pitchFamily="50" charset="-128"/>
              <a:ea typeface="Meiryo UI" panose="020B0604030504040204" pitchFamily="50" charset="-128"/>
              <a:cs typeface="+mn-cs"/>
            </a:endParaRPr>
          </a:p>
        </p:txBody>
      </p:sp>
      <p:sp>
        <p:nvSpPr>
          <p:cNvPr id="4" name="スライド番号プレースホルダー 3">
            <a:extLst>
              <a:ext uri="{FF2B5EF4-FFF2-40B4-BE49-F238E27FC236}">
                <a16:creationId xmlns:a16="http://schemas.microsoft.com/office/drawing/2014/main" id="{0D533D4F-7FD6-793F-A474-91D928587EA0}"/>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8</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02562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AA28D-7F1D-9377-DCD4-01C2DC2BB9B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8B38035-E44C-5FF9-7A71-CCCEA9840D1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2DE556D-C2DE-2B47-E15A-49E4571B0B9B}"/>
              </a:ext>
            </a:extLst>
          </p:cNvPr>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評価においては，単に騙されたか回避できたかという結果の正誤ではなく，</a:t>
            </a:r>
            <a:r>
              <a:rPr lang="ja-JP" altLang="ja-JP" dirty="0"/>
              <a:t>行動ログを用いて，ダークパターンに対する反応を評価</a:t>
            </a:r>
            <a:r>
              <a:rPr lang="ja-JP" altLang="en-US" dirty="0"/>
              <a:t>します。</a:t>
            </a:r>
            <a:br>
              <a:rPr lang="en-US" altLang="ja-JP" dirty="0"/>
            </a:br>
            <a:r>
              <a:rPr lang="ja-JP" altLang="en-US" dirty="0"/>
              <a:t>具体的には</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罠に直面した際のボタンを押すまでの反応時間や</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、画面での視線の動きのアイトラッキング、マウスの動きである</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確認・離脱といった操作のプロセスを行動ログとして測定します。 これにより最終的な選択だけでなく</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どのような判断過程を経て行動に至ったのかを評価することで知識が実際の行動として活用されているかを分析します。</a:t>
            </a:r>
          </a:p>
        </p:txBody>
      </p:sp>
      <p:sp>
        <p:nvSpPr>
          <p:cNvPr id="4" name="スライド番号プレースホルダー 3">
            <a:extLst>
              <a:ext uri="{FF2B5EF4-FFF2-40B4-BE49-F238E27FC236}">
                <a16:creationId xmlns:a16="http://schemas.microsoft.com/office/drawing/2014/main" id="{ACC984B7-04DD-B2AF-225C-23551AAEBDAF}"/>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9</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573593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D8A93-7D69-3583-3F5B-9C16DB0CFC4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45D0A08-DB0A-FFD0-D4F9-95EEFFA042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A45CD58-F8A6-7325-F975-0EBA0F514D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続いて、本研究の評価を行うための具体的な実験方法について説明します。今回の実験は、10月上旬に開催される『四街道こどもの街』というイベント</a:t>
            </a:r>
            <a:r>
              <a:rPr lang="ja-JP" altLang="en-US" dirty="0"/>
              <a:t>にて</a:t>
            </a:r>
            <a:r>
              <a:rPr lang="ja-JP" altLang="ja-JP" dirty="0"/>
              <a:t>検証を実施します。会場内には『ネットパトロール屋さん』というブースを出店し、子どもたちに体験型ワークショップに参加してもらいます。 子どもたちの役割は『ネットパトロールの隊員』です。</a:t>
            </a:r>
            <a:r>
              <a:rPr lang="en-US" altLang="ja-JP" dirty="0"/>
              <a:t>PC</a:t>
            </a:r>
            <a:r>
              <a:rPr lang="ja-JP" altLang="ja-JP" dirty="0"/>
              <a:t>上の模擬Webサイトを見ながら、ユーザーを騙してお金を使わせようとする、悪意のあるUI（ダークパターン）を見つけ出すミッションに挑んでもらいます。対象年齢は、インターネットの利用が本格化し始める8歳から12歳の児童を想定しています。</a:t>
            </a:r>
            <a:br>
              <a:rPr lang="en-US" altLang="ja-JP" dirty="0"/>
            </a:b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8歳ごろは検索などの利用が増え自分でインターネットを使い始める一方で，まだ自己コントロールが十分ではなく，依存などのリスクが高まりやすい時期です。 一方で12歳ごろになると，広告の意図を読み取るといった 批判的な見方が身についてきます。 このように，この年代は能力の発達とリスクが重なる重要な時期であり， 実践的な教育の対象として適していると考えられます。</a:t>
            </a:r>
            <a:r>
              <a:rPr lang="ja-JP" altLang="ja-JP" dirty="0"/>
              <a:t>この『パトロール屋さん』という遊びの文脈の中で、先ほど説明した『教育フェーズ』と、その後の『油断状態での報酬獲得タスク』を連続して行い、子どもたちが学んだ知識を実際の行動として活用できるかを検証します。」</a:t>
            </a:r>
          </a:p>
          <a:p>
            <a:pPr marL="0" marR="0" lvl="0" indent="0" algn="l" defTabSz="914400" rtl="0" eaLnBrk="1" fontAlgn="t" latinLnBrk="0" hangingPunct="1">
              <a:lnSpc>
                <a:spcPct val="100000"/>
              </a:lnSpc>
              <a:spcBef>
                <a:spcPts val="0"/>
              </a:spcBef>
              <a:spcAft>
                <a:spcPts val="0"/>
              </a:spcAft>
              <a:buClrTx/>
              <a:buSzTx/>
              <a:buFontTx/>
              <a:buNone/>
              <a:tabLst/>
              <a:defRPr/>
            </a:pPr>
            <a:endParaRPr lang="ja-JP" altLang="ja-JP" sz="1200" b="0" i="0" kern="1200" dirty="0">
              <a:solidFill>
                <a:schemeClr val="tx1"/>
              </a:solidFill>
              <a:effectLst/>
              <a:latin typeface="Meiryo UI" panose="020B0604030504040204" pitchFamily="50" charset="-128"/>
              <a:ea typeface="Meiryo UI" panose="020B0604030504040204" pitchFamily="50" charset="-128"/>
              <a:cs typeface="+mn-cs"/>
            </a:endParaRPr>
          </a:p>
        </p:txBody>
      </p:sp>
      <p:sp>
        <p:nvSpPr>
          <p:cNvPr id="4" name="スライド番号プレースホルダー 3">
            <a:extLst>
              <a:ext uri="{FF2B5EF4-FFF2-40B4-BE49-F238E27FC236}">
                <a16:creationId xmlns:a16="http://schemas.microsoft.com/office/drawing/2014/main" id="{7221A5F6-568E-3871-A9ED-69A959243D64}"/>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10</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46298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451C4-FC0E-101F-6121-F85367F914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AB4A464-C628-F748-6A72-71035E14F1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D9535D-8D27-7564-CA8A-1DA5B6F6CDD7}"/>
              </a:ext>
            </a:extLst>
          </p:cNvPr>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今後の予定です。</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9月末までにシミュレーション環境の実装と， ダークパターンの提示シナリオの設計を行います。</a:t>
            </a:r>
          </a:p>
          <a:p>
            <a:pPr marL="0" marR="0" lvl="0" indent="0" algn="l" defTabSz="914400" rtl="0" eaLnBrk="1" fontAlgn="t"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その後10月に</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四街道こどものまちで実験をおこない、行動ログを基にしたデータ分析を行います。その後間に合えばですが、１１月末に</a:t>
            </a:r>
            <a:r>
              <a:rPr lang="en-US" altLang="ja-JP" sz="1200" b="0" i="0" kern="1200" dirty="0">
                <a:solidFill>
                  <a:schemeClr val="tx1"/>
                </a:solidFill>
                <a:effectLst/>
                <a:latin typeface="Meiryo UI" panose="020B0604030504040204" pitchFamily="50" charset="-128"/>
                <a:ea typeface="Meiryo UI" panose="020B0604030504040204" pitchFamily="50" charset="-128"/>
                <a:cs typeface="+mn-cs"/>
              </a:rPr>
              <a:t>HCD</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学会にて発表を行う予定です。</a:t>
            </a:r>
            <a:endParaRPr lang="ja-JP" altLang="ja-JP" sz="1200" b="0" i="0" kern="1200" dirty="0">
              <a:solidFill>
                <a:schemeClr val="tx1"/>
              </a:solidFill>
              <a:effectLst/>
              <a:latin typeface="Meiryo UI" panose="020B0604030504040204" pitchFamily="50" charset="-128"/>
              <a:ea typeface="Meiryo UI" panose="020B0604030504040204" pitchFamily="50" charset="-128"/>
              <a:cs typeface="+mn-cs"/>
            </a:endParaRPr>
          </a:p>
        </p:txBody>
      </p:sp>
      <p:sp>
        <p:nvSpPr>
          <p:cNvPr id="4" name="スライド番号プレースホルダー 3">
            <a:extLst>
              <a:ext uri="{FF2B5EF4-FFF2-40B4-BE49-F238E27FC236}">
                <a16:creationId xmlns:a16="http://schemas.microsoft.com/office/drawing/2014/main" id="{E1404A89-5C95-65A1-4F73-0DCC62F519BC}"/>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11</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237032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7BA77-C8FE-B68D-5D3D-C8D94890BC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44C431A-64EC-CF3D-6B31-69E365C10D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55625A8-F5F3-0260-F2D1-F4A574F3E2B5}"/>
              </a:ext>
            </a:extLst>
          </p:cNvPr>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以下参考文献です。</a:t>
            </a:r>
            <a:endParaRPr lang="ja-JP" altLang="ja-JP" sz="1200" b="0" i="0" kern="1200" dirty="0">
              <a:solidFill>
                <a:schemeClr val="tx1"/>
              </a:solidFill>
              <a:effectLst/>
              <a:latin typeface="Meiryo UI" panose="020B0604030504040204" pitchFamily="50" charset="-128"/>
              <a:ea typeface="Meiryo UI" panose="020B0604030504040204" pitchFamily="50" charset="-128"/>
              <a:cs typeface="+mn-cs"/>
            </a:endParaRPr>
          </a:p>
        </p:txBody>
      </p:sp>
      <p:sp>
        <p:nvSpPr>
          <p:cNvPr id="4" name="スライド番号プレースホルダー 3">
            <a:extLst>
              <a:ext uri="{FF2B5EF4-FFF2-40B4-BE49-F238E27FC236}">
                <a16:creationId xmlns:a16="http://schemas.microsoft.com/office/drawing/2014/main" id="{31961153-9451-5431-77B5-C8B633492428}"/>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12</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540369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51FEA-7847-618E-50E2-CB43B1B51B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3B37BA5-3EAE-6746-F816-6CB8D2C4986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AD00B7-50DB-057A-726B-4B8395FCD68F}"/>
              </a:ext>
            </a:extLst>
          </p:cNvPr>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ご清聴</a:t>
            </a:r>
            <a:r>
              <a:rPr lang="ja-JP" altLang="en-US" sz="1200" b="0" i="0" kern="1200">
                <a:solidFill>
                  <a:schemeClr val="tx1"/>
                </a:solidFill>
                <a:effectLst/>
                <a:latin typeface="Meiryo UI" panose="020B0604030504040204" pitchFamily="50" charset="-128"/>
                <a:ea typeface="Meiryo UI" panose="020B0604030504040204" pitchFamily="50" charset="-128"/>
                <a:cs typeface="+mn-cs"/>
              </a:rPr>
              <a:t>ありがとうございました</a:t>
            </a:r>
            <a:endParaRPr lang="ja-JP" altLang="ja-JP" sz="1200" b="0" i="0" kern="1200" dirty="0">
              <a:solidFill>
                <a:schemeClr val="tx1"/>
              </a:solidFill>
              <a:effectLst/>
              <a:latin typeface="Meiryo UI" panose="020B0604030504040204" pitchFamily="50" charset="-128"/>
              <a:ea typeface="Meiryo UI" panose="020B0604030504040204" pitchFamily="50" charset="-128"/>
              <a:cs typeface="+mn-cs"/>
            </a:endParaRPr>
          </a:p>
        </p:txBody>
      </p:sp>
      <p:sp>
        <p:nvSpPr>
          <p:cNvPr id="4" name="スライド番号プレースホルダー 3">
            <a:extLst>
              <a:ext uri="{FF2B5EF4-FFF2-40B4-BE49-F238E27FC236}">
                <a16:creationId xmlns:a16="http://schemas.microsoft.com/office/drawing/2014/main" id="{18AB1837-686A-ED59-0080-DAB0DE8AC0F1}"/>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13</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5350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Ref idx="1001">
        <a:schemeClr val="bg1"/>
      </p:bgRef>
    </p:bg>
    <p:spTree>
      <p:nvGrpSpPr>
        <p:cNvPr id="1" name=""/>
        <p:cNvGrpSpPr/>
        <p:nvPr/>
      </p:nvGrpSpPr>
      <p:grpSpPr>
        <a:xfrm>
          <a:off x="0" y="0"/>
          <a:ext cx="0" cy="0"/>
          <a:chOff x="0" y="0"/>
          <a:chExt cx="0" cy="0"/>
        </a:xfrm>
      </p:grpSpPr>
      <p:grpSp>
        <p:nvGrpSpPr>
          <p:cNvPr id="10" name="グループ 9"/>
          <p:cNvGrpSpPr/>
          <p:nvPr/>
        </p:nvGrpSpPr>
        <p:grpSpPr>
          <a:xfrm>
            <a:off x="0" y="6208894"/>
            <a:ext cx="12192000" cy="649106"/>
            <a:chOff x="0" y="6208894"/>
            <a:chExt cx="12192000" cy="649106"/>
          </a:xfrm>
        </p:grpSpPr>
        <p:sp>
          <p:nvSpPr>
            <p:cNvPr id="2" name="長方形 1"/>
            <p:cNvSpPr/>
            <p:nvPr/>
          </p:nvSpPr>
          <p:spPr>
            <a:xfrm>
              <a:off x="3048" y="6220178"/>
              <a:ext cx="12188952" cy="637822"/>
            </a:xfrm>
            <a:prstGeom prst="rect">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rtl="0"/>
              <a:endParaRPr lang="ja-JP" altLang="en-US" noProof="0" dirty="0"/>
            </a:p>
          </p:txBody>
        </p:sp>
        <p:cxnSp>
          <p:nvCxnSpPr>
            <p:cNvPr id="7" name="直線​​コネクタ 6"/>
            <p:cNvCxnSpPr/>
            <p:nvPr/>
          </p:nvCxnSpPr>
          <p:spPr>
            <a:xfrm>
              <a:off x="0" y="6208894"/>
              <a:ext cx="121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5" name="直線​​コネクタ 4"/>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sp>
        <p:nvSpPr>
          <p:cNvPr id="9" name="タイトル 8"/>
          <p:cNvSpPr>
            <a:spLocks noGrp="1"/>
          </p:cNvSpPr>
          <p:nvPr>
            <p:ph type="ctrTitle"/>
          </p:nvPr>
        </p:nvSpPr>
        <p:spPr>
          <a:xfrm>
            <a:off x="711200" y="1371600"/>
            <a:ext cx="10468864" cy="1828800"/>
          </a:xfrm>
          <a:ln>
            <a:noFill/>
          </a:ln>
        </p:spPr>
        <p:txBody>
          <a:bodyPr vert="horz" tIns="0" rIns="18288" bIns="0" rtlCol="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a:t>マスター タイトルの書式設定</a:t>
            </a:r>
            <a:endParaRPr kumimoji="0" lang="ja-JP" altLang="en-US" noProof="0" dirty="0"/>
          </a:p>
        </p:txBody>
      </p:sp>
      <p:sp>
        <p:nvSpPr>
          <p:cNvPr id="17" name="サブタイトル 16"/>
          <p:cNvSpPr>
            <a:spLocks noGrp="1"/>
          </p:cNvSpPr>
          <p:nvPr>
            <p:ph type="subTitle" idx="1"/>
          </p:nvPr>
        </p:nvSpPr>
        <p:spPr>
          <a:xfrm>
            <a:off x="711200" y="3228536"/>
            <a:ext cx="10472928" cy="1752600"/>
          </a:xfrm>
        </p:spPr>
        <p:txBody>
          <a:bodyPr lIns="0" rIns="18288" rtlCol="0"/>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ja-JP" altLang="en-US" noProof="0"/>
              <a:t>マスター サブタイトルの書式設定</a:t>
            </a:r>
            <a:endParaRPr kumimoji="0" lang="ja-JP" altLang="en-US" noProof="0" dirty="0"/>
          </a:p>
        </p:txBody>
      </p:sp>
      <p:sp>
        <p:nvSpPr>
          <p:cNvPr id="30" name="日付プレースホルダー 29"/>
          <p:cNvSpPr>
            <a:spLocks noGrp="1"/>
          </p:cNvSpPr>
          <p:nvPr>
            <p:ph type="dt" sz="half" idx="10"/>
          </p:nvPr>
        </p:nvSpPr>
        <p:spPr/>
        <p:txBody>
          <a:bodyPr rtlCol="0"/>
          <a:lstStyle/>
          <a:p>
            <a:pPr rtl="0"/>
            <a:fld id="{E7D9F5B4-D2B9-4671-9B63-0110E6386A4E}" type="datetime4">
              <a:rPr lang="ja-JP" altLang="en-US" smtClean="0"/>
              <a:t>2026年10月1日</a:t>
            </a:fld>
            <a:endParaRPr lang="en-US" dirty="0"/>
          </a:p>
        </p:txBody>
      </p:sp>
      <p:sp>
        <p:nvSpPr>
          <p:cNvPr id="19" name="フッター プレースホルダー 18"/>
          <p:cNvSpPr>
            <a:spLocks noGrp="1"/>
          </p:cNvSpPr>
          <p:nvPr>
            <p:ph type="ftr" sz="quarter" idx="11"/>
          </p:nvPr>
        </p:nvSpPr>
        <p:spPr/>
        <p:txBody>
          <a:bodyPr rtlCol="0"/>
          <a:lstStyle/>
          <a:p>
            <a:pPr rtl="0"/>
            <a:r>
              <a:rPr lang="ja-JP" altLang="en-US" noProof="0" dirty="0"/>
              <a:t>フッターを追加</a:t>
            </a:r>
          </a:p>
        </p:txBody>
      </p:sp>
      <p:sp>
        <p:nvSpPr>
          <p:cNvPr id="27" name="スライド番号プレースホルダー 26"/>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2980820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rtlCol="0"/>
          <a:lstStyle/>
          <a:p>
            <a:pPr rtl="0"/>
            <a:r>
              <a:rPr lang="ja-JP" altLang="en-US" noProof="0"/>
              <a:t>マスター タイトルの書式設定</a:t>
            </a:r>
            <a:endParaRPr kumimoji="0" lang="ja-JP" altLang="en-US" noProof="0" dirty="0"/>
          </a:p>
        </p:txBody>
      </p:sp>
      <p:sp>
        <p:nvSpPr>
          <p:cNvPr id="3" name="コンテンツ プレースホルダー 2"/>
          <p:cNvSpPr>
            <a:spLocks noGrp="1"/>
          </p:cNvSpPr>
          <p:nvPr>
            <p:ph idx="1"/>
          </p:nvPr>
        </p:nvSpPr>
        <p:spPr/>
        <p:txBody>
          <a:bodyPr rtlCol="0"/>
          <a:lstStyle/>
          <a:p>
            <a:pPr lvl="0" rtl="0" eaLnBrk="1" latinLnBrk="0" hangingPunct="1"/>
            <a:r>
              <a:rPr lang="ja-JP" altLang="en-US" noProof="0"/>
              <a:t>マスター テキストの書式設定</a:t>
            </a:r>
          </a:p>
          <a:p>
            <a:pPr lvl="1" rtl="0" eaLnBrk="1" latinLnBrk="0" hangingPunct="1"/>
            <a:r>
              <a:rPr lang="ja-JP" altLang="en-US" noProof="0"/>
              <a:t>第 </a:t>
            </a:r>
            <a:r>
              <a:rPr lang="en-US" altLang="ja-JP" noProof="0"/>
              <a:t>2 </a:t>
            </a:r>
            <a:r>
              <a:rPr lang="ja-JP" altLang="en-US" noProof="0"/>
              <a:t>レベル</a:t>
            </a:r>
          </a:p>
          <a:p>
            <a:pPr lvl="2" rtl="0" eaLnBrk="1" latinLnBrk="0" hangingPunct="1"/>
            <a:r>
              <a:rPr lang="ja-JP" altLang="en-US" noProof="0"/>
              <a:t>第 </a:t>
            </a:r>
            <a:r>
              <a:rPr lang="en-US" altLang="ja-JP" noProof="0"/>
              <a:t>3 </a:t>
            </a:r>
            <a:r>
              <a:rPr lang="ja-JP" altLang="en-US" noProof="0"/>
              <a:t>レベル</a:t>
            </a:r>
          </a:p>
          <a:p>
            <a:pPr lvl="3" rtl="0" eaLnBrk="1" latinLnBrk="0" hangingPunct="1"/>
            <a:r>
              <a:rPr lang="ja-JP" altLang="en-US" noProof="0"/>
              <a:t>第 </a:t>
            </a:r>
            <a:r>
              <a:rPr lang="en-US" altLang="ja-JP" noProof="0"/>
              <a:t>4 </a:t>
            </a:r>
            <a:r>
              <a:rPr lang="ja-JP" altLang="en-US" noProof="0"/>
              <a:t>レベル</a:t>
            </a:r>
          </a:p>
          <a:p>
            <a:pPr lvl="4" rtl="0" eaLnBrk="1" latinLnBrk="0" hangingPunct="1"/>
            <a:r>
              <a:rPr lang="ja-JP" altLang="en-US" noProof="0"/>
              <a:t>第 </a:t>
            </a:r>
            <a:r>
              <a:rPr lang="en-US" altLang="ja-JP" noProof="0"/>
              <a:t>5 </a:t>
            </a:r>
            <a:r>
              <a:rPr lang="ja-JP" altLang="en-US" noProof="0"/>
              <a:t>レベル</a:t>
            </a:r>
            <a:endParaRPr kumimoji="0" lang="ja-JP" altLang="en-US" noProof="0" dirty="0"/>
          </a:p>
        </p:txBody>
      </p:sp>
      <p:sp>
        <p:nvSpPr>
          <p:cNvPr id="4" name="日付プレースホルダー 3"/>
          <p:cNvSpPr>
            <a:spLocks noGrp="1"/>
          </p:cNvSpPr>
          <p:nvPr>
            <p:ph type="dt" sz="half" idx="10"/>
          </p:nvPr>
        </p:nvSpPr>
        <p:spPr/>
        <p:txBody>
          <a:bodyPr rtlCol="0"/>
          <a:lstStyle/>
          <a:p>
            <a:pPr rtl="0"/>
            <a:fld id="{030C11D6-D226-45B1-8AA5-91C501F3B0E7}" type="datetime4">
              <a:rPr lang="ja-JP" altLang="en-US" smtClean="0"/>
              <a:t>2026年10月1日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1481682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 ヘッダー">
    <p:spTree>
      <p:nvGrpSpPr>
        <p:cNvPr id="1" name=""/>
        <p:cNvGrpSpPr/>
        <p:nvPr/>
      </p:nvGrpSpPr>
      <p:grpSpPr>
        <a:xfrm>
          <a:off x="0" y="0"/>
          <a:ext cx="0" cy="0"/>
          <a:chOff x="0" y="0"/>
          <a:chExt cx="0" cy="0"/>
        </a:xfrm>
      </p:grpSpPr>
      <p:sp>
        <p:nvSpPr>
          <p:cNvPr id="2" name="タイトル 1"/>
          <p:cNvSpPr>
            <a:spLocks noGrp="1"/>
          </p:cNvSpPr>
          <p:nvPr>
            <p:ph type="title"/>
          </p:nvPr>
        </p:nvSpPr>
        <p:spPr>
          <a:xfrm>
            <a:off x="707136" y="1316736"/>
            <a:ext cx="10363200" cy="1362456"/>
          </a:xfrm>
          <a:ln>
            <a:noFill/>
          </a:ln>
        </p:spPr>
        <p:txBody>
          <a:bodyPr vert="horz" tIns="0" bIns="0" rtlCol="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a:t>マスター タイトルの書式設定</a:t>
            </a:r>
            <a:endParaRPr kumimoji="0" lang="ja-JP" altLang="en-US" noProof="0" dirty="0"/>
          </a:p>
        </p:txBody>
      </p:sp>
      <p:sp>
        <p:nvSpPr>
          <p:cNvPr id="3" name="テキスト プレースホルダー 2"/>
          <p:cNvSpPr>
            <a:spLocks noGrp="1"/>
          </p:cNvSpPr>
          <p:nvPr>
            <p:ph type="body" idx="1"/>
          </p:nvPr>
        </p:nvSpPr>
        <p:spPr>
          <a:xfrm>
            <a:off x="707136" y="2704664"/>
            <a:ext cx="10363200" cy="1509712"/>
          </a:xfrm>
        </p:spPr>
        <p:txBody>
          <a:bodyPr lIns="45720" rIns="45720" rtlCol="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ja-JP" altLang="en-US" noProof="0"/>
              <a:t>マスター テキストの書式設定</a:t>
            </a:r>
          </a:p>
        </p:txBody>
      </p:sp>
      <p:sp>
        <p:nvSpPr>
          <p:cNvPr id="4" name="日付プレースホルダー 3"/>
          <p:cNvSpPr>
            <a:spLocks noGrp="1"/>
          </p:cNvSpPr>
          <p:nvPr>
            <p:ph type="dt" sz="half" idx="10"/>
          </p:nvPr>
        </p:nvSpPr>
        <p:spPr/>
        <p:txBody>
          <a:bodyPr rtlCol="0"/>
          <a:lstStyle/>
          <a:p>
            <a:pPr rtl="0"/>
            <a:fld id="{E5400AA1-06A4-444F-94EA-80BA16484187}" type="datetime4">
              <a:rPr lang="ja-JP" altLang="en-US" smtClean="0"/>
              <a:t>2026年10月1日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35319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段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704088"/>
            <a:ext cx="10972800" cy="1143000"/>
          </a:xfrm>
        </p:spPr>
        <p:txBody>
          <a:bodyPr rtlCol="0"/>
          <a:lstStyle/>
          <a:p>
            <a:pPr rtl="0"/>
            <a:r>
              <a:rPr lang="ja-JP" altLang="en-US" noProof="0"/>
              <a:t>マスター タイトルの書式設定</a:t>
            </a:r>
            <a:endParaRPr kumimoji="0" lang="ja-JP" altLang="en-US" noProof="0" dirty="0"/>
          </a:p>
        </p:txBody>
      </p:sp>
      <p:sp>
        <p:nvSpPr>
          <p:cNvPr id="3" name="コンテンツ プレースホルダー 2"/>
          <p:cNvSpPr>
            <a:spLocks noGrp="1"/>
          </p:cNvSpPr>
          <p:nvPr>
            <p:ph sz="half" idx="1"/>
          </p:nvPr>
        </p:nvSpPr>
        <p:spPr>
          <a:xfrm>
            <a:off x="609600" y="1920085"/>
            <a:ext cx="5384800" cy="4434840"/>
          </a:xfrm>
        </p:spPr>
        <p:txBody>
          <a:bodyPr rtlCol="0"/>
          <a:lstStyle>
            <a:lvl1pPr>
              <a:defRPr sz="2600"/>
            </a:lvl1pPr>
            <a:lvl2pPr>
              <a:defRPr sz="2400"/>
            </a:lvl2pPr>
            <a:lvl3pPr>
              <a:defRPr sz="2000"/>
            </a:lvl3pPr>
            <a:lvl4pPr>
              <a:defRPr sz="1800"/>
            </a:lvl4pPr>
            <a:lvl5pPr>
              <a:defRPr sz="1800"/>
            </a:lvl5pPr>
          </a:lstStyle>
          <a:p>
            <a:pPr lvl="0" rtl="0" eaLnBrk="1" latinLnBrk="0" hangingPunct="1"/>
            <a:r>
              <a:rPr lang="ja-JP" altLang="en-US" noProof="0"/>
              <a:t>マスター テキストの書式設定</a:t>
            </a:r>
          </a:p>
          <a:p>
            <a:pPr lvl="1" rtl="0" eaLnBrk="1" latinLnBrk="0" hangingPunct="1"/>
            <a:r>
              <a:rPr lang="ja-JP" altLang="en-US" noProof="0"/>
              <a:t>第 </a:t>
            </a:r>
            <a:r>
              <a:rPr lang="en-US" altLang="ja-JP" noProof="0"/>
              <a:t>2 </a:t>
            </a:r>
            <a:r>
              <a:rPr lang="ja-JP" altLang="en-US" noProof="0"/>
              <a:t>レベル</a:t>
            </a:r>
          </a:p>
          <a:p>
            <a:pPr lvl="2" rtl="0" eaLnBrk="1" latinLnBrk="0" hangingPunct="1"/>
            <a:r>
              <a:rPr lang="ja-JP" altLang="en-US" noProof="0"/>
              <a:t>第 </a:t>
            </a:r>
            <a:r>
              <a:rPr lang="en-US" altLang="ja-JP" noProof="0"/>
              <a:t>3 </a:t>
            </a:r>
            <a:r>
              <a:rPr lang="ja-JP" altLang="en-US" noProof="0"/>
              <a:t>レベル</a:t>
            </a:r>
          </a:p>
          <a:p>
            <a:pPr lvl="3" rtl="0" eaLnBrk="1" latinLnBrk="0" hangingPunct="1"/>
            <a:r>
              <a:rPr lang="ja-JP" altLang="en-US" noProof="0"/>
              <a:t>第 </a:t>
            </a:r>
            <a:r>
              <a:rPr lang="en-US" altLang="ja-JP" noProof="0"/>
              <a:t>4 </a:t>
            </a:r>
            <a:r>
              <a:rPr lang="ja-JP" altLang="en-US" noProof="0"/>
              <a:t>レベル</a:t>
            </a:r>
          </a:p>
          <a:p>
            <a:pPr lvl="4" rtl="0" eaLnBrk="1" latinLnBrk="0" hangingPunct="1"/>
            <a:r>
              <a:rPr lang="ja-JP" altLang="en-US" noProof="0"/>
              <a:t>第 </a:t>
            </a:r>
            <a:r>
              <a:rPr lang="en-US" altLang="ja-JP" noProof="0"/>
              <a:t>5 </a:t>
            </a:r>
            <a:r>
              <a:rPr lang="ja-JP" altLang="en-US" noProof="0"/>
              <a:t>レベル</a:t>
            </a:r>
            <a:endParaRPr kumimoji="0" lang="ja-JP" altLang="en-US" noProof="0" dirty="0"/>
          </a:p>
        </p:txBody>
      </p:sp>
      <p:sp>
        <p:nvSpPr>
          <p:cNvPr id="4" name="コンテンツ プレースホルダー 3"/>
          <p:cNvSpPr>
            <a:spLocks noGrp="1"/>
          </p:cNvSpPr>
          <p:nvPr>
            <p:ph sz="half" idx="2"/>
          </p:nvPr>
        </p:nvSpPr>
        <p:spPr>
          <a:xfrm>
            <a:off x="6197600" y="1920085"/>
            <a:ext cx="5384800" cy="4434840"/>
          </a:xfrm>
        </p:spPr>
        <p:txBody>
          <a:bodyPr rtlCol="0"/>
          <a:lstStyle>
            <a:lvl1pPr>
              <a:defRPr sz="2600"/>
            </a:lvl1pPr>
            <a:lvl2pPr>
              <a:defRPr sz="2400"/>
            </a:lvl2pPr>
            <a:lvl3pPr>
              <a:defRPr sz="2000"/>
            </a:lvl3pPr>
            <a:lvl4pPr>
              <a:defRPr sz="1800"/>
            </a:lvl4pPr>
            <a:lvl5pPr>
              <a:defRPr sz="1800"/>
            </a:lvl5pPr>
          </a:lstStyle>
          <a:p>
            <a:pPr lvl="0" rtl="0" eaLnBrk="1" latinLnBrk="0" hangingPunct="1"/>
            <a:r>
              <a:rPr lang="ja-JP" altLang="en-US" noProof="0"/>
              <a:t>マスター テキストの書式設定</a:t>
            </a:r>
          </a:p>
          <a:p>
            <a:pPr lvl="1" rtl="0" eaLnBrk="1" latinLnBrk="0" hangingPunct="1"/>
            <a:r>
              <a:rPr lang="ja-JP" altLang="en-US" noProof="0"/>
              <a:t>第 </a:t>
            </a:r>
            <a:r>
              <a:rPr lang="en-US" altLang="ja-JP" noProof="0"/>
              <a:t>2 </a:t>
            </a:r>
            <a:r>
              <a:rPr lang="ja-JP" altLang="en-US" noProof="0"/>
              <a:t>レベル</a:t>
            </a:r>
          </a:p>
          <a:p>
            <a:pPr lvl="2" rtl="0" eaLnBrk="1" latinLnBrk="0" hangingPunct="1"/>
            <a:r>
              <a:rPr lang="ja-JP" altLang="en-US" noProof="0"/>
              <a:t>第 </a:t>
            </a:r>
            <a:r>
              <a:rPr lang="en-US" altLang="ja-JP" noProof="0"/>
              <a:t>3 </a:t>
            </a:r>
            <a:r>
              <a:rPr lang="ja-JP" altLang="en-US" noProof="0"/>
              <a:t>レベル</a:t>
            </a:r>
          </a:p>
          <a:p>
            <a:pPr lvl="3" rtl="0" eaLnBrk="1" latinLnBrk="0" hangingPunct="1"/>
            <a:r>
              <a:rPr lang="ja-JP" altLang="en-US" noProof="0"/>
              <a:t>第 </a:t>
            </a:r>
            <a:r>
              <a:rPr lang="en-US" altLang="ja-JP" noProof="0"/>
              <a:t>4 </a:t>
            </a:r>
            <a:r>
              <a:rPr lang="ja-JP" altLang="en-US" noProof="0"/>
              <a:t>レベル</a:t>
            </a:r>
          </a:p>
          <a:p>
            <a:pPr lvl="4" rtl="0" eaLnBrk="1" latinLnBrk="0" hangingPunct="1"/>
            <a:r>
              <a:rPr lang="ja-JP" altLang="en-US" noProof="0"/>
              <a:t>第 </a:t>
            </a:r>
            <a:r>
              <a:rPr lang="en-US" altLang="ja-JP" noProof="0"/>
              <a:t>5 </a:t>
            </a:r>
            <a:r>
              <a:rPr lang="ja-JP" altLang="en-US" noProof="0"/>
              <a:t>レベル</a:t>
            </a:r>
            <a:endParaRPr kumimoji="0" lang="ja-JP" altLang="en-US" noProof="0" dirty="0"/>
          </a:p>
        </p:txBody>
      </p:sp>
      <p:sp>
        <p:nvSpPr>
          <p:cNvPr id="5" name="日付プレースホルダー 4"/>
          <p:cNvSpPr>
            <a:spLocks noGrp="1"/>
          </p:cNvSpPr>
          <p:nvPr>
            <p:ph type="dt" sz="half" idx="10"/>
          </p:nvPr>
        </p:nvSpPr>
        <p:spPr/>
        <p:txBody>
          <a:bodyPr rtlCol="0"/>
          <a:lstStyle/>
          <a:p>
            <a:pPr rtl="0"/>
            <a:fld id="{7538B790-6ACD-441F-B06D-4917F8B429D2}" type="datetime4">
              <a:rPr lang="ja-JP" altLang="en-US" smtClean="0"/>
              <a:t>2026年10月1日</a:t>
            </a:fld>
            <a:endParaRPr lang="en-US" dirty="0"/>
          </a:p>
        </p:txBody>
      </p:sp>
      <p:sp>
        <p:nvSpPr>
          <p:cNvPr id="6" name="フッター プレースホルダー 5"/>
          <p:cNvSpPr>
            <a:spLocks noGrp="1"/>
          </p:cNvSpPr>
          <p:nvPr>
            <p:ph type="ftr" sz="quarter" idx="11"/>
          </p:nvPr>
        </p:nvSpPr>
        <p:spPr/>
        <p:txBody>
          <a:bodyPr rtlCol="0"/>
          <a:lstStyle/>
          <a:p>
            <a:pPr rtl="0"/>
            <a:r>
              <a:rPr lang="ja-JP" altLang="en-US" noProof="0" dirty="0"/>
              <a:t>フッターを追加</a:t>
            </a:r>
          </a:p>
        </p:txBody>
      </p:sp>
      <p:sp>
        <p:nvSpPr>
          <p:cNvPr id="7" name="スライド番号プレースホルダー 6"/>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10901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704088"/>
            <a:ext cx="10972800" cy="1143000"/>
          </a:xfrm>
        </p:spPr>
        <p:txBody>
          <a:bodyPr tIns="45720" rtlCol="0" anchor="b"/>
          <a:lstStyle>
            <a:lvl1pPr>
              <a:defRPr/>
            </a:lvl1pPr>
          </a:lstStyle>
          <a:p>
            <a:pPr rtl="0"/>
            <a:r>
              <a:rPr lang="ja-JP" altLang="en-US"/>
              <a:t>マスター タイトルの書式設定</a:t>
            </a:r>
            <a:endParaRPr kumimoji="0" lang="en-US" dirty="0"/>
          </a:p>
        </p:txBody>
      </p:sp>
      <p:sp>
        <p:nvSpPr>
          <p:cNvPr id="3" name="テキスト プレースホルダー 2"/>
          <p:cNvSpPr>
            <a:spLocks noGrp="1"/>
          </p:cNvSpPr>
          <p:nvPr>
            <p:ph type="body" idx="1"/>
          </p:nvPr>
        </p:nvSpPr>
        <p:spPr>
          <a:xfrm>
            <a:off x="609600" y="1855248"/>
            <a:ext cx="5386917" cy="659352"/>
          </a:xfrm>
        </p:spPr>
        <p:txBody>
          <a:bodyPr lIns="45720" tIns="0" rIns="45720" bIns="0" rtlCol="0" anchor="ctr">
            <a:noAutofit/>
          </a:bodyP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rtl="0" eaLnBrk="1" latinLnBrk="0" hangingPunct="1"/>
            <a:r>
              <a:rPr lang="ja-JP" altLang="en-US"/>
              <a:t>マスター テキストの書式設定</a:t>
            </a:r>
          </a:p>
        </p:txBody>
      </p:sp>
      <p:sp>
        <p:nvSpPr>
          <p:cNvPr id="5" name="コンテンツ プレースホルダー 4"/>
          <p:cNvSpPr>
            <a:spLocks noGrp="1"/>
          </p:cNvSpPr>
          <p:nvPr>
            <p:ph sz="quarter" idx="2"/>
          </p:nvPr>
        </p:nvSpPr>
        <p:spPr>
          <a:xfrm>
            <a:off x="609600" y="2514600"/>
            <a:ext cx="5386917" cy="3845720"/>
          </a:xfrm>
        </p:spPr>
        <p:txBody>
          <a:bodyPr tIns="0" rtlCol="0"/>
          <a:lstStyle>
            <a:lvl1pPr>
              <a:defRPr sz="2200"/>
            </a:lvl1pPr>
            <a:lvl2pPr>
              <a:defRPr sz="2000"/>
            </a:lvl2pPr>
            <a:lvl3pPr>
              <a:defRPr sz="1800"/>
            </a:lvl3pPr>
            <a:lvl4pPr>
              <a:defRPr sz="1600"/>
            </a:lvl4pPr>
            <a:lvl5pPr>
              <a:defRPr sz="1600"/>
            </a:lvl5pPr>
          </a:lstStyle>
          <a:p>
            <a:pPr lvl="0" rtl="0" eaLnBrk="1" latinLnBrk="0" hangingPunct="1"/>
            <a:r>
              <a:rPr lang="ja-JP" altLang="en-US"/>
              <a:t>マスター テキストの書式設定</a:t>
            </a:r>
          </a:p>
          <a:p>
            <a:pPr lvl="1" rtl="0" eaLnBrk="1" latinLnBrk="0" hangingPunct="1"/>
            <a:r>
              <a:rPr lang="ja-JP" altLang="en-US"/>
              <a:t>第 </a:t>
            </a:r>
            <a:r>
              <a:rPr lang="en-US" altLang="ja-JP"/>
              <a:t>2 </a:t>
            </a:r>
            <a:r>
              <a:rPr lang="ja-JP" altLang="en-US"/>
              <a:t>レベル</a:t>
            </a:r>
          </a:p>
          <a:p>
            <a:pPr lvl="2" rtl="0" eaLnBrk="1" latinLnBrk="0" hangingPunct="1"/>
            <a:r>
              <a:rPr lang="ja-JP" altLang="en-US"/>
              <a:t>第 </a:t>
            </a:r>
            <a:r>
              <a:rPr lang="en-US" altLang="ja-JP"/>
              <a:t>3 </a:t>
            </a:r>
            <a:r>
              <a:rPr lang="ja-JP" altLang="en-US"/>
              <a:t>レベル</a:t>
            </a:r>
          </a:p>
          <a:p>
            <a:pPr lvl="3" rtl="0" eaLnBrk="1" latinLnBrk="0" hangingPunct="1"/>
            <a:r>
              <a:rPr lang="ja-JP" altLang="en-US"/>
              <a:t>第 </a:t>
            </a:r>
            <a:r>
              <a:rPr lang="en-US" altLang="ja-JP"/>
              <a:t>4 </a:t>
            </a:r>
            <a:r>
              <a:rPr lang="ja-JP" altLang="en-US"/>
              <a:t>レベル</a:t>
            </a:r>
          </a:p>
          <a:p>
            <a:pPr lvl="4" rtl="0" eaLnBrk="1" latinLnBrk="0" hangingPunct="1"/>
            <a:r>
              <a:rPr lang="ja-JP" altLang="en-US"/>
              <a:t>第 </a:t>
            </a:r>
            <a:r>
              <a:rPr lang="en-US" altLang="ja-JP"/>
              <a:t>5 </a:t>
            </a:r>
            <a:r>
              <a:rPr lang="ja-JP" altLang="en-US"/>
              <a:t>レベル</a:t>
            </a:r>
            <a:endParaRPr kumimoji="0" lang="en-US" dirty="0"/>
          </a:p>
        </p:txBody>
      </p:sp>
      <p:sp>
        <p:nvSpPr>
          <p:cNvPr id="4" name="テキスト プレースホルダー 3"/>
          <p:cNvSpPr>
            <a:spLocks noGrp="1"/>
          </p:cNvSpPr>
          <p:nvPr>
            <p:ph type="body" sz="half" idx="3"/>
          </p:nvPr>
        </p:nvSpPr>
        <p:spPr>
          <a:xfrm>
            <a:off x="6193368" y="1859758"/>
            <a:ext cx="5389033" cy="654843"/>
          </a:xfrm>
        </p:spPr>
        <p:txBody>
          <a:bodyPr lIns="45720" tIns="0" rIns="45720" bIns="0" rtlCol="0" anchor="ct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rtl="0" eaLnBrk="1" latinLnBrk="0" hangingPunct="1"/>
            <a:r>
              <a:rPr lang="ja-JP" altLang="en-US"/>
              <a:t>マスター テキストの書式設定</a:t>
            </a:r>
          </a:p>
        </p:txBody>
      </p:sp>
      <p:sp>
        <p:nvSpPr>
          <p:cNvPr id="6" name="コンテンツ プレースホルダー 5"/>
          <p:cNvSpPr>
            <a:spLocks noGrp="1"/>
          </p:cNvSpPr>
          <p:nvPr>
            <p:ph sz="quarter" idx="4"/>
          </p:nvPr>
        </p:nvSpPr>
        <p:spPr>
          <a:xfrm>
            <a:off x="6193368" y="2514600"/>
            <a:ext cx="5389033" cy="3845720"/>
          </a:xfrm>
        </p:spPr>
        <p:txBody>
          <a:bodyPr tIns="0" rtlCol="0"/>
          <a:lstStyle>
            <a:lvl1pPr>
              <a:defRPr sz="2200"/>
            </a:lvl1pPr>
            <a:lvl2pPr>
              <a:defRPr sz="2000"/>
            </a:lvl2pPr>
            <a:lvl3pPr>
              <a:defRPr sz="1800"/>
            </a:lvl3pPr>
            <a:lvl4pPr>
              <a:defRPr sz="1600"/>
            </a:lvl4pPr>
            <a:lvl5pPr>
              <a:defRPr sz="1600"/>
            </a:lvl5pPr>
          </a:lstStyle>
          <a:p>
            <a:pPr lvl="0" rtl="0" eaLnBrk="1" latinLnBrk="0" hangingPunct="1"/>
            <a:r>
              <a:rPr lang="ja-JP" altLang="en-US"/>
              <a:t>マスター テキストの書式設定</a:t>
            </a:r>
          </a:p>
          <a:p>
            <a:pPr lvl="1" rtl="0" eaLnBrk="1" latinLnBrk="0" hangingPunct="1"/>
            <a:r>
              <a:rPr lang="ja-JP" altLang="en-US"/>
              <a:t>第 </a:t>
            </a:r>
            <a:r>
              <a:rPr lang="en-US" altLang="ja-JP"/>
              <a:t>2 </a:t>
            </a:r>
            <a:r>
              <a:rPr lang="ja-JP" altLang="en-US"/>
              <a:t>レベル</a:t>
            </a:r>
          </a:p>
          <a:p>
            <a:pPr lvl="2" rtl="0" eaLnBrk="1" latinLnBrk="0" hangingPunct="1"/>
            <a:r>
              <a:rPr lang="ja-JP" altLang="en-US"/>
              <a:t>第 </a:t>
            </a:r>
            <a:r>
              <a:rPr lang="en-US" altLang="ja-JP"/>
              <a:t>3 </a:t>
            </a:r>
            <a:r>
              <a:rPr lang="ja-JP" altLang="en-US"/>
              <a:t>レベル</a:t>
            </a:r>
          </a:p>
          <a:p>
            <a:pPr lvl="3" rtl="0" eaLnBrk="1" latinLnBrk="0" hangingPunct="1"/>
            <a:r>
              <a:rPr lang="ja-JP" altLang="en-US"/>
              <a:t>第 </a:t>
            </a:r>
            <a:r>
              <a:rPr lang="en-US" altLang="ja-JP"/>
              <a:t>4 </a:t>
            </a:r>
            <a:r>
              <a:rPr lang="ja-JP" altLang="en-US"/>
              <a:t>レベル</a:t>
            </a:r>
          </a:p>
          <a:p>
            <a:pPr lvl="4" rtl="0" eaLnBrk="1" latinLnBrk="0" hangingPunct="1"/>
            <a:r>
              <a:rPr lang="ja-JP" altLang="en-US"/>
              <a:t>第 </a:t>
            </a:r>
            <a:r>
              <a:rPr lang="en-US" altLang="ja-JP"/>
              <a:t>5 </a:t>
            </a:r>
            <a:r>
              <a:rPr lang="ja-JP" altLang="en-US"/>
              <a:t>レベル</a:t>
            </a:r>
            <a:endParaRPr kumimoji="0" lang="en-US" dirty="0"/>
          </a:p>
        </p:txBody>
      </p:sp>
      <p:sp>
        <p:nvSpPr>
          <p:cNvPr id="7" name="日付プレースホルダー 6"/>
          <p:cNvSpPr>
            <a:spLocks noGrp="1"/>
          </p:cNvSpPr>
          <p:nvPr>
            <p:ph type="dt" sz="half" idx="10"/>
          </p:nvPr>
        </p:nvSpPr>
        <p:spPr/>
        <p:txBody>
          <a:bodyPr rtlCol="0"/>
          <a:lstStyle/>
          <a:p>
            <a:pPr rtl="0"/>
            <a:fld id="{BA296CEC-F0EC-4499-B406-555829E93D38}" type="datetime4">
              <a:rPr lang="ja-JP" altLang="en-US" smtClean="0"/>
              <a:t>2026年10月1日</a:t>
            </a:fld>
            <a:endParaRPr lang="en-US" dirty="0"/>
          </a:p>
        </p:txBody>
      </p:sp>
      <p:sp>
        <p:nvSpPr>
          <p:cNvPr id="8" name="フッター プレースホルダー 7"/>
          <p:cNvSpPr>
            <a:spLocks noGrp="1"/>
          </p:cNvSpPr>
          <p:nvPr>
            <p:ph type="ftr" sz="quarter" idx="11"/>
          </p:nvPr>
        </p:nvSpPr>
        <p:spPr/>
        <p:txBody>
          <a:bodyPr rtlCol="0"/>
          <a:lstStyle/>
          <a:p>
            <a:pPr rtl="0"/>
            <a:r>
              <a:rPr lang="ja" dirty="0"/>
              <a:t>フッターを追加</a:t>
            </a:r>
            <a:endParaRPr lang="en-US" dirty="0"/>
          </a:p>
        </p:txBody>
      </p:sp>
      <p:sp>
        <p:nvSpPr>
          <p:cNvPr id="9" name="スライド番号プレースホルダー 8"/>
          <p:cNvSpPr>
            <a:spLocks noGrp="1"/>
          </p:cNvSpPr>
          <p:nvPr>
            <p:ph type="sldNum" sz="quarter" idx="12"/>
          </p:nvPr>
        </p:nvSpPr>
        <p:spPr/>
        <p:txBody>
          <a:bodyPr rtlCol="0"/>
          <a:lstStyle/>
          <a:p>
            <a:pPr rtl="0"/>
            <a:fld id="{401CF334-2D5C-4859-84A6-CA7E6E43FAEB}" type="slidenum">
              <a:rPr lang="en-US" smtClean="0"/>
              <a:t>‹#›</a:t>
            </a:fld>
            <a:endParaRPr lang="en-US" dirty="0"/>
          </a:p>
        </p:txBody>
      </p:sp>
    </p:spTree>
    <p:extLst>
      <p:ext uri="{BB962C8B-B14F-4D97-AF65-F5344CB8AC3E}">
        <p14:creationId xmlns:p14="http://schemas.microsoft.com/office/powerpoint/2010/main" val="1250188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704088"/>
            <a:ext cx="11074400" cy="1143000"/>
          </a:xfrm>
        </p:spPr>
        <p:txBody>
          <a:bodyPr vert="horz" tIns="45720" bIns="0" rtlCol="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a:t>マスター タイトルの書式設定</a:t>
            </a:r>
            <a:endParaRPr kumimoji="0" lang="ja-JP" altLang="en-US" noProof="0" dirty="0"/>
          </a:p>
        </p:txBody>
      </p:sp>
      <p:sp>
        <p:nvSpPr>
          <p:cNvPr id="3" name="日付プレースホルダー 2"/>
          <p:cNvSpPr>
            <a:spLocks noGrp="1"/>
          </p:cNvSpPr>
          <p:nvPr>
            <p:ph type="dt" sz="half" idx="10"/>
          </p:nvPr>
        </p:nvSpPr>
        <p:spPr/>
        <p:txBody>
          <a:bodyPr rtlCol="0"/>
          <a:lstStyle/>
          <a:p>
            <a:pPr rtl="0"/>
            <a:fld id="{7BC8EE4A-0564-4F19-AF56-1B86A81857A1}" type="datetime4">
              <a:rPr lang="ja-JP" altLang="en-US" smtClean="0"/>
              <a:t>2026年10月1日</a:t>
            </a:fld>
            <a:endParaRPr lang="en-US"/>
          </a:p>
        </p:txBody>
      </p:sp>
      <p:sp>
        <p:nvSpPr>
          <p:cNvPr id="4" name="フッター プレースホルダー 3"/>
          <p:cNvSpPr>
            <a:spLocks noGrp="1"/>
          </p:cNvSpPr>
          <p:nvPr>
            <p:ph type="ftr" sz="quarter" idx="11"/>
          </p:nvPr>
        </p:nvSpPr>
        <p:spPr/>
        <p:txBody>
          <a:bodyPr rtlCol="0"/>
          <a:lstStyle/>
          <a:p>
            <a:pPr rtl="0"/>
            <a:r>
              <a:rPr lang="ja-JP" altLang="en-US" noProof="0" dirty="0"/>
              <a:t>フッターを追加</a:t>
            </a:r>
          </a:p>
        </p:txBody>
      </p:sp>
      <p:sp>
        <p:nvSpPr>
          <p:cNvPr id="5" name="スライド番号プレースホルダー 4"/>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3071814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rtlCol="0"/>
          <a:lstStyle/>
          <a:p>
            <a:pPr rtl="0"/>
            <a:fld id="{AAD0A0B1-5389-4168-8C71-456999E01C6A}" type="datetime4">
              <a:rPr lang="ja-JP" altLang="en-US" smtClean="0"/>
              <a:t>2026年10月1日</a:t>
            </a:fld>
            <a:endParaRPr lang="en-US" dirty="0"/>
          </a:p>
        </p:txBody>
      </p:sp>
      <p:sp>
        <p:nvSpPr>
          <p:cNvPr id="3" name="フッター プレースホルダー 2"/>
          <p:cNvSpPr>
            <a:spLocks noGrp="1"/>
          </p:cNvSpPr>
          <p:nvPr>
            <p:ph type="ftr" sz="quarter" idx="11"/>
          </p:nvPr>
        </p:nvSpPr>
        <p:spPr/>
        <p:txBody>
          <a:bodyPr rtlCol="0"/>
          <a:lstStyle/>
          <a:p>
            <a:pPr rtl="0"/>
            <a:r>
              <a:rPr lang="ja-JP" altLang="en-US" noProof="0" dirty="0"/>
              <a:t>フッターを追加</a:t>
            </a:r>
          </a:p>
        </p:txBody>
      </p:sp>
      <p:sp>
        <p:nvSpPr>
          <p:cNvPr id="4" name="スライド番号プレースホルダー 3"/>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252882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キャプション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914400" y="514352"/>
            <a:ext cx="3657600" cy="1162050"/>
          </a:xfrm>
        </p:spPr>
        <p:txBody>
          <a:bodyPr lIns="0" rtlCol="0" anchor="b">
            <a:noAutofit/>
          </a:bodyPr>
          <a:lstStyle>
            <a:lvl1pPr algn="l" rtl="0">
              <a:spcBef>
                <a:spcPct val="0"/>
              </a:spcBef>
              <a:buNone/>
              <a:defRPr sz="2600" b="0">
                <a:ln>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a:t>マスター タイトルの書式設定</a:t>
            </a:r>
            <a:endParaRPr kumimoji="0" lang="ja-JP" altLang="en-US" noProof="0" dirty="0"/>
          </a:p>
        </p:txBody>
      </p:sp>
      <p:sp>
        <p:nvSpPr>
          <p:cNvPr id="4" name="コンテンツ プレースホルダー 3"/>
          <p:cNvSpPr>
            <a:spLocks noGrp="1"/>
          </p:cNvSpPr>
          <p:nvPr>
            <p:ph sz="half" idx="1"/>
          </p:nvPr>
        </p:nvSpPr>
        <p:spPr>
          <a:xfrm>
            <a:off x="4766733" y="1676400"/>
            <a:ext cx="6815667" cy="4572000"/>
          </a:xfrm>
        </p:spPr>
        <p:txBody>
          <a:bodyPr tIns="0" rtlCol="0"/>
          <a:lstStyle>
            <a:lvl1pPr>
              <a:defRPr sz="2800"/>
            </a:lvl1pPr>
            <a:lvl2pPr>
              <a:defRPr sz="2600"/>
            </a:lvl2pPr>
            <a:lvl3pPr>
              <a:defRPr sz="2400"/>
            </a:lvl3pPr>
            <a:lvl4pPr>
              <a:defRPr sz="2000"/>
            </a:lvl4pPr>
            <a:lvl5pPr>
              <a:defRPr sz="1800"/>
            </a:lvl5pPr>
          </a:lstStyle>
          <a:p>
            <a:pPr lvl="0" rtl="0" eaLnBrk="1" latinLnBrk="0" hangingPunct="1"/>
            <a:r>
              <a:rPr lang="ja-JP" altLang="en-US" noProof="0"/>
              <a:t>マスター テキストの書式設定</a:t>
            </a:r>
          </a:p>
          <a:p>
            <a:pPr lvl="1" rtl="0" eaLnBrk="1" latinLnBrk="0" hangingPunct="1"/>
            <a:r>
              <a:rPr lang="ja-JP" altLang="en-US" noProof="0"/>
              <a:t>第 </a:t>
            </a:r>
            <a:r>
              <a:rPr lang="en-US" altLang="ja-JP" noProof="0"/>
              <a:t>2 </a:t>
            </a:r>
            <a:r>
              <a:rPr lang="ja-JP" altLang="en-US" noProof="0"/>
              <a:t>レベル</a:t>
            </a:r>
          </a:p>
          <a:p>
            <a:pPr lvl="2" rtl="0" eaLnBrk="1" latinLnBrk="0" hangingPunct="1"/>
            <a:r>
              <a:rPr lang="ja-JP" altLang="en-US" noProof="0"/>
              <a:t>第 </a:t>
            </a:r>
            <a:r>
              <a:rPr lang="en-US" altLang="ja-JP" noProof="0"/>
              <a:t>3 </a:t>
            </a:r>
            <a:r>
              <a:rPr lang="ja-JP" altLang="en-US" noProof="0"/>
              <a:t>レベル</a:t>
            </a:r>
          </a:p>
          <a:p>
            <a:pPr lvl="3" rtl="0" eaLnBrk="1" latinLnBrk="0" hangingPunct="1"/>
            <a:r>
              <a:rPr lang="ja-JP" altLang="en-US" noProof="0"/>
              <a:t>第 </a:t>
            </a:r>
            <a:r>
              <a:rPr lang="en-US" altLang="ja-JP" noProof="0"/>
              <a:t>4 </a:t>
            </a:r>
            <a:r>
              <a:rPr lang="ja-JP" altLang="en-US" noProof="0"/>
              <a:t>レベル</a:t>
            </a:r>
          </a:p>
          <a:p>
            <a:pPr lvl="4" rtl="0" eaLnBrk="1" latinLnBrk="0" hangingPunct="1"/>
            <a:r>
              <a:rPr lang="ja-JP" altLang="en-US" noProof="0"/>
              <a:t>第 </a:t>
            </a:r>
            <a:r>
              <a:rPr lang="en-US" altLang="ja-JP" noProof="0"/>
              <a:t>5 </a:t>
            </a:r>
            <a:r>
              <a:rPr lang="ja-JP" altLang="en-US" noProof="0"/>
              <a:t>レベル</a:t>
            </a:r>
            <a:endParaRPr kumimoji="0" lang="ja-JP" altLang="en-US" noProof="0" dirty="0"/>
          </a:p>
        </p:txBody>
      </p:sp>
      <p:sp>
        <p:nvSpPr>
          <p:cNvPr id="3" name="テキスト プレースホルダー 2"/>
          <p:cNvSpPr>
            <a:spLocks noGrp="1"/>
          </p:cNvSpPr>
          <p:nvPr>
            <p:ph type="body" idx="2"/>
          </p:nvPr>
        </p:nvSpPr>
        <p:spPr>
          <a:xfrm>
            <a:off x="914400" y="1676400"/>
            <a:ext cx="3657600" cy="4572000"/>
          </a:xfrm>
        </p:spPr>
        <p:txBody>
          <a:bodyPr lIns="18288" rIns="18288" rtlCol="0"/>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rtl="0" eaLnBrk="1" latinLnBrk="0" hangingPunct="1"/>
            <a:r>
              <a:rPr lang="ja-JP" altLang="en-US" noProof="0"/>
              <a:t>マスター テキストの書式設定</a:t>
            </a:r>
          </a:p>
        </p:txBody>
      </p:sp>
      <p:sp>
        <p:nvSpPr>
          <p:cNvPr id="5" name="日付プレースホルダー 4"/>
          <p:cNvSpPr>
            <a:spLocks noGrp="1"/>
          </p:cNvSpPr>
          <p:nvPr>
            <p:ph type="dt" sz="half" idx="10"/>
          </p:nvPr>
        </p:nvSpPr>
        <p:spPr/>
        <p:txBody>
          <a:bodyPr rtlCol="0"/>
          <a:lstStyle/>
          <a:p>
            <a:pPr rtl="0"/>
            <a:fld id="{3DFAF4E1-8E5B-454D-966C-37225B9702A6}" type="datetime4">
              <a:rPr lang="ja-JP" altLang="en-US" smtClean="0"/>
              <a:t>2026年10月1日</a:t>
            </a:fld>
            <a:endParaRPr lang="en-US" dirty="0"/>
          </a:p>
        </p:txBody>
      </p:sp>
      <p:sp>
        <p:nvSpPr>
          <p:cNvPr id="6" name="フッター プレースホルダー 5"/>
          <p:cNvSpPr>
            <a:spLocks noGrp="1"/>
          </p:cNvSpPr>
          <p:nvPr>
            <p:ph type="ftr" sz="quarter" idx="11"/>
          </p:nvPr>
        </p:nvSpPr>
        <p:spPr/>
        <p:txBody>
          <a:bodyPr rtlCol="0"/>
          <a:lstStyle/>
          <a:p>
            <a:pPr rtl="0"/>
            <a:r>
              <a:rPr lang="ja-JP" altLang="en-US" noProof="0" dirty="0"/>
              <a:t>フッターを追加</a:t>
            </a:r>
          </a:p>
        </p:txBody>
      </p:sp>
      <p:sp>
        <p:nvSpPr>
          <p:cNvPr id="7" name="スライド番号プレースホルダー 6"/>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199192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キャプション付きの画像">
    <p:spTree>
      <p:nvGrpSpPr>
        <p:cNvPr id="1" name=""/>
        <p:cNvGrpSpPr/>
        <p:nvPr/>
      </p:nvGrpSpPr>
      <p:grpSpPr>
        <a:xfrm>
          <a:off x="0" y="0"/>
          <a:ext cx="0" cy="0"/>
          <a:chOff x="0" y="0"/>
          <a:chExt cx="0" cy="0"/>
        </a:xfrm>
      </p:grpSpPr>
      <p:sp>
        <p:nvSpPr>
          <p:cNvPr id="9" name="1 つの角を切り取って丸めた四角形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rtl="0" eaLnBrk="1" latinLnBrk="0" hangingPunct="1"/>
            <a:endParaRPr kumimoji="0" lang="ja-JP" altLang="en-US" sz="1800" noProof="0" dirty="0"/>
          </a:p>
        </p:txBody>
      </p:sp>
      <p:sp>
        <p:nvSpPr>
          <p:cNvPr id="12" name="直角三角形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rtl="0" eaLnBrk="1" latinLnBrk="0" hangingPunct="1"/>
            <a:endParaRPr kumimoji="0" lang="ja-JP" altLang="en-US" sz="1800" noProof="0" dirty="0"/>
          </a:p>
        </p:txBody>
      </p:sp>
      <p:sp>
        <p:nvSpPr>
          <p:cNvPr id="2" name="タイトル 1"/>
          <p:cNvSpPr>
            <a:spLocks noGrp="1"/>
          </p:cNvSpPr>
          <p:nvPr>
            <p:ph type="title"/>
          </p:nvPr>
        </p:nvSpPr>
        <p:spPr>
          <a:xfrm>
            <a:off x="812800" y="1176997"/>
            <a:ext cx="2950464" cy="1582621"/>
          </a:xfrm>
        </p:spPr>
        <p:txBody>
          <a:bodyPr vert="horz" lIns="45720" tIns="45720" rIns="45720" bIns="45720" rtlCol="0" anchor="b"/>
          <a:lstStyle>
            <a:lvl1pPr algn="l">
              <a:buNone/>
              <a:defRPr sz="2000" b="1">
                <a:solidFill>
                  <a:schemeClr val="tx2"/>
                </a:solidFill>
              </a:defRPr>
            </a:lvl1pPr>
          </a:lstStyle>
          <a:p>
            <a:pPr rtl="0"/>
            <a:r>
              <a:rPr lang="ja-JP" altLang="en-US" noProof="0"/>
              <a:t>マスター タイトルの書式設定</a:t>
            </a:r>
            <a:endParaRPr kumimoji="0" lang="ja-JP" altLang="en-US" noProof="0" dirty="0"/>
          </a:p>
        </p:txBody>
      </p:sp>
      <p:sp>
        <p:nvSpPr>
          <p:cNvPr id="3" name="図プレースホルダー 2" descr="画像を追加する空のプレースホルダー。プレースホルダーをクリックし、追加する画像を選択します"/>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rtlCol="0"/>
          <a:lstStyle>
            <a:lvl1pPr marL="0" indent="0">
              <a:buNone/>
              <a:defRPr sz="3200"/>
            </a:lvl1pPr>
          </a:lstStyle>
          <a:p>
            <a:pPr rtl="0"/>
            <a:r>
              <a:rPr lang="ja-JP" altLang="en-US" noProof="0"/>
              <a:t>アイコンをクリックして図を追加</a:t>
            </a:r>
            <a:endParaRPr kumimoji="0" lang="ja-JP" altLang="en-US" noProof="0" dirty="0"/>
          </a:p>
        </p:txBody>
      </p:sp>
      <p:sp>
        <p:nvSpPr>
          <p:cNvPr id="4" name="テキスト プレースホルダー 3"/>
          <p:cNvSpPr>
            <a:spLocks noGrp="1"/>
          </p:cNvSpPr>
          <p:nvPr>
            <p:ph type="body" sz="half" idx="2"/>
          </p:nvPr>
        </p:nvSpPr>
        <p:spPr>
          <a:xfrm>
            <a:off x="812800" y="2828785"/>
            <a:ext cx="2946400" cy="2179320"/>
          </a:xfrm>
        </p:spPr>
        <p:txBody>
          <a:bodyPr lIns="64008" rIns="45720" bIns="45720" rtlCol="0" anchor="t"/>
          <a:lstStyle>
            <a:lvl1pPr marL="0" indent="0" algn="l">
              <a:spcBef>
                <a:spcPts val="250"/>
              </a:spcBef>
              <a:buFontTx/>
              <a:buNone/>
              <a:defRPr sz="1300"/>
            </a:lvl1pPr>
            <a:lvl2pPr>
              <a:defRPr sz="1200"/>
            </a:lvl2pPr>
            <a:lvl3pPr>
              <a:defRPr sz="1000"/>
            </a:lvl3pPr>
            <a:lvl4pPr>
              <a:defRPr sz="900"/>
            </a:lvl4pPr>
            <a:lvl5pPr>
              <a:defRPr sz="900"/>
            </a:lvl5pPr>
          </a:lstStyle>
          <a:p>
            <a:pPr lvl="0" rtl="0" eaLnBrk="1" latinLnBrk="0" hangingPunct="1"/>
            <a:r>
              <a:rPr lang="ja-JP" altLang="en-US" noProof="0"/>
              <a:t>マスター テキストの書式設定</a:t>
            </a:r>
          </a:p>
        </p:txBody>
      </p:sp>
      <p:sp>
        <p:nvSpPr>
          <p:cNvPr id="5" name="日付プレースホルダー 4"/>
          <p:cNvSpPr>
            <a:spLocks noGrp="1"/>
          </p:cNvSpPr>
          <p:nvPr>
            <p:ph type="dt" sz="half" idx="10"/>
          </p:nvPr>
        </p:nvSpPr>
        <p:spPr/>
        <p:txBody>
          <a:bodyPr rtlCol="0"/>
          <a:lstStyle/>
          <a:p>
            <a:pPr rtl="0"/>
            <a:fld id="{3BA228A8-1DDA-4C9E-B7BB-B3D4A4576159}" type="datetime4">
              <a:rPr lang="ja-JP" altLang="en-US" smtClean="0"/>
              <a:t>2026年10月1日</a:t>
            </a:fld>
            <a:endParaRPr lang="en-US"/>
          </a:p>
        </p:txBody>
      </p:sp>
      <p:sp>
        <p:nvSpPr>
          <p:cNvPr id="6" name="フッター プレースホルダー 5"/>
          <p:cNvSpPr>
            <a:spLocks noGrp="1"/>
          </p:cNvSpPr>
          <p:nvPr>
            <p:ph type="ftr" sz="quarter" idx="11"/>
          </p:nvPr>
        </p:nvSpPr>
        <p:spPr/>
        <p:txBody>
          <a:bodyPr rtlCol="0"/>
          <a:lstStyle/>
          <a:p>
            <a:pPr rtl="0"/>
            <a:r>
              <a:rPr lang="ja-JP" altLang="en-US" noProof="0" dirty="0"/>
              <a:t>フッターを追加</a:t>
            </a:r>
          </a:p>
        </p:txBody>
      </p:sp>
      <p:sp>
        <p:nvSpPr>
          <p:cNvPr id="7" name="スライド番号プレースホルダー 6"/>
          <p:cNvSpPr>
            <a:spLocks noGrp="1"/>
          </p:cNvSpPr>
          <p:nvPr>
            <p:ph type="sldNum" sz="quarter" idx="12"/>
          </p:nvPr>
        </p:nvSpPr>
        <p:spPr>
          <a:xfrm>
            <a:off x="10769600" y="6356351"/>
            <a:ext cx="812800" cy="365125"/>
          </a:xfrm>
        </p:spPr>
        <p:txBody>
          <a:bodyPr rtlCol="0"/>
          <a:lstStyle/>
          <a:p>
            <a:pPr rtl="0"/>
            <a:fld id="{401CF334-2D5C-4859-84A6-CA7E6E43FAEB}" type="slidenum">
              <a:rPr lang="en-US" altLang="ja-JP" noProof="0" smtClean="0"/>
              <a:t>‹#›</a:t>
            </a:fld>
            <a:endParaRPr lang="ja-JP" altLang="en-US" noProof="0" dirty="0"/>
          </a:p>
        </p:txBody>
      </p:sp>
      <p:sp>
        <p:nvSpPr>
          <p:cNvPr id="10" name="フリーフォーム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sp>
        <p:nvSpPr>
          <p:cNvPr id="11" name="フリーフォーム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spTree>
    <p:extLst>
      <p:ext uri="{BB962C8B-B14F-4D97-AF65-F5344CB8AC3E}">
        <p14:creationId xmlns:p14="http://schemas.microsoft.com/office/powerpoint/2010/main" val="251962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rtlCol="0"/>
          <a:lstStyle/>
          <a:p>
            <a:pPr rtl="0"/>
            <a:r>
              <a:rPr lang="ja-JP" altLang="en-US" noProof="0"/>
              <a:t>マスター タイトルの書式設定</a:t>
            </a:r>
            <a:endParaRPr kumimoji="0" lang="ja-JP" altLang="en-US" noProof="0" dirty="0"/>
          </a:p>
        </p:txBody>
      </p:sp>
      <p:sp>
        <p:nvSpPr>
          <p:cNvPr id="3" name="縦書きテキスト プレースホルダー 2"/>
          <p:cNvSpPr>
            <a:spLocks noGrp="1"/>
          </p:cNvSpPr>
          <p:nvPr>
            <p:ph type="body" orient="vert" idx="1" hasCustomPrompt="1"/>
          </p:nvPr>
        </p:nvSpPr>
        <p:spPr/>
        <p:txBody>
          <a:bodyPr vert="eaVert" rtlCol="0"/>
          <a:lstStyle/>
          <a:p>
            <a:pPr lvl="0" rtl="0" eaLnBrk="1" latinLnBrk="0" hangingPunct="1"/>
            <a:r>
              <a:rPr lang="ja-JP" altLang="en-US" noProof="0" dirty="0"/>
              <a:t>クリックしてマスター テキストのスタイルを編集</a:t>
            </a:r>
          </a:p>
          <a:p>
            <a:pPr lvl="1"/>
            <a:r>
              <a:rPr kumimoji="1" lang="ja-JP" altLang="en-US" noProof="0" dirty="0"/>
              <a:t>第 </a:t>
            </a:r>
            <a:r>
              <a:rPr kumimoji="1" lang="en-US" altLang="ja-JP" noProof="0" dirty="0"/>
              <a:t>2 </a:t>
            </a:r>
            <a:r>
              <a:rPr kumimoji="1" lang="ja-JP" altLang="en-US" noProof="0" dirty="0"/>
              <a:t>レベル</a:t>
            </a:r>
          </a:p>
          <a:p>
            <a:pPr lvl="2"/>
            <a:r>
              <a:rPr kumimoji="1" lang="ja-JP" altLang="en-US" noProof="0" dirty="0"/>
              <a:t>第 </a:t>
            </a:r>
            <a:r>
              <a:rPr kumimoji="1" lang="en-US" altLang="ja-JP" noProof="0" dirty="0"/>
              <a:t>3 </a:t>
            </a:r>
            <a:r>
              <a:rPr kumimoji="1" lang="ja-JP" altLang="en-US" noProof="0" dirty="0"/>
              <a:t>レベル</a:t>
            </a:r>
          </a:p>
          <a:p>
            <a:pPr lvl="3"/>
            <a:r>
              <a:rPr kumimoji="1" lang="ja-JP" altLang="en-US" noProof="0" dirty="0"/>
              <a:t>第 </a:t>
            </a:r>
            <a:r>
              <a:rPr kumimoji="1" lang="en-US" altLang="ja-JP" noProof="0" dirty="0"/>
              <a:t>4 </a:t>
            </a:r>
            <a:r>
              <a:rPr kumimoji="1" lang="ja-JP" altLang="en-US" noProof="0" dirty="0"/>
              <a:t>レベル</a:t>
            </a:r>
          </a:p>
          <a:p>
            <a:pPr lvl="4"/>
            <a:r>
              <a:rPr kumimoji="1" lang="ja-JP" altLang="en-US" noProof="0" dirty="0"/>
              <a:t>第 </a:t>
            </a:r>
            <a:r>
              <a:rPr kumimoji="1" lang="en-US" altLang="ja-JP" noProof="0" dirty="0"/>
              <a:t>5 </a:t>
            </a:r>
            <a:r>
              <a:rPr kumimoji="1" lang="ja-JP" altLang="en-US" noProof="0" dirty="0"/>
              <a:t>レベル</a:t>
            </a:r>
          </a:p>
        </p:txBody>
      </p:sp>
      <p:sp>
        <p:nvSpPr>
          <p:cNvPr id="4" name="日付プレースホルダー 3"/>
          <p:cNvSpPr>
            <a:spLocks noGrp="1"/>
          </p:cNvSpPr>
          <p:nvPr>
            <p:ph type="dt" sz="half" idx="10"/>
          </p:nvPr>
        </p:nvSpPr>
        <p:spPr/>
        <p:txBody>
          <a:bodyPr rtlCol="0"/>
          <a:lstStyle/>
          <a:p>
            <a:pPr rtl="0"/>
            <a:fld id="{0189D195-22A8-4E03-A4C1-FF558F7B427F}" type="datetime4">
              <a:rPr lang="ja-JP" altLang="en-US" smtClean="0"/>
              <a:t>2026年10月1日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87777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839200" y="914402"/>
            <a:ext cx="2743200" cy="5211763"/>
          </a:xfrm>
        </p:spPr>
        <p:txBody>
          <a:bodyPr vert="eaVert" rtlCol="0"/>
          <a:lstStyle/>
          <a:p>
            <a:pPr rtl="0"/>
            <a:r>
              <a:rPr lang="ja-JP" altLang="en-US" noProof="0"/>
              <a:t>マスター タイトルの書式設定</a:t>
            </a:r>
            <a:endParaRPr kumimoji="0" lang="ja-JP" altLang="en-US" noProof="0" dirty="0"/>
          </a:p>
        </p:txBody>
      </p:sp>
      <p:sp>
        <p:nvSpPr>
          <p:cNvPr id="3" name="縦書きテキスト プレースホルダー 2"/>
          <p:cNvSpPr>
            <a:spLocks noGrp="1"/>
          </p:cNvSpPr>
          <p:nvPr>
            <p:ph type="body" orient="vert" idx="1" hasCustomPrompt="1"/>
          </p:nvPr>
        </p:nvSpPr>
        <p:spPr>
          <a:xfrm>
            <a:off x="609600" y="914402"/>
            <a:ext cx="8026400" cy="5211763"/>
          </a:xfrm>
        </p:spPr>
        <p:txBody>
          <a:bodyPr vert="eaVert" rtlCol="0"/>
          <a:lstStyle/>
          <a:p>
            <a:pPr lvl="0" rtl="0" eaLnBrk="1" latinLnBrk="0" hangingPunct="1"/>
            <a:r>
              <a:rPr lang="ja-JP" altLang="en-US" noProof="0" dirty="0"/>
              <a:t>クリックしてマスター テキストのスタイルを編集</a:t>
            </a:r>
          </a:p>
          <a:p>
            <a:pPr lvl="1"/>
            <a:r>
              <a:rPr kumimoji="1" lang="ja-JP" altLang="en-US" noProof="0" dirty="0"/>
              <a:t>第 </a:t>
            </a:r>
            <a:r>
              <a:rPr kumimoji="1" lang="en-US" altLang="ja-JP" noProof="0" dirty="0"/>
              <a:t>2 </a:t>
            </a:r>
            <a:r>
              <a:rPr kumimoji="1" lang="ja-JP" altLang="en-US" noProof="0" dirty="0"/>
              <a:t>レベル</a:t>
            </a:r>
          </a:p>
          <a:p>
            <a:pPr lvl="2"/>
            <a:r>
              <a:rPr kumimoji="1" lang="ja-JP" altLang="en-US" noProof="0" dirty="0"/>
              <a:t>第 </a:t>
            </a:r>
            <a:r>
              <a:rPr kumimoji="1" lang="en-US" altLang="ja-JP" noProof="0" dirty="0"/>
              <a:t>3 </a:t>
            </a:r>
            <a:r>
              <a:rPr kumimoji="1" lang="ja-JP" altLang="en-US" noProof="0" dirty="0"/>
              <a:t>レベル</a:t>
            </a:r>
          </a:p>
          <a:p>
            <a:pPr lvl="3"/>
            <a:r>
              <a:rPr kumimoji="1" lang="ja-JP" altLang="en-US" noProof="0" dirty="0"/>
              <a:t>第 </a:t>
            </a:r>
            <a:r>
              <a:rPr kumimoji="1" lang="en-US" altLang="ja-JP" noProof="0" dirty="0"/>
              <a:t>4 </a:t>
            </a:r>
            <a:r>
              <a:rPr kumimoji="1" lang="ja-JP" altLang="en-US" noProof="0" dirty="0"/>
              <a:t>レベル</a:t>
            </a:r>
          </a:p>
          <a:p>
            <a:pPr lvl="4"/>
            <a:r>
              <a:rPr kumimoji="1" lang="ja-JP" altLang="en-US" noProof="0" dirty="0"/>
              <a:t>第 </a:t>
            </a:r>
            <a:r>
              <a:rPr kumimoji="1" lang="en-US" altLang="ja-JP" noProof="0" dirty="0"/>
              <a:t>5 </a:t>
            </a:r>
            <a:r>
              <a:rPr kumimoji="1" lang="ja-JP" altLang="en-US" noProof="0" dirty="0"/>
              <a:t>レベル</a:t>
            </a:r>
          </a:p>
        </p:txBody>
      </p:sp>
      <p:sp>
        <p:nvSpPr>
          <p:cNvPr id="4" name="日付プレースホルダー 3"/>
          <p:cNvSpPr>
            <a:spLocks noGrp="1"/>
          </p:cNvSpPr>
          <p:nvPr>
            <p:ph type="dt" sz="half" idx="10"/>
          </p:nvPr>
        </p:nvSpPr>
        <p:spPr/>
        <p:txBody>
          <a:bodyPr rtlCol="0"/>
          <a:lstStyle/>
          <a:p>
            <a:pPr rtl="0"/>
            <a:fld id="{A59B777F-2BA6-42C0-83EF-2CC97DD0D6E7}" type="datetime4">
              <a:rPr lang="ja-JP" altLang="en-US" smtClean="0"/>
              <a:t>2026年10月1日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336975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5" name="グループ 24"/>
          <p:cNvGrpSpPr/>
          <p:nvPr/>
        </p:nvGrpSpPr>
        <p:grpSpPr>
          <a:xfrm>
            <a:off x="-29028" y="-7144"/>
            <a:ext cx="12240731" cy="6879658"/>
            <a:chOff x="0" y="-21658"/>
            <a:chExt cx="12240731" cy="6879658"/>
          </a:xfrm>
        </p:grpSpPr>
        <p:sp>
          <p:nvSpPr>
            <p:cNvPr id="26" name="長方形 25"/>
            <p:cNvSpPr/>
            <p:nvPr/>
          </p:nvSpPr>
          <p:spPr>
            <a:xfrm>
              <a:off x="31633"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noProof="0" dirty="0"/>
            </a:p>
          </p:txBody>
        </p:sp>
        <p:grpSp>
          <p:nvGrpSpPr>
            <p:cNvPr id="27" name="グループ 26"/>
            <p:cNvGrpSpPr/>
            <p:nvPr/>
          </p:nvGrpSpPr>
          <p:grpSpPr>
            <a:xfrm>
              <a:off x="0" y="-21658"/>
              <a:ext cx="12240731" cy="1041400"/>
              <a:chOff x="-25356" y="-7144"/>
              <a:chExt cx="12240731" cy="1041400"/>
            </a:xfrm>
          </p:grpSpPr>
          <p:sp>
            <p:nvSpPr>
              <p:cNvPr id="28" name="フリーフォーム 27"/>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sp>
            <p:nvSpPr>
              <p:cNvPr id="29" name="フリーフォーム 28"/>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grpSp>
            <p:nvGrpSpPr>
              <p:cNvPr id="31" name="グループ 30"/>
              <p:cNvGrpSpPr/>
              <p:nvPr/>
            </p:nvGrpSpPr>
            <p:grpSpPr>
              <a:xfrm>
                <a:off x="-25356" y="202408"/>
                <a:ext cx="12240731" cy="649224"/>
                <a:chOff x="-19045" y="216550"/>
                <a:chExt cx="9180548" cy="649224"/>
              </a:xfrm>
            </p:grpSpPr>
            <p:sp>
              <p:nvSpPr>
                <p:cNvPr id="32" name="フリーフォーム 3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rtlCol="0" anchor="t" compatLnSpc="1"/>
                <a:lstStyle/>
                <a:p>
                  <a:pPr rtl="0"/>
                  <a:endParaRPr kumimoji="0" lang="ja-JP" altLang="en-US" sz="1800" noProof="0" dirty="0"/>
                </a:p>
              </p:txBody>
            </p:sp>
            <p:sp>
              <p:nvSpPr>
                <p:cNvPr id="33" name="フリーフォーム 3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rtlCol="0" anchor="t" compatLnSpc="1"/>
                <a:lstStyle/>
                <a:p>
                  <a:pPr rtl="0"/>
                  <a:endParaRPr kumimoji="0" lang="ja-JP" altLang="en-US" sz="1800" noProof="0" dirty="0"/>
                </a:p>
              </p:txBody>
            </p:sp>
          </p:grpSp>
        </p:grpSp>
      </p:grpSp>
      <p:sp>
        <p:nvSpPr>
          <p:cNvPr id="9" name="タイトル プレースホルダー 8"/>
          <p:cNvSpPr>
            <a:spLocks noGrp="1"/>
          </p:cNvSpPr>
          <p:nvPr>
            <p:ph type="title"/>
          </p:nvPr>
        </p:nvSpPr>
        <p:spPr>
          <a:xfrm>
            <a:off x="609600" y="704088"/>
            <a:ext cx="10972800" cy="1143000"/>
          </a:xfrm>
          <a:prstGeom prst="rect">
            <a:avLst/>
          </a:prstGeom>
        </p:spPr>
        <p:txBody>
          <a:bodyPr vert="horz" lIns="0" rIns="0" bIns="0" rtlCol="0" anchor="b">
            <a:normAutofit/>
          </a:bodyPr>
          <a:lstStyle/>
          <a:p>
            <a:pPr rtl="0"/>
            <a:r>
              <a:rPr lang="ja-JP" altLang="en-US" noProof="0" dirty="0"/>
              <a:t>クリックしてマスター タイトルのスタイルを編集</a:t>
            </a:r>
            <a:endParaRPr kumimoji="0" lang="ja-JP" altLang="en-US" noProof="0" dirty="0"/>
          </a:p>
        </p:txBody>
      </p:sp>
      <p:sp>
        <p:nvSpPr>
          <p:cNvPr id="30" name="テキスト プレースホルダー 29"/>
          <p:cNvSpPr>
            <a:spLocks noGrp="1"/>
          </p:cNvSpPr>
          <p:nvPr>
            <p:ph type="body" idx="1"/>
          </p:nvPr>
        </p:nvSpPr>
        <p:spPr>
          <a:xfrm>
            <a:off x="609600" y="1935480"/>
            <a:ext cx="10972800" cy="4343400"/>
          </a:xfrm>
          <a:prstGeom prst="rect">
            <a:avLst/>
          </a:prstGeom>
        </p:spPr>
        <p:txBody>
          <a:bodyPr vert="horz" rtlCol="0">
            <a:normAutofit/>
          </a:bodyPr>
          <a:lstStyle/>
          <a:p>
            <a:pPr lvl="0" rtl="0" eaLnBrk="1" latinLnBrk="0" hangingPunct="1"/>
            <a:r>
              <a:rPr lang="ja-JP" altLang="en-US" noProof="0" dirty="0"/>
              <a:t>クリックしてマスター テキストのスタイルを編集</a:t>
            </a:r>
          </a:p>
          <a:p>
            <a:pPr lvl="1" rtl="0" eaLnBrk="1" latinLnBrk="0" hangingPunct="1"/>
            <a:r>
              <a:rPr lang="ja-JP" altLang="en-US" noProof="0" dirty="0"/>
              <a:t>第 </a:t>
            </a:r>
            <a:r>
              <a:rPr lang="en-US" altLang="ja-JP" noProof="0" dirty="0"/>
              <a:t>2 </a:t>
            </a:r>
            <a:r>
              <a:rPr lang="ja-JP" altLang="en-US" noProof="0" dirty="0"/>
              <a:t>レベル</a:t>
            </a:r>
          </a:p>
          <a:p>
            <a:pPr lvl="2" rtl="0" eaLnBrk="1" latinLnBrk="0" hangingPunct="1"/>
            <a:r>
              <a:rPr lang="ja-JP" altLang="en-US" noProof="0" dirty="0"/>
              <a:t>第 </a:t>
            </a:r>
            <a:r>
              <a:rPr lang="en-US" altLang="ja-JP" noProof="0" dirty="0"/>
              <a:t>3 </a:t>
            </a:r>
            <a:r>
              <a:rPr lang="ja-JP" altLang="en-US" noProof="0" dirty="0"/>
              <a:t>レベル</a:t>
            </a:r>
          </a:p>
          <a:p>
            <a:pPr lvl="3" rtl="0" eaLnBrk="1" latinLnBrk="0" hangingPunct="1"/>
            <a:r>
              <a:rPr lang="ja-JP" altLang="en-US" noProof="0" dirty="0"/>
              <a:t>第 </a:t>
            </a:r>
            <a:r>
              <a:rPr lang="en-US" altLang="ja-JP" noProof="0" dirty="0"/>
              <a:t>4 </a:t>
            </a:r>
            <a:r>
              <a:rPr lang="ja-JP" altLang="en-US" noProof="0" dirty="0"/>
              <a:t>レベル</a:t>
            </a:r>
          </a:p>
          <a:p>
            <a:pPr lvl="4" rtl="0" eaLnBrk="1" latinLnBrk="0" hangingPunct="1"/>
            <a:r>
              <a:rPr lang="ja-JP" altLang="en-US" noProof="0" dirty="0"/>
              <a:t>第 </a:t>
            </a:r>
            <a:r>
              <a:rPr lang="en-US" altLang="ja-JP" noProof="0" dirty="0"/>
              <a:t>5 </a:t>
            </a:r>
            <a:r>
              <a:rPr lang="ja-JP" altLang="en-US" noProof="0" dirty="0"/>
              <a:t>レベル</a:t>
            </a:r>
          </a:p>
        </p:txBody>
      </p:sp>
      <p:sp>
        <p:nvSpPr>
          <p:cNvPr id="10" name="日付プレースホルダー 9"/>
          <p:cNvSpPr>
            <a:spLocks noGrp="1"/>
          </p:cNvSpPr>
          <p:nvPr>
            <p:ph type="dt" sz="half" idx="2"/>
          </p:nvPr>
        </p:nvSpPr>
        <p:spPr>
          <a:xfrm>
            <a:off x="609600" y="6356351"/>
            <a:ext cx="2844800" cy="365125"/>
          </a:xfrm>
          <a:prstGeom prst="rect">
            <a:avLst/>
          </a:prstGeom>
        </p:spPr>
        <p:txBody>
          <a:bodyPr vert="horz" lIns="0" tIns="0" rIns="0" bIns="0" rtlCol="0" anchor="b"/>
          <a:lstStyle>
            <a:lvl1pPr algn="l" eaLnBrk="1" latinLnBrk="0" hangingPunct="1">
              <a:defRPr kumimoji="0" sz="1100">
                <a:solidFill>
                  <a:schemeClr val="tx1"/>
                </a:solidFill>
                <a:latin typeface="ＭＳ 明朝" panose="02020609040205080304" pitchFamily="17" charset="-128"/>
                <a:ea typeface="ＭＳ 明朝" panose="02020609040205080304" pitchFamily="17" charset="-128"/>
              </a:defRPr>
            </a:lvl1pPr>
          </a:lstStyle>
          <a:p>
            <a:fld id="{196E8732-2B4B-4F0A-8362-53F7A7DF2931}" type="datetime4">
              <a:rPr lang="ja-JP" altLang="en-US" smtClean="0"/>
              <a:t>2026年10月1日</a:t>
            </a:fld>
            <a:endParaRPr lang="en-US" dirty="0"/>
          </a:p>
        </p:txBody>
      </p:sp>
      <p:sp>
        <p:nvSpPr>
          <p:cNvPr id="22" name="フッター プレースホルダー 21"/>
          <p:cNvSpPr>
            <a:spLocks noGrp="1"/>
          </p:cNvSpPr>
          <p:nvPr>
            <p:ph type="ftr" sz="quarter" idx="3"/>
          </p:nvPr>
        </p:nvSpPr>
        <p:spPr>
          <a:xfrm>
            <a:off x="3556000" y="6356351"/>
            <a:ext cx="4470400" cy="365125"/>
          </a:xfrm>
          <a:prstGeom prst="rect">
            <a:avLst/>
          </a:prstGeom>
        </p:spPr>
        <p:txBody>
          <a:bodyPr vert="horz" lIns="0" tIns="0" rIns="0" bIns="0" rtlCol="0" anchor="b"/>
          <a:lstStyle>
            <a:lvl1pPr algn="l" eaLnBrk="1" latinLnBrk="0" hangingPunct="1">
              <a:defRPr kumimoji="0" sz="1100">
                <a:solidFill>
                  <a:schemeClr val="tx1"/>
                </a:solidFill>
                <a:latin typeface="ＭＳ 明朝" panose="02020609040205080304" pitchFamily="17" charset="-128"/>
                <a:ea typeface="ＭＳ 明朝" panose="02020609040205080304" pitchFamily="17" charset="-128"/>
              </a:defRPr>
            </a:lvl1pPr>
          </a:lstStyle>
          <a:p>
            <a:r>
              <a:rPr lang="ja-JP" altLang="en-US" noProof="0" dirty="0"/>
              <a:t>フッターを追加</a:t>
            </a:r>
          </a:p>
        </p:txBody>
      </p:sp>
      <p:sp>
        <p:nvSpPr>
          <p:cNvPr id="18" name="スライド番号プレースホルダー 17"/>
          <p:cNvSpPr>
            <a:spLocks noGrp="1"/>
          </p:cNvSpPr>
          <p:nvPr>
            <p:ph type="sldNum" sz="quarter" idx="4"/>
          </p:nvPr>
        </p:nvSpPr>
        <p:spPr>
          <a:xfrm>
            <a:off x="10566400" y="6356351"/>
            <a:ext cx="1016000" cy="365125"/>
          </a:xfrm>
          <a:prstGeom prst="rect">
            <a:avLst/>
          </a:prstGeom>
        </p:spPr>
        <p:txBody>
          <a:bodyPr vert="horz" lIns="0" tIns="0" rIns="0" bIns="0" rtlCol="0" anchor="b"/>
          <a:lstStyle>
            <a:lvl1pPr algn="r" eaLnBrk="1" latinLnBrk="0" hangingPunct="1">
              <a:defRPr kumimoji="0" sz="1100">
                <a:solidFill>
                  <a:schemeClr val="tx1"/>
                </a:solidFill>
                <a:latin typeface="ＭＳ 明朝" panose="02020609040205080304" pitchFamily="17" charset="-128"/>
                <a:ea typeface="ＭＳ 明朝" panose="02020609040205080304" pitchFamily="17" charset="-128"/>
              </a:defRPr>
            </a:lvl1pPr>
          </a:lstStyle>
          <a:p>
            <a:fld id="{401CF334-2D5C-4859-84A6-CA7E6E43FAEB}" type="slidenum">
              <a:rPr lang="en-US" altLang="ja-JP" noProof="0" smtClean="0"/>
              <a:pPr/>
              <a:t>‹#›</a:t>
            </a:fld>
            <a:endParaRPr lang="ja-JP" altLang="en-US" noProof="0" dirty="0"/>
          </a:p>
        </p:txBody>
      </p:sp>
    </p:spTree>
    <p:extLst>
      <p:ext uri="{BB962C8B-B14F-4D97-AF65-F5344CB8AC3E}">
        <p14:creationId xmlns:p14="http://schemas.microsoft.com/office/powerpoint/2010/main" val="942852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lnSpc>
          <a:spcPct val="80000"/>
        </a:lnSpc>
        <a:spcBef>
          <a:spcPct val="0"/>
        </a:spcBef>
        <a:buNone/>
        <a:defRPr kumimoji="1" sz="5000" b="0" kern="1200">
          <a:ln>
            <a:noFill/>
          </a:ln>
          <a:solidFill>
            <a:schemeClr val="tx2"/>
          </a:solidFill>
          <a:effectLst/>
          <a:latin typeface="Meiryo UI" panose="020B0604030504040204" pitchFamily="50" charset="-128"/>
          <a:ea typeface="Meiryo UI" panose="020B0604030504040204" pitchFamily="50" charset="-128"/>
          <a:cs typeface="+mj-cs"/>
        </a:defRPr>
      </a:lvl1pPr>
    </p:titleStyle>
    <p:bodyStyle>
      <a:lvl1pPr marL="274320" indent="-274320" algn="l" rtl="0" eaLnBrk="1" latinLnBrk="0" hangingPunct="1">
        <a:spcBef>
          <a:spcPct val="20000"/>
        </a:spcBef>
        <a:buClr>
          <a:schemeClr val="accent3">
            <a:lumMod val="50000"/>
          </a:schemeClr>
        </a:buClr>
        <a:buSzPct val="95000"/>
        <a:buFont typeface="Wingdings 2"/>
        <a:buChar char=""/>
        <a:defRPr kumimoji="1" sz="2600" kern="1200">
          <a:solidFill>
            <a:schemeClr val="tx1"/>
          </a:solidFill>
          <a:latin typeface="ＭＳ 明朝" panose="02020609040205080304" pitchFamily="17" charset="-128"/>
          <a:ea typeface="ＭＳ 明朝" panose="02020609040205080304" pitchFamily="17" charset="-128"/>
          <a:cs typeface="+mn-cs"/>
        </a:defRPr>
      </a:lvl1pPr>
      <a:lvl2pPr marL="640080" indent="-246888" algn="l" rtl="0" eaLnBrk="1" latinLnBrk="0" hangingPunct="1">
        <a:spcBef>
          <a:spcPct val="20000"/>
        </a:spcBef>
        <a:buClr>
          <a:schemeClr val="accent1">
            <a:lumMod val="50000"/>
          </a:schemeClr>
        </a:buClr>
        <a:buSzPct val="85000"/>
        <a:buFont typeface="Wingdings 2"/>
        <a:buChar char=""/>
        <a:defRPr kumimoji="1" sz="2400" kern="1200">
          <a:solidFill>
            <a:schemeClr val="tx1"/>
          </a:solidFill>
          <a:latin typeface="ＭＳ 明朝" panose="02020609040205080304" pitchFamily="17" charset="-128"/>
          <a:ea typeface="ＭＳ 明朝" panose="02020609040205080304" pitchFamily="17" charset="-128"/>
          <a:cs typeface="+mn-cs"/>
        </a:defRPr>
      </a:lvl2pPr>
      <a:lvl3pPr marL="914400" indent="-246888" algn="l" rtl="0" eaLnBrk="1" latinLnBrk="0" hangingPunct="1">
        <a:spcBef>
          <a:spcPct val="20000"/>
        </a:spcBef>
        <a:buClr>
          <a:schemeClr val="accent2">
            <a:lumMod val="50000"/>
          </a:schemeClr>
        </a:buClr>
        <a:buSzPct val="70000"/>
        <a:buFont typeface="Wingdings 2"/>
        <a:buChar char=""/>
        <a:defRPr kumimoji="1" sz="2100" kern="1200">
          <a:solidFill>
            <a:schemeClr val="tx1"/>
          </a:solidFill>
          <a:latin typeface="ＭＳ 明朝" panose="02020609040205080304" pitchFamily="17" charset="-128"/>
          <a:ea typeface="ＭＳ 明朝" panose="02020609040205080304" pitchFamily="17" charset="-128"/>
          <a:cs typeface="+mn-cs"/>
        </a:defRPr>
      </a:lvl3pPr>
      <a:lvl4pPr marL="1188720" indent="-210312" algn="l" rtl="0" eaLnBrk="1" latinLnBrk="0" hangingPunct="1">
        <a:spcBef>
          <a:spcPct val="20000"/>
        </a:spcBef>
        <a:buClr>
          <a:schemeClr val="accent3">
            <a:lumMod val="50000"/>
          </a:schemeClr>
        </a:buClr>
        <a:buSzPct val="65000"/>
        <a:buFont typeface="Wingdings 2"/>
        <a:buChar char=""/>
        <a:defRPr kumimoji="1" sz="2000" kern="1200">
          <a:solidFill>
            <a:schemeClr val="tx1"/>
          </a:solidFill>
          <a:latin typeface="ＭＳ 明朝" panose="02020609040205080304" pitchFamily="17" charset="-128"/>
          <a:ea typeface="ＭＳ 明朝" panose="02020609040205080304" pitchFamily="17" charset="-128"/>
          <a:cs typeface="+mn-cs"/>
        </a:defRPr>
      </a:lvl4pPr>
      <a:lvl5pPr marL="1463040" indent="-210312" algn="l" rtl="0" eaLnBrk="1" latinLnBrk="0" hangingPunct="1">
        <a:spcBef>
          <a:spcPct val="20000"/>
        </a:spcBef>
        <a:buClr>
          <a:schemeClr val="accent4">
            <a:lumMod val="75000"/>
          </a:schemeClr>
        </a:buClr>
        <a:buSzPct val="65000"/>
        <a:buFont typeface="Wingdings 2"/>
        <a:buChar char=""/>
        <a:defRPr kumimoji="1" sz="2000" kern="1200">
          <a:solidFill>
            <a:schemeClr val="tx1"/>
          </a:solidFill>
          <a:latin typeface="ＭＳ 明朝" panose="02020609040205080304" pitchFamily="17" charset="-128"/>
          <a:ea typeface="ＭＳ 明朝" panose="02020609040205080304" pitchFamily="17" charset="-128"/>
          <a:cs typeface="+mn-cs"/>
        </a:defRPr>
      </a:lvl5pPr>
      <a:lvl6pPr marL="1737360" indent="-210312" algn="l" rtl="0" eaLnBrk="1" latinLnBrk="0" hangingPunct="1">
        <a:spcBef>
          <a:spcPct val="20000"/>
        </a:spcBef>
        <a:buClr>
          <a:schemeClr val="accent5">
            <a:lumMod val="50000"/>
          </a:schemeClr>
        </a:buClr>
        <a:buSzPct val="80000"/>
        <a:buFont typeface="Wingdings 2"/>
        <a:buChar char=""/>
        <a:defRPr kumimoji="1" sz="1800" kern="1200">
          <a:solidFill>
            <a:schemeClr val="tx1"/>
          </a:solidFill>
          <a:latin typeface="+mn-lt"/>
          <a:ea typeface="+mn-ea"/>
          <a:cs typeface="+mn-cs"/>
        </a:defRPr>
      </a:lvl6pPr>
      <a:lvl7pPr marL="1920240" indent="-182880" algn="l" rtl="0" eaLnBrk="1" latinLnBrk="0" hangingPunct="1">
        <a:spcBef>
          <a:spcPct val="20000"/>
        </a:spcBef>
        <a:buClr>
          <a:schemeClr val="accent6">
            <a:lumMod val="75000"/>
          </a:schemeClr>
        </a:buClr>
        <a:buSzPct val="80000"/>
        <a:buFont typeface="Wingdings 2"/>
        <a:buChar char=""/>
        <a:defRPr kumimoji="1"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1" sz="1600" kern="1200">
          <a:solidFill>
            <a:schemeClr val="tx1"/>
          </a:solidFill>
          <a:latin typeface="+mn-lt"/>
          <a:ea typeface="+mn-ea"/>
          <a:cs typeface="+mn-cs"/>
        </a:defRPr>
      </a:lvl8pPr>
      <a:lvl9pPr marL="2286000" indent="0" algn="l" rtl="0" eaLnBrk="1" latinLnBrk="0" hangingPunct="1">
        <a:spcBef>
          <a:spcPct val="20000"/>
        </a:spcBef>
        <a:buClr>
          <a:schemeClr val="tx2"/>
        </a:buClr>
        <a:buFontTx/>
        <a:buNone/>
        <a:defRPr kumimoji="1" sz="1400" kern="1200" baseline="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opo.iisj.net/index.php/osls/article/view/2351"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a:xfrm>
            <a:off x="241300" y="1346200"/>
            <a:ext cx="11709400" cy="1828800"/>
          </a:xfrm>
        </p:spPr>
        <p:txBody>
          <a:bodyPr rtlCol="0">
            <a:noAutofit/>
          </a:bodyPr>
          <a:lstStyle/>
          <a:p>
            <a:pPr fontAlgn="t"/>
            <a:r>
              <a:rPr lang="ja-JP" altLang="ja-JP" sz="4000" b="0" dirty="0"/>
              <a:t>児童におけるダークパターン知識の行動活用に関する研究</a:t>
            </a:r>
            <a:br>
              <a:rPr lang="en-US" altLang="ja-JP" sz="4000" b="0" dirty="0"/>
            </a:br>
            <a:r>
              <a:rPr lang="ja-JP" altLang="ja-JP" sz="2800" b="0" dirty="0"/>
              <a:t>― シミュレーション環境を用いた実践的評価 ―</a:t>
            </a:r>
            <a:br>
              <a:rPr lang="ja-JP" altLang="ja-JP" sz="2800" b="0" dirty="0"/>
            </a:br>
            <a:endParaRPr lang="ja-JP" altLang="ja-JP" sz="2800" b="0" dirty="0"/>
          </a:p>
        </p:txBody>
      </p:sp>
      <p:sp>
        <p:nvSpPr>
          <p:cNvPr id="5" name="サブタイトル 4"/>
          <p:cNvSpPr>
            <a:spLocks noGrp="1"/>
          </p:cNvSpPr>
          <p:nvPr>
            <p:ph type="subTitle" idx="1"/>
          </p:nvPr>
        </p:nvSpPr>
        <p:spPr>
          <a:xfrm>
            <a:off x="5384800" y="3327400"/>
            <a:ext cx="6502400" cy="2717800"/>
          </a:xfrm>
        </p:spPr>
        <p:txBody>
          <a:bodyPr rtlCol="0">
            <a:normAutofit/>
          </a:bodyPr>
          <a:lstStyle/>
          <a:p>
            <a:pPr algn="l"/>
            <a:r>
              <a:rPr lang="zh-TW" altLang="en-US" sz="2400" dirty="0"/>
              <a:t>東京情報大学大学院 総合情報学研究科</a:t>
            </a:r>
            <a:endParaRPr lang="en-US" altLang="zh-TW" sz="2400" dirty="0"/>
          </a:p>
          <a:p>
            <a:pPr algn="l"/>
            <a:r>
              <a:rPr lang="zh-TW" altLang="en-US" sz="2400" dirty="0"/>
              <a:t>博士前期課程 </a:t>
            </a:r>
            <a:r>
              <a:rPr lang="en-US" altLang="zh-TW" sz="2400" dirty="0"/>
              <a:t>1</a:t>
            </a:r>
            <a:r>
              <a:rPr lang="zh-TW" altLang="en-US" sz="2400" dirty="0"/>
              <a:t>年 </a:t>
            </a:r>
            <a:endParaRPr lang="en-US" altLang="zh-TW" sz="2400" dirty="0"/>
          </a:p>
          <a:p>
            <a:pPr algn="l"/>
            <a:r>
              <a:rPr lang="en-US" altLang="ja-JP" sz="2400" dirty="0"/>
              <a:t>G26014 </a:t>
            </a:r>
            <a:r>
              <a:rPr lang="ja-JP" altLang="en-US" sz="2400" dirty="0"/>
              <a:t>西村和真</a:t>
            </a:r>
            <a:endParaRPr lang="en-US" altLang="ja-JP" sz="2400" dirty="0"/>
          </a:p>
          <a:p>
            <a:pPr algn="l"/>
            <a:r>
              <a:rPr lang="ja-JP" altLang="en-US" sz="2400" dirty="0"/>
              <a:t>主担当指導教員　斎藤 卓也</a:t>
            </a:r>
            <a:endParaRPr lang="en-US" altLang="ja-JP" sz="2400" dirty="0"/>
          </a:p>
          <a:p>
            <a:pPr algn="l"/>
            <a:r>
              <a:rPr lang="zh-CN" altLang="en-US" sz="2400" dirty="0"/>
              <a:t>副担当指導教授</a:t>
            </a:r>
            <a:r>
              <a:rPr lang="ja-JP" altLang="en-US" sz="2400" dirty="0"/>
              <a:t>：マッキンケネス・ジェームス</a:t>
            </a:r>
            <a:endParaRPr lang="en-US" altLang="ja-JP" sz="2400" dirty="0"/>
          </a:p>
          <a:p>
            <a:pPr algn="l"/>
            <a:r>
              <a:rPr lang="zh-CN" altLang="en-US" sz="2400" dirty="0"/>
              <a:t>副担当指導教授</a:t>
            </a:r>
            <a:r>
              <a:rPr lang="ja-JP" altLang="en-US" sz="2400" dirty="0"/>
              <a:t>：河野義広</a:t>
            </a:r>
            <a:endParaRPr lang="en-US" altLang="ja-JP" sz="2400" dirty="0"/>
          </a:p>
        </p:txBody>
      </p:sp>
    </p:spTree>
    <p:extLst>
      <p:ext uri="{BB962C8B-B14F-4D97-AF65-F5344CB8AC3E}">
        <p14:creationId xmlns:p14="http://schemas.microsoft.com/office/powerpoint/2010/main" val="3549628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609600" y="950831"/>
            <a:ext cx="11054080" cy="606552"/>
          </a:xfrm>
        </p:spPr>
        <p:txBody>
          <a:bodyPr rtlCol="0">
            <a:normAutofit fontScale="90000"/>
          </a:bodyPr>
          <a:lstStyle/>
          <a:p>
            <a:pPr rtl="0"/>
            <a:r>
              <a:rPr lang="ja-JP" altLang="en-US" dirty="0">
                <a:latin typeface="Meiryo UI" panose="020B0604030504040204" pitchFamily="50" charset="-128"/>
                <a:ea typeface="Meiryo UI" panose="020B0604030504040204" pitchFamily="50" charset="-128"/>
              </a:rPr>
              <a:t>研究背景</a:t>
            </a:r>
          </a:p>
        </p:txBody>
      </p:sp>
      <p:sp>
        <p:nvSpPr>
          <p:cNvPr id="2" name="コンテンツ プレースホルダー 1"/>
          <p:cNvSpPr>
            <a:spLocks noGrp="1"/>
          </p:cNvSpPr>
          <p:nvPr>
            <p:ph idx="1"/>
          </p:nvPr>
        </p:nvSpPr>
        <p:spPr>
          <a:xfrm>
            <a:off x="609600" y="1738811"/>
            <a:ext cx="10972800" cy="4815840"/>
          </a:xfrm>
        </p:spPr>
        <p:txBody>
          <a:bodyPr rtlCol="0"/>
          <a:lstStyle/>
          <a:p>
            <a:r>
              <a:rPr lang="ja-JP" altLang="ja-JP" dirty="0"/>
              <a:t>ダークパターン</a:t>
            </a:r>
            <a:endParaRPr lang="en-US" altLang="ja-JP" dirty="0"/>
          </a:p>
          <a:p>
            <a:pPr lvl="1"/>
            <a:r>
              <a:rPr lang="ja-JP" altLang="ja-JP" dirty="0"/>
              <a:t>ユーザを</a:t>
            </a:r>
            <a:r>
              <a:rPr lang="ja-JP" altLang="ja-JP" b="1" dirty="0"/>
              <a:t>意図しない意思決定へ誘導する</a:t>
            </a:r>
            <a:r>
              <a:rPr lang="ja-JP" altLang="ja-JP" dirty="0"/>
              <a:t>ため</a:t>
            </a:r>
            <a:r>
              <a:rPr lang="ja-JP" altLang="en-US" dirty="0"/>
              <a:t>の</a:t>
            </a:r>
            <a:r>
              <a:rPr lang="ja-JP" altLang="ja-JP" dirty="0"/>
              <a:t>UI/UXデザイン</a:t>
            </a:r>
            <a:endParaRPr lang="en-US" altLang="ja-JP" dirty="0"/>
          </a:p>
          <a:p>
            <a:pPr lvl="1"/>
            <a:r>
              <a:rPr lang="ja-JP" altLang="ja-JP" dirty="0"/>
              <a:t>オンラインサービス全体で広く利用されている[1]</a:t>
            </a:r>
            <a:endParaRPr lang="en-US" altLang="ja-JP" dirty="0"/>
          </a:p>
          <a:p>
            <a:pPr marL="365760" lvl="1" indent="0">
              <a:buNone/>
            </a:pPr>
            <a:r>
              <a:rPr lang="ja-JP" altLang="en-US" b="1" dirty="0"/>
              <a:t>　　→　サブスクリプション加入、不要な商品の購入、個人情報提供等</a:t>
            </a:r>
            <a:endParaRPr lang="en-US" altLang="ja-JP" b="1" dirty="0"/>
          </a:p>
          <a:p>
            <a:pPr marL="0" indent="0">
              <a:buNone/>
            </a:pPr>
            <a:endParaRPr lang="en-US" altLang="ja-JP" b="1" dirty="0"/>
          </a:p>
          <a:p>
            <a:r>
              <a:rPr lang="ja-JP" altLang="ja-JP" dirty="0"/>
              <a:t>消費者庁掲載資料では、ダークパターンによる年間の推定被害額は</a:t>
            </a:r>
            <a:br>
              <a:rPr lang="en-US" altLang="ja-JP" dirty="0"/>
            </a:br>
            <a:r>
              <a:rPr lang="ja-JP" altLang="ja-JP" dirty="0"/>
              <a:t>約1兆575億〜1兆6,760億円と試算されている</a:t>
            </a:r>
            <a:r>
              <a:rPr lang="en-US" altLang="ja-JP" b="1" dirty="0"/>
              <a:t>[2]</a:t>
            </a:r>
            <a:endParaRPr lang="ja-JP" altLang="ja-JP" dirty="0"/>
          </a:p>
        </p:txBody>
      </p:sp>
    </p:spTree>
    <p:extLst>
      <p:ext uri="{BB962C8B-B14F-4D97-AF65-F5344CB8AC3E}">
        <p14:creationId xmlns:p14="http://schemas.microsoft.com/office/powerpoint/2010/main" val="3339554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9D3EC-1A5C-E064-D323-63C11B39C2B8}"/>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C83222F-0AF2-4B7E-CA6A-6D385E0BE791}"/>
              </a:ext>
            </a:extLst>
          </p:cNvPr>
          <p:cNvSpPr>
            <a:spLocks noGrp="1"/>
          </p:cNvSpPr>
          <p:nvPr>
            <p:ph type="title"/>
          </p:nvPr>
        </p:nvSpPr>
        <p:spPr>
          <a:xfrm>
            <a:off x="609600" y="863080"/>
            <a:ext cx="11054080" cy="606552"/>
          </a:xfrm>
        </p:spPr>
        <p:txBody>
          <a:bodyPr rtlCol="0">
            <a:normAutofit fontScale="90000"/>
          </a:bodyPr>
          <a:lstStyle/>
          <a:p>
            <a:r>
              <a:rPr lang="ja-JP" altLang="en-US" dirty="0">
                <a:latin typeface="Meiryo UI" panose="020B0604030504040204" pitchFamily="50" charset="-128"/>
                <a:ea typeface="Meiryo UI" panose="020B0604030504040204" pitchFamily="50" charset="-128"/>
              </a:rPr>
              <a:t>研究背景（</a:t>
            </a:r>
            <a:r>
              <a:rPr lang="ja-JP" altLang="ja-JP" sz="5400" dirty="0"/>
              <a:t>技術的対策の限界</a:t>
            </a:r>
            <a:r>
              <a:rPr lang="ja-JP" altLang="en-US" dirty="0">
                <a:latin typeface="Meiryo UI" panose="020B0604030504040204" pitchFamily="50" charset="-128"/>
                <a:ea typeface="Meiryo UI" panose="020B0604030504040204" pitchFamily="50" charset="-128"/>
              </a:rPr>
              <a:t>）</a:t>
            </a:r>
          </a:p>
        </p:txBody>
      </p:sp>
      <p:sp>
        <p:nvSpPr>
          <p:cNvPr id="2" name="コンテンツ プレースホルダー 1">
            <a:extLst>
              <a:ext uri="{FF2B5EF4-FFF2-40B4-BE49-F238E27FC236}">
                <a16:creationId xmlns:a16="http://schemas.microsoft.com/office/drawing/2014/main" id="{EA2921F2-AC25-C14B-A95D-7ACF405ED56B}"/>
              </a:ext>
            </a:extLst>
          </p:cNvPr>
          <p:cNvSpPr>
            <a:spLocks noGrp="1"/>
          </p:cNvSpPr>
          <p:nvPr>
            <p:ph idx="1"/>
          </p:nvPr>
        </p:nvSpPr>
        <p:spPr>
          <a:xfrm>
            <a:off x="609600" y="1651726"/>
            <a:ext cx="10972800" cy="4815840"/>
          </a:xfrm>
        </p:spPr>
        <p:txBody>
          <a:bodyPr rtlCol="0"/>
          <a:lstStyle/>
          <a:p>
            <a:r>
              <a:rPr lang="ja-JP" altLang="ja-JP" dirty="0"/>
              <a:t>Mathurら（2019）は、自動検知手法を用いて約11,000のショッピングサイトを分析</a:t>
            </a:r>
            <a:r>
              <a:rPr lang="ja-JP" altLang="en-US" dirty="0"/>
              <a:t>。</a:t>
            </a:r>
            <a:r>
              <a:rPr lang="ja-JP" altLang="ja-JP" dirty="0"/>
              <a:t> </a:t>
            </a:r>
            <a:r>
              <a:rPr lang="en-US" altLang="ja-JP" dirty="0"/>
              <a:t>1800</a:t>
            </a:r>
            <a:r>
              <a:rPr lang="ja-JP" altLang="en-US" dirty="0"/>
              <a:t>件のダークパターンが検出された。</a:t>
            </a:r>
            <a:r>
              <a:rPr lang="en-US" altLang="ja-JP" dirty="0"/>
              <a:t>[3]</a:t>
            </a:r>
          </a:p>
          <a:p>
            <a:pPr marL="0" indent="0">
              <a:buNone/>
            </a:pPr>
            <a:r>
              <a:rPr lang="en-US" altLang="ja-JP" dirty="0"/>
              <a:t>	</a:t>
            </a:r>
            <a:r>
              <a:rPr lang="ja-JP" altLang="en-US" dirty="0"/>
              <a:t>→　技術のいたちごっこは</a:t>
            </a:r>
            <a:r>
              <a:rPr lang="ja-JP" altLang="ja-JP" dirty="0"/>
              <a:t>今後さらに加速する可能性</a:t>
            </a:r>
            <a:endParaRPr lang="en-US" altLang="ja-JP" dirty="0"/>
          </a:p>
          <a:p>
            <a:pPr marL="0" indent="0">
              <a:buNone/>
            </a:pPr>
            <a:endParaRPr lang="en-US" altLang="ja-JP" b="1" dirty="0"/>
          </a:p>
          <a:p>
            <a:r>
              <a:rPr lang="ja-JP" altLang="ja-JP" dirty="0"/>
              <a:t>Leonら（2012）は，Opt-in型の保護手法</a:t>
            </a:r>
            <a:r>
              <a:rPr lang="ja-JP" altLang="en-US" dirty="0"/>
              <a:t>（ユーザ自身が導入し設定すること）</a:t>
            </a:r>
            <a:r>
              <a:rPr lang="ja-JP" altLang="ja-JP" dirty="0"/>
              <a:t>には困難さがあることを指摘した。</a:t>
            </a:r>
            <a:r>
              <a:rPr lang="en-US" altLang="ja-JP" dirty="0"/>
              <a:t>[4]</a:t>
            </a:r>
          </a:p>
          <a:p>
            <a:pPr marL="0" indent="0" fontAlgn="t">
              <a:buNone/>
            </a:pPr>
            <a:r>
              <a:rPr lang="ja-JP" altLang="en-US" dirty="0"/>
              <a:t>　</a:t>
            </a:r>
            <a:r>
              <a:rPr lang="en-US" altLang="ja-JP" dirty="0"/>
              <a:t>	</a:t>
            </a:r>
            <a:r>
              <a:rPr lang="ja-JP" altLang="en-US" dirty="0"/>
              <a:t>→　</a:t>
            </a:r>
            <a:r>
              <a:rPr lang="ja-JP" altLang="ja-JP" dirty="0"/>
              <a:t>利用者が導入しなければ機能しない</a:t>
            </a:r>
          </a:p>
        </p:txBody>
      </p:sp>
      <p:sp>
        <p:nvSpPr>
          <p:cNvPr id="4" name="テキスト ボックス 3">
            <a:extLst>
              <a:ext uri="{FF2B5EF4-FFF2-40B4-BE49-F238E27FC236}">
                <a16:creationId xmlns:a16="http://schemas.microsoft.com/office/drawing/2014/main" id="{ECD736BA-C47A-C377-B9DA-A185B5530A51}"/>
              </a:ext>
            </a:extLst>
          </p:cNvPr>
          <p:cNvSpPr txBox="1"/>
          <p:nvPr/>
        </p:nvSpPr>
        <p:spPr>
          <a:xfrm>
            <a:off x="1600200" y="5080000"/>
            <a:ext cx="8953500" cy="1569660"/>
          </a:xfrm>
          <a:prstGeom prst="rect">
            <a:avLst/>
          </a:prstGeom>
          <a:ln w="57150"/>
        </p:spPr>
        <p:style>
          <a:lnRef idx="2">
            <a:schemeClr val="accent3"/>
          </a:lnRef>
          <a:fillRef idx="1">
            <a:schemeClr val="lt1"/>
          </a:fillRef>
          <a:effectRef idx="0">
            <a:schemeClr val="accent3"/>
          </a:effectRef>
          <a:fontRef idx="minor">
            <a:schemeClr val="dk1"/>
          </a:fontRef>
        </p:style>
        <p:txBody>
          <a:bodyPr wrap="square" rtlCol="0">
            <a:spAutoFit/>
          </a:bodyPr>
          <a:lstStyle/>
          <a:p>
            <a:r>
              <a:rPr lang="ja-JP" altLang="ja-JP" sz="3200" dirty="0"/>
              <a:t>利用者自身がダークパターンを認識・回避する能力</a:t>
            </a:r>
            <a:r>
              <a:rPr lang="ja-JP" altLang="en-US" sz="3200" dirty="0"/>
              <a:t>育成が</a:t>
            </a:r>
            <a:r>
              <a:rPr lang="ja-JP" altLang="ja-JP" sz="3200" dirty="0"/>
              <a:t>重要</a:t>
            </a:r>
          </a:p>
          <a:p>
            <a:endParaRPr kumimoji="1" lang="ja-JP" altLang="en-US" sz="3200" dirty="0" err="1"/>
          </a:p>
        </p:txBody>
      </p:sp>
    </p:spTree>
    <p:extLst>
      <p:ext uri="{BB962C8B-B14F-4D97-AF65-F5344CB8AC3E}">
        <p14:creationId xmlns:p14="http://schemas.microsoft.com/office/powerpoint/2010/main" val="2101085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BD14-CC0F-4443-E828-6FC37EC9A71A}"/>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A903577-709F-91E0-8734-B0FF01B0B16F}"/>
              </a:ext>
            </a:extLst>
          </p:cNvPr>
          <p:cNvSpPr>
            <a:spLocks noGrp="1"/>
          </p:cNvSpPr>
          <p:nvPr>
            <p:ph type="title"/>
          </p:nvPr>
        </p:nvSpPr>
        <p:spPr>
          <a:xfrm>
            <a:off x="568960" y="994374"/>
            <a:ext cx="11054080" cy="606552"/>
          </a:xfrm>
        </p:spPr>
        <p:txBody>
          <a:bodyPr rtlCol="0">
            <a:normAutofit/>
          </a:bodyPr>
          <a:lstStyle/>
          <a:p>
            <a:r>
              <a:rPr lang="ja-JP" altLang="en-US" sz="4500" dirty="0"/>
              <a:t>研究背景（教育アプローチの必要性）</a:t>
            </a:r>
          </a:p>
        </p:txBody>
      </p:sp>
      <p:sp>
        <p:nvSpPr>
          <p:cNvPr id="2" name="コンテンツ プレースホルダー 1">
            <a:extLst>
              <a:ext uri="{FF2B5EF4-FFF2-40B4-BE49-F238E27FC236}">
                <a16:creationId xmlns:a16="http://schemas.microsoft.com/office/drawing/2014/main" id="{A25CCE1B-8A83-8C0F-C65B-BEB5AB5574A2}"/>
              </a:ext>
            </a:extLst>
          </p:cNvPr>
          <p:cNvSpPr>
            <a:spLocks noGrp="1"/>
          </p:cNvSpPr>
          <p:nvPr>
            <p:ph idx="1"/>
          </p:nvPr>
        </p:nvSpPr>
        <p:spPr>
          <a:xfrm>
            <a:off x="568960" y="1753326"/>
            <a:ext cx="11054080" cy="1115268"/>
          </a:xfrm>
        </p:spPr>
        <p:txBody>
          <a:bodyPr rtlCol="0"/>
          <a:lstStyle/>
          <a:p>
            <a:pPr fontAlgn="t"/>
            <a:r>
              <a:rPr lang="ja-JP" altLang="ja-JP" dirty="0"/>
              <a:t>Oliveira（2026）は，子どもを前提とした対策が， より広いデジタル脆弱性への基本的な対応となりうると指摘している[</a:t>
            </a:r>
            <a:r>
              <a:rPr lang="en-US" altLang="ja-JP" dirty="0"/>
              <a:t>5</a:t>
            </a:r>
            <a:r>
              <a:rPr lang="ja-JP" altLang="ja-JP" dirty="0"/>
              <a:t>]</a:t>
            </a:r>
          </a:p>
        </p:txBody>
      </p:sp>
      <p:sp>
        <p:nvSpPr>
          <p:cNvPr id="4" name="テキスト ボックス 3">
            <a:extLst>
              <a:ext uri="{FF2B5EF4-FFF2-40B4-BE49-F238E27FC236}">
                <a16:creationId xmlns:a16="http://schemas.microsoft.com/office/drawing/2014/main" id="{41893A02-FBF7-A12C-31E2-4C6F980BC2F8}"/>
              </a:ext>
            </a:extLst>
          </p:cNvPr>
          <p:cNvSpPr txBox="1"/>
          <p:nvPr/>
        </p:nvSpPr>
        <p:spPr>
          <a:xfrm>
            <a:off x="868919" y="3020994"/>
            <a:ext cx="10372881" cy="707886"/>
          </a:xfrm>
          <a:prstGeom prst="rect">
            <a:avLst/>
          </a:prstGeom>
          <a:noFill/>
          <a:ln>
            <a:noFill/>
          </a:ln>
        </p:spPr>
        <p:txBody>
          <a:bodyPr wrap="square" rtlCol="0">
            <a:spAutoFit/>
          </a:bodyPr>
          <a:lstStyle/>
          <a:p>
            <a:r>
              <a:rPr lang="ja-JP" altLang="ja-JP" sz="4000" dirty="0">
                <a:latin typeface="Meiryo UI" panose="020B0604030504040204" pitchFamily="50" charset="-128"/>
                <a:ea typeface="Meiryo UI" panose="020B0604030504040204" pitchFamily="50" charset="-128"/>
              </a:rPr>
              <a:t>児童</a:t>
            </a:r>
            <a:r>
              <a:rPr lang="ja-JP" altLang="en-US" sz="4000" dirty="0">
                <a:latin typeface="Meiryo UI" panose="020B0604030504040204" pitchFamily="50" charset="-128"/>
                <a:ea typeface="Meiryo UI" panose="020B0604030504040204" pitchFamily="50" charset="-128"/>
              </a:rPr>
              <a:t>に対し</a:t>
            </a:r>
            <a:r>
              <a:rPr lang="ja-JP" altLang="ja-JP" sz="4000" dirty="0">
                <a:latin typeface="Meiryo UI" panose="020B0604030504040204" pitchFamily="50" charset="-128"/>
                <a:ea typeface="Meiryo UI" panose="020B0604030504040204" pitchFamily="50" charset="-128"/>
              </a:rPr>
              <a:t>ダークパターンへの対処能力を育成す</a:t>
            </a:r>
            <a:r>
              <a:rPr lang="ja-JP" altLang="en-US" sz="4000" dirty="0">
                <a:latin typeface="Meiryo UI" panose="020B0604030504040204" pitchFamily="50" charset="-128"/>
                <a:ea typeface="Meiryo UI" panose="020B0604030504040204" pitchFamily="50" charset="-128"/>
              </a:rPr>
              <a:t>る</a:t>
            </a:r>
            <a:endParaRPr kumimoji="1" lang="ja-JP" altLang="en-US" sz="4000" dirty="0"/>
          </a:p>
        </p:txBody>
      </p:sp>
      <p:sp>
        <p:nvSpPr>
          <p:cNvPr id="5" name="テキスト ボックス 4">
            <a:extLst>
              <a:ext uri="{FF2B5EF4-FFF2-40B4-BE49-F238E27FC236}">
                <a16:creationId xmlns:a16="http://schemas.microsoft.com/office/drawing/2014/main" id="{0E1C7A59-2BBC-F0A7-ED84-88FA9B118C11}"/>
              </a:ext>
            </a:extLst>
          </p:cNvPr>
          <p:cNvSpPr txBox="1"/>
          <p:nvPr/>
        </p:nvSpPr>
        <p:spPr>
          <a:xfrm>
            <a:off x="763832" y="4977360"/>
            <a:ext cx="11054080" cy="707886"/>
          </a:xfrm>
          <a:prstGeom prst="rect">
            <a:avLst/>
          </a:prstGeom>
          <a:noFill/>
          <a:ln>
            <a:noFill/>
          </a:ln>
        </p:spPr>
        <p:txBody>
          <a:bodyPr wrap="square" rtlCol="0">
            <a:spAutoFit/>
          </a:bodyPr>
          <a:lstStyle/>
          <a:p>
            <a:pPr lvl="0">
              <a:defRPr/>
            </a:pPr>
            <a:r>
              <a:rPr lang="ja-JP" altLang="ja-JP" sz="4000" dirty="0">
                <a:latin typeface="Meiryo UI" panose="020B0604030504040204" pitchFamily="50" charset="-128"/>
                <a:ea typeface="Meiryo UI" panose="020B0604030504040204" pitchFamily="50" charset="-128"/>
              </a:rPr>
              <a:t>結果として利用者全体の対処能力の向上につながる</a:t>
            </a:r>
          </a:p>
        </p:txBody>
      </p:sp>
      <p:cxnSp>
        <p:nvCxnSpPr>
          <p:cNvPr id="7" name="直線矢印コネクタ 6">
            <a:extLst>
              <a:ext uri="{FF2B5EF4-FFF2-40B4-BE49-F238E27FC236}">
                <a16:creationId xmlns:a16="http://schemas.microsoft.com/office/drawing/2014/main" id="{F325EC0A-545D-9175-EBB1-B3A880657B07}"/>
              </a:ext>
            </a:extLst>
          </p:cNvPr>
          <p:cNvCxnSpPr>
            <a:cxnSpLocks/>
          </p:cNvCxnSpPr>
          <p:nvPr/>
        </p:nvCxnSpPr>
        <p:spPr>
          <a:xfrm>
            <a:off x="6055359" y="3881280"/>
            <a:ext cx="0" cy="936036"/>
          </a:xfrm>
          <a:prstGeom prst="straightConnector1">
            <a:avLst/>
          </a:prstGeom>
          <a:ln w="762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34892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E431E-DAF1-030E-85A1-6EABA661A387}"/>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F7C925E-50AD-94D9-ECEC-F63115100BB3}"/>
              </a:ext>
            </a:extLst>
          </p:cNvPr>
          <p:cNvSpPr>
            <a:spLocks noGrp="1"/>
          </p:cNvSpPr>
          <p:nvPr>
            <p:ph type="title"/>
          </p:nvPr>
        </p:nvSpPr>
        <p:spPr>
          <a:xfrm>
            <a:off x="568960" y="961716"/>
            <a:ext cx="11054080" cy="606552"/>
          </a:xfrm>
        </p:spPr>
        <p:txBody>
          <a:bodyPr rtlCol="0">
            <a:normAutofit fontScale="90000"/>
          </a:bodyPr>
          <a:lstStyle/>
          <a:p>
            <a:pPr rtl="0"/>
            <a:r>
              <a:rPr lang="ja-JP" altLang="en-US" dirty="0">
                <a:latin typeface="Meiryo UI" panose="020B0604030504040204" pitchFamily="50" charset="-128"/>
                <a:ea typeface="Meiryo UI" panose="020B0604030504040204" pitchFamily="50" charset="-128"/>
              </a:rPr>
              <a:t>先行研究</a:t>
            </a:r>
          </a:p>
        </p:txBody>
      </p:sp>
      <p:sp>
        <p:nvSpPr>
          <p:cNvPr id="2" name="コンテンツ プレースホルダー 1">
            <a:extLst>
              <a:ext uri="{FF2B5EF4-FFF2-40B4-BE49-F238E27FC236}">
                <a16:creationId xmlns:a16="http://schemas.microsoft.com/office/drawing/2014/main" id="{C4FF6640-9EF9-93D9-02AC-6EB164719F95}"/>
              </a:ext>
            </a:extLst>
          </p:cNvPr>
          <p:cNvSpPr>
            <a:spLocks noGrp="1"/>
          </p:cNvSpPr>
          <p:nvPr>
            <p:ph idx="1"/>
          </p:nvPr>
        </p:nvSpPr>
        <p:spPr>
          <a:xfrm>
            <a:off x="568960" y="1568268"/>
            <a:ext cx="11417301" cy="4791190"/>
          </a:xfrm>
        </p:spPr>
        <p:txBody>
          <a:bodyPr rtlCol="0">
            <a:normAutofit/>
          </a:bodyPr>
          <a:lstStyle/>
          <a:p>
            <a:pPr fontAlgn="t"/>
            <a:r>
              <a:rPr lang="ja-JP" altLang="ja-JP" sz="2200" dirty="0"/>
              <a:t>Khan, N., Daud, H. E., &amp; Shahid, S. (2025). Mind the Dark: A Gamified Exploration of Deceptive Design Awareness for Children in the Digital Age</a:t>
            </a:r>
            <a:r>
              <a:rPr lang="en-US" altLang="ja-JP" sz="2200" dirty="0"/>
              <a:t>[6]</a:t>
            </a:r>
            <a:endParaRPr lang="en-US" altLang="ja-JP" dirty="0"/>
          </a:p>
          <a:p>
            <a:pPr fontAlgn="t"/>
            <a:r>
              <a:rPr lang="ja-JP" altLang="en-US" sz="2400" b="1" dirty="0"/>
              <a:t>手法</a:t>
            </a:r>
            <a:endParaRPr lang="en-US" altLang="ja-JP" sz="2400" b="1" dirty="0"/>
          </a:p>
          <a:p>
            <a:pPr lvl="1" fontAlgn="t"/>
            <a:r>
              <a:rPr lang="ja-JP" altLang="ja-JP" sz="2200" dirty="0"/>
              <a:t>児童147名に対して講義前後の行動変化を評価</a:t>
            </a:r>
            <a:endParaRPr lang="en-US" altLang="ja-JP" sz="2200" dirty="0"/>
          </a:p>
          <a:p>
            <a:pPr lvl="1" fontAlgn="t"/>
            <a:r>
              <a:rPr lang="ja-JP" altLang="en-US" sz="2200" dirty="0"/>
              <a:t>その結果をもとに児童</a:t>
            </a:r>
            <a:r>
              <a:rPr lang="ja-JP" altLang="ja-JP" sz="2200" dirty="0"/>
              <a:t>36名Webアプリを用いた評価を実施</a:t>
            </a:r>
          </a:p>
          <a:p>
            <a:pPr fontAlgn="t"/>
            <a:r>
              <a:rPr lang="ja-JP" altLang="en-US" sz="2400" b="1" dirty="0"/>
              <a:t>結果</a:t>
            </a:r>
            <a:endParaRPr lang="en-US" altLang="ja-JP" sz="2400" b="1" dirty="0"/>
          </a:p>
          <a:p>
            <a:pPr lvl="1" fontAlgn="t"/>
            <a:r>
              <a:rPr lang="ja-JP" altLang="ja-JP" dirty="0"/>
              <a:t>講義後，課金行動が減少し回避行動が増加（理解向上）</a:t>
            </a:r>
            <a:endParaRPr lang="en-US" altLang="ja-JP" dirty="0"/>
          </a:p>
          <a:p>
            <a:pPr lvl="1" fontAlgn="t"/>
            <a:r>
              <a:rPr lang="ja-JP" altLang="ja-JP" dirty="0"/>
              <a:t>アプリにより理解促進や参加意欲の向上を確認</a:t>
            </a:r>
          </a:p>
          <a:p>
            <a:pPr fontAlgn="t"/>
            <a:r>
              <a:rPr lang="ja-JP" altLang="en-US" b="1" dirty="0"/>
              <a:t>課題</a:t>
            </a:r>
            <a:endParaRPr lang="ja-JP" altLang="ja-JP" dirty="0"/>
          </a:p>
          <a:p>
            <a:pPr marL="0" indent="0" fontAlgn="t">
              <a:buNone/>
            </a:pPr>
            <a:endParaRPr lang="en-US" altLang="ja-JP" dirty="0"/>
          </a:p>
        </p:txBody>
      </p:sp>
      <p:sp>
        <p:nvSpPr>
          <p:cNvPr id="8" name="テキスト ボックス 7">
            <a:extLst>
              <a:ext uri="{FF2B5EF4-FFF2-40B4-BE49-F238E27FC236}">
                <a16:creationId xmlns:a16="http://schemas.microsoft.com/office/drawing/2014/main" id="{7298C9DD-7CEC-DB2A-47A3-178A4E5AB283}"/>
              </a:ext>
            </a:extLst>
          </p:cNvPr>
          <p:cNvSpPr txBox="1"/>
          <p:nvPr/>
        </p:nvSpPr>
        <p:spPr>
          <a:xfrm>
            <a:off x="1322069" y="5428089"/>
            <a:ext cx="9547861" cy="1200329"/>
          </a:xfrm>
          <a:prstGeom prst="rect">
            <a:avLst/>
          </a:prstGeom>
          <a:ln w="57150"/>
        </p:spPr>
        <p:style>
          <a:lnRef idx="2">
            <a:schemeClr val="accent3"/>
          </a:lnRef>
          <a:fillRef idx="1">
            <a:schemeClr val="lt1"/>
          </a:fillRef>
          <a:effectRef idx="0">
            <a:schemeClr val="accent3"/>
          </a:effectRef>
          <a:fontRef idx="minor">
            <a:schemeClr val="dk1"/>
          </a:fontRef>
        </p:style>
        <p:txBody>
          <a:bodyPr wrap="square" rtlCol="0">
            <a:spAutoFit/>
          </a:bodyPr>
          <a:lstStyle/>
          <a:p>
            <a:r>
              <a:rPr kumimoji="1" lang="ja-JP" altLang="ja-JP" sz="2400" dirty="0">
                <a:solidFill>
                  <a:schemeClr val="tx1"/>
                </a:solidFill>
                <a:latin typeface="ＭＳ 明朝" panose="02020609040205080304" pitchFamily="17" charset="-128"/>
                <a:ea typeface="ＭＳ 明朝" panose="02020609040205080304" pitchFamily="17" charset="-128"/>
              </a:rPr>
              <a:t>評価は講義直後の限定シナリオ</a:t>
            </a:r>
            <a:r>
              <a:rPr kumimoji="1" lang="ja-JP" altLang="en-US" sz="2400" dirty="0">
                <a:solidFill>
                  <a:schemeClr val="tx1"/>
                </a:solidFill>
                <a:latin typeface="ＭＳ 明朝" panose="02020609040205080304" pitchFamily="17" charset="-128"/>
                <a:ea typeface="ＭＳ 明朝" panose="02020609040205080304" pitchFamily="17" charset="-128"/>
              </a:rPr>
              <a:t>での</a:t>
            </a:r>
            <a:r>
              <a:rPr kumimoji="1" lang="ja-JP" altLang="ja-JP" sz="2400" dirty="0">
                <a:solidFill>
                  <a:schemeClr val="tx1"/>
                </a:solidFill>
                <a:latin typeface="ＭＳ 明朝" panose="02020609040205080304" pitchFamily="17" charset="-128"/>
                <a:ea typeface="ＭＳ 明朝" panose="02020609040205080304" pitchFamily="17" charset="-128"/>
              </a:rPr>
              <a:t>観察・インタビュー</a:t>
            </a:r>
            <a:r>
              <a:rPr kumimoji="1" lang="ja-JP" altLang="en-US" sz="2400" dirty="0">
                <a:solidFill>
                  <a:schemeClr val="tx1"/>
                </a:solidFill>
                <a:latin typeface="ＭＳ 明朝" panose="02020609040205080304" pitchFamily="17" charset="-128"/>
                <a:ea typeface="ＭＳ 明朝" panose="02020609040205080304" pitchFamily="17" charset="-128"/>
              </a:rPr>
              <a:t>・付箋</a:t>
            </a:r>
            <a:endParaRPr kumimoji="1" lang="en-US" altLang="ja-JP" sz="2400" dirty="0">
              <a:solidFill>
                <a:schemeClr val="tx1"/>
              </a:solidFill>
              <a:latin typeface="ＭＳ 明朝" panose="02020609040205080304" pitchFamily="17" charset="-128"/>
              <a:ea typeface="ＭＳ 明朝" panose="02020609040205080304" pitchFamily="17" charset="-128"/>
            </a:endParaRPr>
          </a:p>
          <a:p>
            <a:r>
              <a:rPr kumimoji="1" lang="ja-JP" altLang="en-US" sz="2400" dirty="0">
                <a:solidFill>
                  <a:schemeClr val="tx1"/>
                </a:solidFill>
                <a:latin typeface="ＭＳ 明朝" panose="02020609040205080304" pitchFamily="17" charset="-128"/>
                <a:ea typeface="ＭＳ 明朝" panose="02020609040205080304" pitchFamily="17" charset="-128"/>
              </a:rPr>
              <a:t>　→　</a:t>
            </a:r>
            <a:r>
              <a:rPr kumimoji="1" lang="ja-JP" altLang="ja-JP" sz="2400" dirty="0">
                <a:solidFill>
                  <a:schemeClr val="tx1"/>
                </a:solidFill>
                <a:latin typeface="ＭＳ 明朝" panose="02020609040205080304" pitchFamily="17" charset="-128"/>
                <a:ea typeface="ＭＳ 明朝" panose="02020609040205080304" pitchFamily="17" charset="-128"/>
              </a:rPr>
              <a:t>実際のWeb環境での</a:t>
            </a:r>
            <a:r>
              <a:rPr kumimoji="1" lang="ja-JP" altLang="en-US" sz="2400" dirty="0">
                <a:solidFill>
                  <a:schemeClr val="tx1"/>
                </a:solidFill>
                <a:latin typeface="ＭＳ 明朝" panose="02020609040205080304" pitchFamily="17" charset="-128"/>
                <a:ea typeface="ＭＳ 明朝" panose="02020609040205080304" pitchFamily="17" charset="-128"/>
              </a:rPr>
              <a:t>検証がなく、</a:t>
            </a:r>
            <a:r>
              <a:rPr kumimoji="1" lang="ja-JP" altLang="ja-JP" sz="2400" dirty="0">
                <a:solidFill>
                  <a:schemeClr val="tx1"/>
                </a:solidFill>
                <a:latin typeface="ＭＳ 明朝" panose="02020609040205080304" pitchFamily="17" charset="-128"/>
                <a:ea typeface="ＭＳ 明朝" panose="02020609040205080304" pitchFamily="17" charset="-128"/>
              </a:rPr>
              <a:t>行動としての活用（内面化）</a:t>
            </a:r>
            <a:endParaRPr kumimoji="1" lang="en-US" altLang="ja-JP" sz="2400" dirty="0">
              <a:solidFill>
                <a:schemeClr val="tx1"/>
              </a:solidFill>
              <a:latin typeface="ＭＳ 明朝" panose="02020609040205080304" pitchFamily="17" charset="-128"/>
              <a:ea typeface="ＭＳ 明朝" panose="02020609040205080304" pitchFamily="17" charset="-128"/>
            </a:endParaRPr>
          </a:p>
          <a:p>
            <a:r>
              <a:rPr kumimoji="1" lang="ja-JP" altLang="en-US" sz="2400" dirty="0">
                <a:solidFill>
                  <a:schemeClr val="tx1"/>
                </a:solidFill>
                <a:latin typeface="ＭＳ 明朝" panose="02020609040205080304" pitchFamily="17" charset="-128"/>
                <a:ea typeface="ＭＳ 明朝" panose="02020609040205080304" pitchFamily="17" charset="-128"/>
              </a:rPr>
              <a:t>　　　</a:t>
            </a:r>
            <a:r>
              <a:rPr kumimoji="1" lang="ja-JP" altLang="ja-JP" sz="2400" dirty="0">
                <a:solidFill>
                  <a:schemeClr val="tx1"/>
                </a:solidFill>
                <a:latin typeface="ＭＳ 明朝" panose="02020609040205080304" pitchFamily="17" charset="-128"/>
                <a:ea typeface="ＭＳ 明朝" panose="02020609040205080304" pitchFamily="17" charset="-128"/>
              </a:rPr>
              <a:t>は未検証</a:t>
            </a:r>
          </a:p>
        </p:txBody>
      </p:sp>
    </p:spTree>
    <p:extLst>
      <p:ext uri="{BB962C8B-B14F-4D97-AF65-F5344CB8AC3E}">
        <p14:creationId xmlns:p14="http://schemas.microsoft.com/office/powerpoint/2010/main" val="9365516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41353-EAC3-F81F-2D2D-32441E3DC39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8FA60CB6-00E7-E311-67DD-3AD7D6CF2E13}"/>
              </a:ext>
            </a:extLst>
          </p:cNvPr>
          <p:cNvSpPr>
            <a:spLocks noGrp="1"/>
          </p:cNvSpPr>
          <p:nvPr>
            <p:ph type="title"/>
          </p:nvPr>
        </p:nvSpPr>
        <p:spPr>
          <a:xfrm>
            <a:off x="568960" y="979859"/>
            <a:ext cx="11054080" cy="606552"/>
          </a:xfrm>
        </p:spPr>
        <p:txBody>
          <a:bodyPr rtlCol="0">
            <a:normAutofit fontScale="90000"/>
          </a:bodyPr>
          <a:lstStyle/>
          <a:p>
            <a:pPr rtl="0"/>
            <a:r>
              <a:rPr lang="ja-JP" altLang="en-US" dirty="0"/>
              <a:t>研究目的</a:t>
            </a:r>
            <a:endParaRPr lang="ja-JP" altLang="en-US" dirty="0">
              <a:latin typeface="Meiryo UI" panose="020B0604030504040204" pitchFamily="50" charset="-128"/>
              <a:ea typeface="Meiryo UI" panose="020B0604030504040204" pitchFamily="50" charset="-128"/>
            </a:endParaRPr>
          </a:p>
        </p:txBody>
      </p:sp>
      <p:sp>
        <p:nvSpPr>
          <p:cNvPr id="2" name="コンテンツ プレースホルダー 1">
            <a:extLst>
              <a:ext uri="{FF2B5EF4-FFF2-40B4-BE49-F238E27FC236}">
                <a16:creationId xmlns:a16="http://schemas.microsoft.com/office/drawing/2014/main" id="{32D4271E-2B94-8AE4-A59B-A4B629DF2C4C}"/>
              </a:ext>
            </a:extLst>
          </p:cNvPr>
          <p:cNvSpPr>
            <a:spLocks noGrp="1"/>
          </p:cNvSpPr>
          <p:nvPr>
            <p:ph idx="1"/>
          </p:nvPr>
        </p:nvSpPr>
        <p:spPr>
          <a:xfrm>
            <a:off x="568959" y="1840411"/>
            <a:ext cx="11417301" cy="4791190"/>
          </a:xfrm>
        </p:spPr>
        <p:txBody>
          <a:bodyPr rtlCol="0">
            <a:normAutofit lnSpcReduction="10000"/>
          </a:bodyPr>
          <a:lstStyle/>
          <a:p>
            <a:pPr fontAlgn="t"/>
            <a:r>
              <a:rPr lang="ja-JP" altLang="ja-JP" dirty="0"/>
              <a:t>児童がダークパターンに関する知識を実際の意思決定場面で活用できるか（内面化）を，現実に近いシミュレーション環境上の行動として評価可能な「実践的評価環境」を構築する</a:t>
            </a:r>
            <a:endParaRPr lang="en-US" altLang="ja-JP" dirty="0"/>
          </a:p>
          <a:p>
            <a:pPr marL="0" indent="0" fontAlgn="t">
              <a:buNone/>
            </a:pPr>
            <a:endParaRPr lang="en-US" altLang="ja-JP" dirty="0"/>
          </a:p>
          <a:p>
            <a:pPr fontAlgn="t"/>
            <a:r>
              <a:rPr lang="ja-JP" altLang="en-US" b="1" dirty="0"/>
              <a:t>既存研究</a:t>
            </a:r>
            <a:endParaRPr lang="en-US" altLang="ja-JP" b="1" dirty="0"/>
          </a:p>
          <a:p>
            <a:pPr lvl="1" fontAlgn="t"/>
            <a:r>
              <a:rPr lang="ja-JP" altLang="ja-JP" dirty="0"/>
              <a:t>シナリオ評価では「押す／押さない」などの選択結果で評価</a:t>
            </a:r>
            <a:endParaRPr lang="en-US" altLang="ja-JP" dirty="0"/>
          </a:p>
          <a:p>
            <a:pPr lvl="1" fontAlgn="t"/>
            <a:r>
              <a:rPr lang="ja-JP" altLang="ja-JP" dirty="0"/>
              <a:t>アプリ評価は観察・インタビューが中心</a:t>
            </a:r>
            <a:endParaRPr lang="en-US" altLang="ja-JP" dirty="0"/>
          </a:p>
          <a:p>
            <a:pPr marL="393192" lvl="1" indent="0" fontAlgn="t">
              <a:buNone/>
            </a:pPr>
            <a:r>
              <a:rPr lang="ja-JP" altLang="en-US" dirty="0"/>
              <a:t>　　→　</a:t>
            </a:r>
            <a:r>
              <a:rPr lang="ja-JP" altLang="ja-JP" dirty="0"/>
              <a:t>知識が実際の行動として使えるかは分からない</a:t>
            </a:r>
          </a:p>
          <a:p>
            <a:pPr fontAlgn="t"/>
            <a:r>
              <a:rPr lang="ja-JP" altLang="en-US" b="1" dirty="0"/>
              <a:t>本研究</a:t>
            </a:r>
            <a:endParaRPr lang="en-US" altLang="ja-JP" b="1" dirty="0"/>
          </a:p>
          <a:p>
            <a:pPr lvl="1" fontAlgn="t"/>
            <a:r>
              <a:rPr lang="ja-JP" altLang="ja-JP" dirty="0"/>
              <a:t>その知識を回避行動として活用できるかが十分に検証されていないという課題に着目する</a:t>
            </a:r>
          </a:p>
          <a:p>
            <a:pPr lvl="1" fontAlgn="t"/>
            <a:endParaRPr lang="en-US" altLang="ja-JP" dirty="0"/>
          </a:p>
          <a:p>
            <a:pPr lvl="1" fontAlgn="t"/>
            <a:endParaRPr lang="en-US" altLang="ja-JP" dirty="0"/>
          </a:p>
        </p:txBody>
      </p:sp>
    </p:spTree>
    <p:extLst>
      <p:ext uri="{BB962C8B-B14F-4D97-AF65-F5344CB8AC3E}">
        <p14:creationId xmlns:p14="http://schemas.microsoft.com/office/powerpoint/2010/main" val="42886053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FEE74-0DDA-F366-B8A8-4F2FA43C502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7EF8715-ACBE-78DC-C3B5-929F076A9A1C}"/>
              </a:ext>
            </a:extLst>
          </p:cNvPr>
          <p:cNvSpPr>
            <a:spLocks noGrp="1"/>
          </p:cNvSpPr>
          <p:nvPr>
            <p:ph type="title"/>
          </p:nvPr>
        </p:nvSpPr>
        <p:spPr>
          <a:xfrm>
            <a:off x="435428" y="938130"/>
            <a:ext cx="11054080" cy="606552"/>
          </a:xfrm>
        </p:spPr>
        <p:txBody>
          <a:bodyPr rtlCol="0">
            <a:normAutofit fontScale="90000"/>
          </a:bodyPr>
          <a:lstStyle/>
          <a:p>
            <a:pPr rtl="0"/>
            <a:r>
              <a:rPr lang="ja-JP" altLang="en-US" dirty="0"/>
              <a:t>研究手法</a:t>
            </a:r>
            <a:endParaRPr lang="ja-JP" altLang="en-US" dirty="0">
              <a:latin typeface="Meiryo UI" panose="020B0604030504040204" pitchFamily="50" charset="-128"/>
              <a:ea typeface="Meiryo UI" panose="020B0604030504040204" pitchFamily="50" charset="-128"/>
            </a:endParaRPr>
          </a:p>
        </p:txBody>
      </p:sp>
      <p:sp>
        <p:nvSpPr>
          <p:cNvPr id="2" name="コンテンツ プレースホルダー 1">
            <a:extLst>
              <a:ext uri="{FF2B5EF4-FFF2-40B4-BE49-F238E27FC236}">
                <a16:creationId xmlns:a16="http://schemas.microsoft.com/office/drawing/2014/main" id="{F0035FF7-398C-5D6F-A854-96CA442D8A56}"/>
              </a:ext>
            </a:extLst>
          </p:cNvPr>
          <p:cNvSpPr>
            <a:spLocks noGrp="1"/>
          </p:cNvSpPr>
          <p:nvPr>
            <p:ph idx="1"/>
          </p:nvPr>
        </p:nvSpPr>
        <p:spPr>
          <a:xfrm>
            <a:off x="435428" y="1760582"/>
            <a:ext cx="11468101" cy="5097418"/>
          </a:xfrm>
        </p:spPr>
        <p:txBody>
          <a:bodyPr rtlCol="0">
            <a:normAutofit fontScale="92500"/>
          </a:bodyPr>
          <a:lstStyle/>
          <a:p>
            <a:pPr fontAlgn="t">
              <a:spcAft>
                <a:spcPts val="1200"/>
              </a:spcAft>
            </a:pPr>
            <a:r>
              <a:rPr lang="ja-JP" altLang="ja-JP" dirty="0"/>
              <a:t>「ダークパターン教育」と「実践的行動評価」をフェーズ分けし、児童の警戒意識と油断状態の双方からダークパターンへの反応を測定する</a:t>
            </a:r>
            <a:endParaRPr lang="en-US" altLang="ja-JP" dirty="0"/>
          </a:p>
          <a:p>
            <a:pPr marL="0" indent="0" fontAlgn="t">
              <a:buNone/>
            </a:pPr>
            <a:r>
              <a:rPr lang="ja-JP" altLang="en-US" b="1" dirty="0"/>
              <a:t>手順</a:t>
            </a:r>
            <a:endParaRPr lang="en-US" altLang="ja-JP" b="1" dirty="0"/>
          </a:p>
          <a:p>
            <a:pPr fontAlgn="t"/>
            <a:r>
              <a:rPr lang="ja-JP" altLang="en-US" b="1" dirty="0"/>
              <a:t>ダークパターン教育</a:t>
            </a:r>
            <a:endParaRPr lang="en-US" altLang="ja-JP" b="1" dirty="0"/>
          </a:p>
          <a:p>
            <a:pPr lvl="1" fontAlgn="t"/>
            <a:r>
              <a:rPr lang="ja-JP" altLang="ja-JP" dirty="0"/>
              <a:t>模擬ECサイト等を用い、</a:t>
            </a:r>
            <a:r>
              <a:rPr lang="ja-JP" altLang="en-US" dirty="0"/>
              <a:t>説明後</a:t>
            </a:r>
            <a:r>
              <a:rPr lang="ja-JP" altLang="ja-JP" dirty="0"/>
              <a:t>児童が能動的にダークパターンを探索・識別する</a:t>
            </a:r>
          </a:p>
          <a:p>
            <a:pPr lvl="1" fontAlgn="t"/>
            <a:r>
              <a:rPr lang="ja-JP" altLang="ja-JP" dirty="0"/>
              <a:t>探索終了後、</a:t>
            </a:r>
            <a:r>
              <a:rPr lang="ja-JP" altLang="en-US" dirty="0"/>
              <a:t>その</a:t>
            </a:r>
            <a:r>
              <a:rPr lang="ja-JP" altLang="ja-JP" dirty="0"/>
              <a:t>UIがユーザをどのように意図しない意思決定へ誘導するか、その仕組みを詳細に解説し知識を補強する</a:t>
            </a:r>
            <a:endParaRPr lang="en-US" altLang="ja-JP" dirty="0"/>
          </a:p>
          <a:p>
            <a:pPr fontAlgn="t"/>
            <a:r>
              <a:rPr lang="ja-JP" altLang="ja-JP" b="1" dirty="0"/>
              <a:t>報酬獲得タスク</a:t>
            </a:r>
            <a:endParaRPr lang="en-US" altLang="ja-JP" b="1" dirty="0"/>
          </a:p>
          <a:p>
            <a:pPr lvl="1" fontAlgn="t"/>
            <a:r>
              <a:rPr lang="ja-JP" altLang="en-US" dirty="0"/>
              <a:t>ダークパターンの教育終了を伝え、学習報酬を渡す名目で</a:t>
            </a:r>
            <a:r>
              <a:rPr lang="ja-JP" altLang="ja-JP" dirty="0"/>
              <a:t>心理的警戒</a:t>
            </a:r>
            <a:r>
              <a:rPr lang="ja-JP" altLang="en-US" dirty="0"/>
              <a:t>を弱める</a:t>
            </a:r>
            <a:endParaRPr lang="en-US" altLang="ja-JP" dirty="0"/>
          </a:p>
          <a:p>
            <a:pPr lvl="1" fontAlgn="t"/>
            <a:r>
              <a:rPr lang="ja-JP" altLang="ja-JP" dirty="0"/>
              <a:t>報酬選択の意思決定場面</a:t>
            </a:r>
            <a:r>
              <a:rPr lang="ja-JP" altLang="en-US" dirty="0"/>
              <a:t>においてダークパターンを仕掛け</a:t>
            </a:r>
            <a:r>
              <a:rPr lang="ja-JP" altLang="ja-JP" dirty="0"/>
              <a:t>獲得した知識が実際の行動（回避行動）として活用できるかをテストする</a:t>
            </a:r>
            <a:endParaRPr lang="en-US" altLang="ja-JP" dirty="0"/>
          </a:p>
        </p:txBody>
      </p:sp>
    </p:spTree>
    <p:extLst>
      <p:ext uri="{BB962C8B-B14F-4D97-AF65-F5344CB8AC3E}">
        <p14:creationId xmlns:p14="http://schemas.microsoft.com/office/powerpoint/2010/main" val="3748955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44D3E-5E7B-AEF7-B7F7-1F6230DD5F36}"/>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B227319-C2D0-8DCD-E4AB-1A2E3A1DE6E5}"/>
              </a:ext>
            </a:extLst>
          </p:cNvPr>
          <p:cNvSpPr>
            <a:spLocks noGrp="1"/>
          </p:cNvSpPr>
          <p:nvPr>
            <p:ph type="title"/>
          </p:nvPr>
        </p:nvSpPr>
        <p:spPr>
          <a:xfrm>
            <a:off x="568960" y="930874"/>
            <a:ext cx="11054080" cy="606552"/>
          </a:xfrm>
        </p:spPr>
        <p:txBody>
          <a:bodyPr rtlCol="0">
            <a:normAutofit fontScale="90000"/>
          </a:bodyPr>
          <a:lstStyle/>
          <a:p>
            <a:r>
              <a:rPr lang="ja-JP" altLang="en-US" dirty="0">
                <a:latin typeface="Meiryo UI" panose="020B0604030504040204" pitchFamily="50" charset="-128"/>
                <a:ea typeface="Meiryo UI" panose="020B0604030504040204" pitchFamily="50" charset="-128"/>
              </a:rPr>
              <a:t>実装中画面（</a:t>
            </a:r>
            <a:r>
              <a:rPr lang="ja-JP" altLang="en-US" dirty="0"/>
              <a:t>ダークパターン教育フェーズ）</a:t>
            </a:r>
          </a:p>
        </p:txBody>
      </p:sp>
      <p:pic>
        <p:nvPicPr>
          <p:cNvPr id="5" name="図 4">
            <a:extLst>
              <a:ext uri="{FF2B5EF4-FFF2-40B4-BE49-F238E27FC236}">
                <a16:creationId xmlns:a16="http://schemas.microsoft.com/office/drawing/2014/main" id="{B5CD3832-9B3C-503D-3049-88CB1F2C5AB3}"/>
              </a:ext>
            </a:extLst>
          </p:cNvPr>
          <p:cNvPicPr>
            <a:picLocks noChangeAspect="1"/>
          </p:cNvPicPr>
          <p:nvPr/>
        </p:nvPicPr>
        <p:blipFill>
          <a:blip r:embed="rId3"/>
          <a:stretch>
            <a:fillRect/>
          </a:stretch>
        </p:blipFill>
        <p:spPr>
          <a:xfrm>
            <a:off x="2583543" y="1660246"/>
            <a:ext cx="8408516" cy="5197753"/>
          </a:xfrm>
          <a:prstGeom prst="rect">
            <a:avLst/>
          </a:prstGeom>
        </p:spPr>
      </p:pic>
    </p:spTree>
    <p:extLst>
      <p:ext uri="{BB962C8B-B14F-4D97-AF65-F5344CB8AC3E}">
        <p14:creationId xmlns:p14="http://schemas.microsoft.com/office/powerpoint/2010/main" val="28425789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6B82C-D8B9-58E7-7894-0CCB52AD779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46E4289-02D2-6473-6620-301533592B26}"/>
              </a:ext>
            </a:extLst>
          </p:cNvPr>
          <p:cNvSpPr>
            <a:spLocks noGrp="1"/>
          </p:cNvSpPr>
          <p:nvPr>
            <p:ph type="title"/>
          </p:nvPr>
        </p:nvSpPr>
        <p:spPr>
          <a:xfrm>
            <a:off x="568960" y="1095974"/>
            <a:ext cx="11054080" cy="606552"/>
          </a:xfrm>
        </p:spPr>
        <p:txBody>
          <a:bodyPr rtlCol="0">
            <a:normAutofit fontScale="90000"/>
          </a:bodyPr>
          <a:lstStyle/>
          <a:p>
            <a:pPr rtl="0"/>
            <a:r>
              <a:rPr lang="ja-JP" altLang="en-US" dirty="0">
                <a:latin typeface="Meiryo UI" panose="020B0604030504040204" pitchFamily="50" charset="-128"/>
                <a:ea typeface="Meiryo UI" panose="020B0604030504040204" pitchFamily="50" charset="-128"/>
              </a:rPr>
              <a:t>評価方法</a:t>
            </a:r>
          </a:p>
        </p:txBody>
      </p:sp>
      <p:sp>
        <p:nvSpPr>
          <p:cNvPr id="2" name="コンテンツ プレースホルダー 1">
            <a:extLst>
              <a:ext uri="{FF2B5EF4-FFF2-40B4-BE49-F238E27FC236}">
                <a16:creationId xmlns:a16="http://schemas.microsoft.com/office/drawing/2014/main" id="{AA63CA26-E300-C9D9-82C8-36EB0400FA38}"/>
              </a:ext>
            </a:extLst>
          </p:cNvPr>
          <p:cNvSpPr>
            <a:spLocks noGrp="1"/>
          </p:cNvSpPr>
          <p:nvPr>
            <p:ph idx="1"/>
          </p:nvPr>
        </p:nvSpPr>
        <p:spPr>
          <a:xfrm>
            <a:off x="568959" y="1956525"/>
            <a:ext cx="11292115" cy="5111931"/>
          </a:xfrm>
        </p:spPr>
        <p:txBody>
          <a:bodyPr rtlCol="0">
            <a:normAutofit/>
          </a:bodyPr>
          <a:lstStyle/>
          <a:p>
            <a:pPr fontAlgn="t">
              <a:spcAft>
                <a:spcPts val="1200"/>
              </a:spcAft>
            </a:pPr>
            <a:r>
              <a:rPr lang="ja-JP" altLang="ja-JP" dirty="0"/>
              <a:t>行動ログを用いて，ダークパターンに対する反応を評価する。</a:t>
            </a:r>
          </a:p>
          <a:p>
            <a:pPr lvl="1" fontAlgn="t">
              <a:spcAft>
                <a:spcPts val="1200"/>
              </a:spcAft>
            </a:pPr>
            <a:r>
              <a:rPr lang="ja-JP" altLang="ja-JP" dirty="0"/>
              <a:t>報酬獲得タスク中に提示されるダークパターンに対し， 児童の操作行動を記録</a:t>
            </a:r>
            <a:endParaRPr lang="en-US" altLang="ja-JP" dirty="0"/>
          </a:p>
          <a:p>
            <a:pPr fontAlgn="t">
              <a:spcAft>
                <a:spcPts val="1200"/>
              </a:spcAft>
            </a:pPr>
            <a:r>
              <a:rPr lang="ja-JP" altLang="en-US" b="1" dirty="0"/>
              <a:t>詳細</a:t>
            </a:r>
            <a:endParaRPr lang="en-US" altLang="ja-JP" b="1" dirty="0"/>
          </a:p>
          <a:p>
            <a:pPr lvl="1" fontAlgn="t">
              <a:spcAft>
                <a:spcPts val="1200"/>
              </a:spcAft>
            </a:pPr>
            <a:r>
              <a:rPr lang="ja-JP" altLang="ja-JP" dirty="0"/>
              <a:t>罠に直面した際のボタンを押すまでの反応時間</a:t>
            </a:r>
            <a:endParaRPr lang="en-US" altLang="ja-JP" dirty="0"/>
          </a:p>
          <a:p>
            <a:pPr lvl="1" fontAlgn="t">
              <a:spcAft>
                <a:spcPts val="1200"/>
              </a:spcAft>
            </a:pPr>
            <a:r>
              <a:rPr lang="ja-JP" altLang="en-US" dirty="0"/>
              <a:t>マウスの動きである</a:t>
            </a:r>
            <a:r>
              <a:rPr lang="ja-JP" altLang="ja-JP" dirty="0"/>
              <a:t>確認・離脱といった操作</a:t>
            </a:r>
            <a:r>
              <a:rPr lang="ja-JP" altLang="en-US" dirty="0"/>
              <a:t>やアイトラッキング</a:t>
            </a:r>
            <a:endParaRPr lang="en-US" altLang="ja-JP" dirty="0"/>
          </a:p>
          <a:p>
            <a:pPr marL="393192" lvl="1" indent="0" fontAlgn="t">
              <a:spcAft>
                <a:spcPts val="1200"/>
              </a:spcAft>
              <a:buNone/>
            </a:pPr>
            <a:r>
              <a:rPr lang="ja-JP" altLang="en-US" dirty="0"/>
              <a:t>　→　</a:t>
            </a:r>
            <a:r>
              <a:rPr lang="ja-JP" altLang="ja-JP" dirty="0"/>
              <a:t>判断過程を経て行動に至ったのかを評価することで， 知識が実際の行</a:t>
            </a:r>
            <a:endParaRPr lang="en-US" altLang="ja-JP" dirty="0"/>
          </a:p>
          <a:p>
            <a:pPr marL="393192" lvl="1" indent="0" fontAlgn="t">
              <a:spcAft>
                <a:spcPts val="1200"/>
              </a:spcAft>
              <a:buNone/>
            </a:pPr>
            <a:r>
              <a:rPr lang="ja-JP" altLang="en-US" dirty="0"/>
              <a:t>　　　</a:t>
            </a:r>
            <a:r>
              <a:rPr lang="ja-JP" altLang="ja-JP" dirty="0"/>
              <a:t>動として活用されているかを分析</a:t>
            </a:r>
          </a:p>
          <a:p>
            <a:pPr fontAlgn="t">
              <a:spcAft>
                <a:spcPts val="1200"/>
              </a:spcAft>
            </a:pPr>
            <a:endParaRPr lang="en-US" altLang="ja-JP" dirty="0"/>
          </a:p>
        </p:txBody>
      </p:sp>
    </p:spTree>
    <p:extLst>
      <p:ext uri="{BB962C8B-B14F-4D97-AF65-F5344CB8AC3E}">
        <p14:creationId xmlns:p14="http://schemas.microsoft.com/office/powerpoint/2010/main" val="4374409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AF416-6589-2B48-5F5D-498D894BC05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CBB1A50-D56D-A1A6-630D-315492D65452}"/>
              </a:ext>
            </a:extLst>
          </p:cNvPr>
          <p:cNvSpPr>
            <a:spLocks noGrp="1"/>
          </p:cNvSpPr>
          <p:nvPr>
            <p:ph type="title"/>
          </p:nvPr>
        </p:nvSpPr>
        <p:spPr>
          <a:xfrm>
            <a:off x="609600" y="704088"/>
            <a:ext cx="11054080" cy="606552"/>
          </a:xfrm>
        </p:spPr>
        <p:txBody>
          <a:bodyPr rtlCol="0">
            <a:normAutofit fontScale="90000"/>
          </a:bodyPr>
          <a:lstStyle/>
          <a:p>
            <a:pPr rtl="0"/>
            <a:r>
              <a:rPr lang="ja-JP" altLang="en-US" dirty="0"/>
              <a:t>実験方法（予定）</a:t>
            </a:r>
            <a:endParaRPr lang="ja-JP" altLang="en-US" dirty="0">
              <a:latin typeface="Meiryo UI" panose="020B0604030504040204" pitchFamily="50" charset="-128"/>
              <a:ea typeface="Meiryo UI" panose="020B0604030504040204" pitchFamily="50" charset="-128"/>
            </a:endParaRPr>
          </a:p>
        </p:txBody>
      </p:sp>
      <p:sp>
        <p:nvSpPr>
          <p:cNvPr id="2" name="コンテンツ プレースホルダー 1">
            <a:extLst>
              <a:ext uri="{FF2B5EF4-FFF2-40B4-BE49-F238E27FC236}">
                <a16:creationId xmlns:a16="http://schemas.microsoft.com/office/drawing/2014/main" id="{FD18CFEB-343A-DD82-784E-DDBB7CD6D75D}"/>
              </a:ext>
            </a:extLst>
          </p:cNvPr>
          <p:cNvSpPr>
            <a:spLocks noGrp="1"/>
          </p:cNvSpPr>
          <p:nvPr>
            <p:ph idx="1"/>
          </p:nvPr>
        </p:nvSpPr>
        <p:spPr>
          <a:xfrm>
            <a:off x="609600" y="1310640"/>
            <a:ext cx="11391899" cy="5318760"/>
          </a:xfrm>
        </p:spPr>
        <p:txBody>
          <a:bodyPr rtlCol="0">
            <a:normAutofit fontScale="92500"/>
          </a:bodyPr>
          <a:lstStyle/>
          <a:p>
            <a:pPr fontAlgn="t">
              <a:spcAft>
                <a:spcPts val="1200"/>
              </a:spcAft>
            </a:pPr>
            <a:r>
              <a:rPr lang="ja-JP" altLang="en-US" dirty="0"/>
              <a:t>日時</a:t>
            </a:r>
            <a:endParaRPr lang="en-US" altLang="ja-JP" dirty="0"/>
          </a:p>
          <a:p>
            <a:pPr lvl="1" fontAlgn="t">
              <a:spcAft>
                <a:spcPts val="1200"/>
              </a:spcAft>
            </a:pPr>
            <a:r>
              <a:rPr lang="ja-JP" altLang="en-US" dirty="0"/>
              <a:t>１０月上旬の四街道こどもの街</a:t>
            </a:r>
            <a:endParaRPr lang="en-US" altLang="ja-JP" dirty="0"/>
          </a:p>
          <a:p>
            <a:pPr fontAlgn="t">
              <a:spcAft>
                <a:spcPts val="1200"/>
              </a:spcAft>
            </a:pPr>
            <a:r>
              <a:rPr lang="ja-JP" altLang="ja-JP" dirty="0"/>
              <a:t>実施形態</a:t>
            </a:r>
            <a:endParaRPr lang="en-US" altLang="ja-JP" dirty="0"/>
          </a:p>
          <a:p>
            <a:pPr lvl="1" fontAlgn="t">
              <a:spcAft>
                <a:spcPts val="1200"/>
              </a:spcAft>
            </a:pPr>
            <a:r>
              <a:rPr lang="ja-JP" altLang="en-US" dirty="0"/>
              <a:t>ネットパトロール屋さんとして出店</a:t>
            </a:r>
          </a:p>
          <a:p>
            <a:pPr fontAlgn="t">
              <a:spcAft>
                <a:spcPts val="1200"/>
              </a:spcAft>
            </a:pPr>
            <a:r>
              <a:rPr lang="ja-JP" altLang="en-US" dirty="0"/>
              <a:t>実施内容</a:t>
            </a:r>
            <a:endParaRPr lang="en-US" altLang="ja-JP" dirty="0"/>
          </a:p>
          <a:p>
            <a:pPr lvl="1" fontAlgn="t"/>
            <a:r>
              <a:rPr lang="ja-JP" altLang="ja-JP" sz="2200" dirty="0"/>
              <a:t>ネットパトロール隊員として， 悪いUI（勝手にチェック・こっそり隠し）を見つける</a:t>
            </a:r>
          </a:p>
          <a:p>
            <a:pPr lvl="1" fontAlgn="t">
              <a:spcAft>
                <a:spcPts val="1200"/>
              </a:spcAft>
            </a:pPr>
            <a:r>
              <a:rPr lang="ja-JP" altLang="en-US" dirty="0"/>
              <a:t>対象年齢：８歳から１２歳（小学</a:t>
            </a:r>
            <a:r>
              <a:rPr lang="en-US" altLang="ja-JP" dirty="0"/>
              <a:t>2</a:t>
            </a:r>
            <a:r>
              <a:rPr lang="ja-JP" altLang="en-US" dirty="0"/>
              <a:t>年生から小学６年生）</a:t>
            </a:r>
            <a:r>
              <a:rPr lang="en-US" altLang="ja-JP" dirty="0"/>
              <a:t>[7][8]</a:t>
            </a:r>
          </a:p>
          <a:p>
            <a:pPr fontAlgn="t">
              <a:spcAft>
                <a:spcPts val="1200"/>
              </a:spcAft>
            </a:pPr>
            <a:r>
              <a:rPr lang="ja-JP" altLang="en-US" dirty="0"/>
              <a:t>体験シナリオ</a:t>
            </a:r>
            <a:endParaRPr lang="en-US" altLang="ja-JP" dirty="0"/>
          </a:p>
          <a:p>
            <a:pPr lvl="1"/>
            <a:r>
              <a:rPr lang="ja-JP" altLang="ja-JP" dirty="0"/>
              <a:t>参加者は「ネットパトロールの隊員」として活動</a:t>
            </a:r>
          </a:p>
          <a:p>
            <a:pPr lvl="1"/>
            <a:r>
              <a:rPr lang="ja-JP" altLang="ja-JP" dirty="0"/>
              <a:t>Webサイト上の「お金を使わせようと誘導する悪いデザイン（UI）」を探索・特定</a:t>
            </a:r>
          </a:p>
          <a:p>
            <a:pPr fontAlgn="t">
              <a:spcAft>
                <a:spcPts val="1200"/>
              </a:spcAft>
            </a:pPr>
            <a:endParaRPr lang="en-US" altLang="ja-JP" dirty="0"/>
          </a:p>
          <a:p>
            <a:pPr lvl="1" fontAlgn="t">
              <a:spcAft>
                <a:spcPts val="1200"/>
              </a:spcAft>
            </a:pPr>
            <a:endParaRPr lang="en-US" altLang="ja-JP" dirty="0"/>
          </a:p>
          <a:p>
            <a:pPr lvl="1" fontAlgn="t">
              <a:spcAft>
                <a:spcPts val="1200"/>
              </a:spcAft>
            </a:pPr>
            <a:endParaRPr lang="en-US" altLang="ja-JP" dirty="0"/>
          </a:p>
          <a:p>
            <a:pPr lvl="1" fontAlgn="t">
              <a:spcAft>
                <a:spcPts val="1200"/>
              </a:spcAft>
            </a:pPr>
            <a:endParaRPr lang="en-US" altLang="ja-JP" dirty="0"/>
          </a:p>
        </p:txBody>
      </p:sp>
    </p:spTree>
    <p:extLst>
      <p:ext uri="{BB962C8B-B14F-4D97-AF65-F5344CB8AC3E}">
        <p14:creationId xmlns:p14="http://schemas.microsoft.com/office/powerpoint/2010/main" val="32037885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C1535-E108-E3E3-0148-ED0A1DDF65B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248C2F5-A567-781C-A831-EF45A6573C9C}"/>
              </a:ext>
            </a:extLst>
          </p:cNvPr>
          <p:cNvSpPr>
            <a:spLocks noGrp="1"/>
          </p:cNvSpPr>
          <p:nvPr>
            <p:ph type="title"/>
          </p:nvPr>
        </p:nvSpPr>
        <p:spPr>
          <a:xfrm>
            <a:off x="609600" y="704088"/>
            <a:ext cx="11054080" cy="606552"/>
          </a:xfrm>
        </p:spPr>
        <p:txBody>
          <a:bodyPr rtlCol="0">
            <a:normAutofit fontScale="90000"/>
          </a:bodyPr>
          <a:lstStyle/>
          <a:p>
            <a:pPr rtl="0"/>
            <a:r>
              <a:rPr lang="ja-JP" altLang="en-US" dirty="0"/>
              <a:t>今後の計画</a:t>
            </a:r>
            <a:endParaRPr lang="ja-JP" altLang="en-US" dirty="0">
              <a:latin typeface="Meiryo UI" panose="020B0604030504040204" pitchFamily="50" charset="-128"/>
              <a:ea typeface="Meiryo UI" panose="020B0604030504040204" pitchFamily="50" charset="-128"/>
            </a:endParaRPr>
          </a:p>
        </p:txBody>
      </p:sp>
      <p:sp>
        <p:nvSpPr>
          <p:cNvPr id="2" name="コンテンツ プレースホルダー 1">
            <a:extLst>
              <a:ext uri="{FF2B5EF4-FFF2-40B4-BE49-F238E27FC236}">
                <a16:creationId xmlns:a16="http://schemas.microsoft.com/office/drawing/2014/main" id="{F5377611-BCCD-0B09-C7D1-9F2A45EBF306}"/>
              </a:ext>
            </a:extLst>
          </p:cNvPr>
          <p:cNvSpPr>
            <a:spLocks noGrp="1"/>
          </p:cNvSpPr>
          <p:nvPr>
            <p:ph idx="1"/>
          </p:nvPr>
        </p:nvSpPr>
        <p:spPr>
          <a:xfrm>
            <a:off x="609600" y="1310640"/>
            <a:ext cx="11391899" cy="5318760"/>
          </a:xfrm>
        </p:spPr>
        <p:txBody>
          <a:bodyPr rtlCol="0">
            <a:normAutofit/>
          </a:bodyPr>
          <a:lstStyle/>
          <a:p>
            <a:pPr fontAlgn="t">
              <a:spcAft>
                <a:spcPts val="1200"/>
              </a:spcAft>
            </a:pPr>
            <a:r>
              <a:rPr lang="ja-JP" altLang="en-US" dirty="0"/>
              <a:t>９月末</a:t>
            </a:r>
            <a:endParaRPr lang="en-US" altLang="ja-JP" dirty="0"/>
          </a:p>
          <a:p>
            <a:pPr lvl="1" fontAlgn="t">
              <a:spcAft>
                <a:spcPts val="1200"/>
              </a:spcAft>
            </a:pPr>
            <a:r>
              <a:rPr lang="ja-JP" altLang="ja-JP" dirty="0"/>
              <a:t>シミュレーション環境の実装</a:t>
            </a:r>
          </a:p>
          <a:p>
            <a:pPr lvl="1" fontAlgn="t">
              <a:spcAft>
                <a:spcPts val="1200"/>
              </a:spcAft>
            </a:pPr>
            <a:r>
              <a:rPr lang="ja-JP" altLang="ja-JP" dirty="0"/>
              <a:t>評価シナリオ（ダークパターン）の設計</a:t>
            </a:r>
            <a:r>
              <a:rPr lang="ja-JP" altLang="en-US" dirty="0"/>
              <a:t>　</a:t>
            </a:r>
            <a:endParaRPr lang="en-US" altLang="ja-JP" dirty="0"/>
          </a:p>
          <a:p>
            <a:pPr fontAlgn="t">
              <a:spcAft>
                <a:spcPts val="1200"/>
              </a:spcAft>
            </a:pPr>
            <a:r>
              <a:rPr lang="ja-JP" altLang="en-US" dirty="0"/>
              <a:t>１０月</a:t>
            </a:r>
            <a:endParaRPr lang="en-US" altLang="ja-JP" dirty="0"/>
          </a:p>
          <a:p>
            <a:pPr lvl="1" fontAlgn="t">
              <a:spcAft>
                <a:spcPts val="1200"/>
              </a:spcAft>
            </a:pPr>
            <a:r>
              <a:rPr lang="ja-JP" altLang="en-US" dirty="0"/>
              <a:t>四街道こどものまちで実験</a:t>
            </a:r>
            <a:endParaRPr lang="en-US" altLang="ja-JP" dirty="0"/>
          </a:p>
          <a:p>
            <a:pPr lvl="1" fontAlgn="t">
              <a:spcAft>
                <a:spcPts val="1200"/>
              </a:spcAft>
            </a:pPr>
            <a:r>
              <a:rPr lang="ja-JP" altLang="ja-JP" dirty="0"/>
              <a:t>データ分析（行動ログ解析）</a:t>
            </a:r>
            <a:endParaRPr lang="en-US" altLang="ja-JP" dirty="0"/>
          </a:p>
          <a:p>
            <a:pPr fontAlgn="t">
              <a:spcAft>
                <a:spcPts val="1200"/>
              </a:spcAft>
            </a:pPr>
            <a:r>
              <a:rPr lang="ja-JP" altLang="en-US" dirty="0"/>
              <a:t>１１月末</a:t>
            </a:r>
            <a:endParaRPr lang="en-US" altLang="ja-JP" dirty="0"/>
          </a:p>
          <a:p>
            <a:pPr lvl="1" fontAlgn="t">
              <a:spcAft>
                <a:spcPts val="1200"/>
              </a:spcAft>
            </a:pPr>
            <a:r>
              <a:rPr lang="en-US" altLang="ja-JP" dirty="0"/>
              <a:t>HCD</a:t>
            </a:r>
            <a:r>
              <a:rPr lang="ja-JP" altLang="en-US" dirty="0"/>
              <a:t>学会発表予定</a:t>
            </a:r>
            <a:endParaRPr lang="en-US" altLang="ja-JP" dirty="0"/>
          </a:p>
          <a:p>
            <a:pPr lvl="1" fontAlgn="t">
              <a:spcAft>
                <a:spcPts val="1200"/>
              </a:spcAft>
            </a:pPr>
            <a:endParaRPr lang="en-US" altLang="ja-JP" dirty="0"/>
          </a:p>
          <a:p>
            <a:pPr lvl="1" fontAlgn="t">
              <a:spcAft>
                <a:spcPts val="1200"/>
              </a:spcAft>
            </a:pPr>
            <a:endParaRPr lang="en-US" altLang="ja-JP" dirty="0"/>
          </a:p>
          <a:p>
            <a:pPr lvl="1" fontAlgn="t">
              <a:spcAft>
                <a:spcPts val="1200"/>
              </a:spcAft>
            </a:pPr>
            <a:endParaRPr lang="en-US" altLang="ja-JP" dirty="0"/>
          </a:p>
        </p:txBody>
      </p:sp>
    </p:spTree>
    <p:extLst>
      <p:ext uri="{BB962C8B-B14F-4D97-AF65-F5344CB8AC3E}">
        <p14:creationId xmlns:p14="http://schemas.microsoft.com/office/powerpoint/2010/main" val="2367673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13CCB-7BF8-BB3D-3045-E759ADFA00A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7898F6CA-37E3-E3E4-E997-BB3A91814CC0}"/>
              </a:ext>
            </a:extLst>
          </p:cNvPr>
          <p:cNvSpPr>
            <a:spLocks noGrp="1"/>
          </p:cNvSpPr>
          <p:nvPr>
            <p:ph type="title"/>
          </p:nvPr>
        </p:nvSpPr>
        <p:spPr>
          <a:xfrm>
            <a:off x="609600" y="704088"/>
            <a:ext cx="11054080" cy="606552"/>
          </a:xfrm>
        </p:spPr>
        <p:txBody>
          <a:bodyPr rtlCol="0">
            <a:normAutofit fontScale="90000"/>
          </a:bodyPr>
          <a:lstStyle/>
          <a:p>
            <a:pPr rtl="0"/>
            <a:r>
              <a:rPr lang="ja-JP" altLang="en-US" dirty="0">
                <a:latin typeface="Meiryo UI" panose="020B0604030504040204" pitchFamily="50" charset="-128"/>
                <a:ea typeface="Meiryo UI" panose="020B0604030504040204" pitchFamily="50" charset="-128"/>
              </a:rPr>
              <a:t>参考文献</a:t>
            </a:r>
          </a:p>
        </p:txBody>
      </p:sp>
      <p:sp>
        <p:nvSpPr>
          <p:cNvPr id="2" name="コンテンツ プレースホルダー 1">
            <a:extLst>
              <a:ext uri="{FF2B5EF4-FFF2-40B4-BE49-F238E27FC236}">
                <a16:creationId xmlns:a16="http://schemas.microsoft.com/office/drawing/2014/main" id="{DB12745F-8A88-6D3A-2E1E-AE0414BF37BE}"/>
              </a:ext>
            </a:extLst>
          </p:cNvPr>
          <p:cNvSpPr>
            <a:spLocks noGrp="1"/>
          </p:cNvSpPr>
          <p:nvPr>
            <p:ph idx="1"/>
          </p:nvPr>
        </p:nvSpPr>
        <p:spPr>
          <a:xfrm>
            <a:off x="609600" y="1310640"/>
            <a:ext cx="11391899" cy="5318760"/>
          </a:xfrm>
        </p:spPr>
        <p:txBody>
          <a:bodyPr rtlCol="0">
            <a:normAutofit fontScale="70000" lnSpcReduction="20000"/>
          </a:bodyPr>
          <a:lstStyle/>
          <a:p>
            <a:pPr marL="0" indent="0">
              <a:buNone/>
            </a:pPr>
            <a:r>
              <a:rPr lang="ja-JP" altLang="ja-JP" dirty="0"/>
              <a:t>[1] Federal Trade Commission (FTC), "Bringing Dark Patterns to Light", Federal Trade Commission Staff Report, 2022.</a:t>
            </a:r>
          </a:p>
          <a:p>
            <a:pPr marL="0" indent="0">
              <a:buNone/>
            </a:pPr>
            <a:r>
              <a:rPr lang="ja-JP" altLang="ja-JP" dirty="0"/>
              <a:t>[2] 消費者庁, "デジタル時代におけるより良い消費生活を支える信頼の構築に係る官民共創ラウンドテーブル 第1回", 2025/01/29.</a:t>
            </a:r>
          </a:p>
          <a:p>
            <a:pPr marL="0" indent="0">
              <a:buNone/>
            </a:pPr>
            <a:r>
              <a:rPr lang="ja-JP" altLang="ja-JP" dirty="0"/>
              <a:t>[3] A. Mathur, G. Acar, M. J. Friedman, E. Lucherini, J. Mayer, M. Chetty, and A. Narayanan, “Dark Patterns at Scale: Findings from a Crawl of 11K Shopping Websites.” Proceedings of the ACM on Human-Computer Interaction, Vol. 3, CSCW, Article 81, pp.1–32, 2019.</a:t>
            </a:r>
          </a:p>
          <a:p>
            <a:pPr marL="0" indent="0">
              <a:buNone/>
            </a:pPr>
            <a:r>
              <a:rPr lang="ja-JP" altLang="ja-JP" dirty="0"/>
              <a:t>[4] P. G. Leon, et al., “Why Johnny Can't Opt Out: A Usability Evaluation of Tools to Limit Online Behavioral Advertising.” CHI '12: Proceedings of the SIGCHI Conference on Human Factors in Computing Systems, pp.589–598, 2012.</a:t>
            </a:r>
          </a:p>
          <a:p>
            <a:pPr marL="0" indent="0">
              <a:buNone/>
            </a:pPr>
            <a:r>
              <a:rPr lang="ja-JP" altLang="ja-JP" dirty="0"/>
              <a:t>[5] Oliveira, Oñati Socio-Legal Series, 2026. </a:t>
            </a:r>
            <a:r>
              <a:rPr lang="ja-JP" altLang="ja-JP" dirty="0">
                <a:hlinkClick r:id="rId3"/>
              </a:rPr>
              <a:t>https://opo.iisj.net/index.php/osls/article/view/2351</a:t>
            </a:r>
            <a:endParaRPr lang="ja-JP" altLang="ja-JP" dirty="0"/>
          </a:p>
          <a:p>
            <a:pPr marL="0" indent="0">
              <a:buNone/>
            </a:pPr>
            <a:r>
              <a:rPr lang="ja-JP" altLang="ja-JP" dirty="0"/>
              <a:t>[6] N. Khan, H. E. Daud, and S. Shahid, “Mind the Dark: A Gamified Exploration of Deceptive Design Awareness for Children in the Digital Age.” arXiv preprint arXiv:2506.23017, 2025.</a:t>
            </a:r>
          </a:p>
          <a:p>
            <a:pPr marL="0" indent="0">
              <a:buNone/>
            </a:pPr>
            <a:r>
              <a:rPr lang="ja-JP" altLang="ja-JP" dirty="0"/>
              <a:t>[7] こども家庭庁, "令和7年度「青少年のインターネット利用環境実態調査」報告書", こども家庭庁, 2025.</a:t>
            </a:r>
          </a:p>
          <a:p>
            <a:pPr marL="0" indent="0">
              <a:buNone/>
            </a:pPr>
            <a:r>
              <a:rPr lang="ja-JP" altLang="ja-JP" dirty="0"/>
              <a:t>[8] E. Rozendaal, M. Buijzen, and P. M. Valkenburg, “Children’s understanding of advertisers’ persuasive tactics.” International Journal of Advertising, 30(2), pp.329–350, 2011.</a:t>
            </a:r>
          </a:p>
          <a:p>
            <a:pPr marL="393192" lvl="1" indent="0" fontAlgn="t">
              <a:spcAft>
                <a:spcPts val="1200"/>
              </a:spcAft>
              <a:buNone/>
            </a:pPr>
            <a:endParaRPr lang="en-US" altLang="ja-JP" dirty="0"/>
          </a:p>
        </p:txBody>
      </p:sp>
    </p:spTree>
    <p:extLst>
      <p:ext uri="{BB962C8B-B14F-4D97-AF65-F5344CB8AC3E}">
        <p14:creationId xmlns:p14="http://schemas.microsoft.com/office/powerpoint/2010/main" val="1251653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D151F-0CC2-2231-F389-C4A634D91127}"/>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C5A1905A-80B2-ECD9-BF93-5E4BCE98E909}"/>
              </a:ext>
            </a:extLst>
          </p:cNvPr>
          <p:cNvSpPr>
            <a:spLocks noGrp="1"/>
          </p:cNvSpPr>
          <p:nvPr>
            <p:ph idx="1"/>
          </p:nvPr>
        </p:nvSpPr>
        <p:spPr>
          <a:xfrm>
            <a:off x="609601" y="2954020"/>
            <a:ext cx="10604500" cy="949960"/>
          </a:xfrm>
        </p:spPr>
        <p:txBody>
          <a:bodyPr rtlCol="0">
            <a:normAutofit/>
          </a:bodyPr>
          <a:lstStyle/>
          <a:p>
            <a:pPr marL="393192" lvl="1" indent="0" algn="ctr" fontAlgn="t">
              <a:spcAft>
                <a:spcPts val="1200"/>
              </a:spcAft>
              <a:buNone/>
            </a:pPr>
            <a:r>
              <a:rPr lang="ja-JP" altLang="en-US" sz="5400" dirty="0"/>
              <a:t>ご清聴ありがとうございました。</a:t>
            </a:r>
            <a:endParaRPr lang="en-US" altLang="ja-JP" sz="5400" dirty="0"/>
          </a:p>
        </p:txBody>
      </p:sp>
    </p:spTree>
    <p:extLst>
      <p:ext uri="{BB962C8B-B14F-4D97-AF65-F5344CB8AC3E}">
        <p14:creationId xmlns:p14="http://schemas.microsoft.com/office/powerpoint/2010/main" val="3040202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ブレーンストーミングのプレゼンテーション">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3"/>
        </a:lnRef>
        <a:fillRef idx="2">
          <a:schemeClr val="accent3"/>
        </a:fillRef>
        <a:effectRef idx="1">
          <a:schemeClr val="accent3"/>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none" rtlCol="0">
        <a:spAutoFit/>
      </a:bodyPr>
      <a:lstStyle>
        <a:defPPr>
          <a:defRPr dirty="0" err="1" smtClean="0"/>
        </a:defPPr>
      </a:lstStyle>
    </a:txDef>
  </a:objectDefaults>
  <a:extraClrSchemeLst/>
  <a:extLst>
    <a:ext uri="{05A4C25C-085E-4340-85A3-A5531E510DB2}">
      <thm15:themeFamily xmlns:thm15="http://schemas.microsoft.com/office/thememl/2012/main" name="Office_15870482_TF03460637.potx" id="{8F3B156D-932A-4C4F-B19B-13DA9C7AB513}" vid="{CAF0C7A8-6467-402F-B5CC-E460ADA54AE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ビジネス ブレーンストーミングのプレゼンテーション</Template>
  <TotalTime>3781</TotalTime>
  <Words>2934</Words>
  <Application>Microsoft Office PowerPoint</Application>
  <PresentationFormat>ワイド画面</PresentationFormat>
  <Paragraphs>135</Paragraphs>
  <Slides>13</Slides>
  <Notes>13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Meiryo UI</vt:lpstr>
      <vt:lpstr>ＭＳ 明朝</vt:lpstr>
      <vt:lpstr>Palatino Linotype</vt:lpstr>
      <vt:lpstr>Wingdings 2</vt:lpstr>
      <vt:lpstr>ブレーンストーミングのプレゼンテーション</vt:lpstr>
      <vt:lpstr>児童におけるダークパターン知識の行動活用に関する研究 ― シミュレーション環境を用いた実践的評価 ― </vt:lpstr>
      <vt:lpstr>研究背景</vt:lpstr>
      <vt:lpstr>研究背景（技術的対策の限界）</vt:lpstr>
      <vt:lpstr>研究背景（教育アプローチの必要性）</vt:lpstr>
      <vt:lpstr>先行研究</vt:lpstr>
      <vt:lpstr>研究目的</vt:lpstr>
      <vt:lpstr>研究手法</vt:lpstr>
      <vt:lpstr>実装中画面（ダークパターン教育フェーズ）</vt:lpstr>
      <vt:lpstr>評価方法</vt:lpstr>
      <vt:lpstr>実験方法（予定）</vt:lpstr>
      <vt:lpstr>今後の計画</vt:lpstr>
      <vt:lpstr>参考文献</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g26014nk</dc:creator>
  <cp:lastModifiedBy>g26014nk</cp:lastModifiedBy>
  <cp:revision>167</cp:revision>
  <dcterms:created xsi:type="dcterms:W3CDTF">2026-06-15T23:14:21Z</dcterms:created>
  <dcterms:modified xsi:type="dcterms:W3CDTF">2026-10-01T05:48:16Z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74069100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